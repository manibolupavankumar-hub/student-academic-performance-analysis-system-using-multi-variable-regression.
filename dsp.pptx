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Raleway Bold"/>
      <p:regular r:id="rId201314"/>
    </p:embeddedFont>
    <p:embeddedFont>
      <p:font typeface="Raleway"/>
      <p:regular r:id="rId201315"/>
    </p:embeddedFont>
    <p:embeddedFont>
      <p:font typeface="Roboto"/>
      <p:regular r:id="rId201316"/>
    </p:embeddedFont>
    <p:embeddedFont>
      <p:font typeface="Roboto Bol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CECF3"/>
          </a:solidFill>
          <a:ln/>
        </p:spPr>
      </p:sp>
      <p:sp>
        <p:nvSpPr>
          <p:cNvPr id="3" name="Shape 1"/>
          <p:cNvSpPr/>
          <p:nvPr/>
        </p:nvSpPr>
        <p:spPr>
          <a:xfrm>
            <a:off x="0" y="0"/>
            <a:ext cx="12191695" cy="6858000"/>
          </a:xfrm>
          <a:prstGeom prst="rect">
            <a:avLst/>
          </a:prstGeom>
          <a:solidFill>
            <a:srgbClr val="FFFFFF">
              <a:alpha val="95000"/>
            </a:srgbClr>
          </a:solidFill>
          <a:ln/>
        </p:spPr>
      </p:sp>
      <p:pic>
        <p:nvPicPr>
          <p:cNvPr id="4"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1.png"/><Relationship Id="rId4" Type="http://schemas.openxmlformats.org/officeDocument/2006/relationships/image" Target="../media/image-2-2.sv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1.png"/><Relationship Id="rId4" Type="http://schemas.openxmlformats.org/officeDocument/2006/relationships/image" Target="../media/image-4-2.svg"/><Relationship Id="rId5" Type="http://schemas.openxmlformats.org/officeDocument/2006/relationships/image" Target="../media/image-4-1.png"/><Relationship Id="rId6" Type="http://schemas.openxmlformats.org/officeDocument/2006/relationships/image" Target="../media/image-4-2.svg"/><Relationship Id="rId7" Type="http://schemas.openxmlformats.org/officeDocument/2006/relationships/image" Target="../media/image-4-1.png"/><Relationship Id="rId8" Type="http://schemas.openxmlformats.org/officeDocument/2006/relationships/image" Target="../media/image-4-2.svg"/><Relationship Id="rId9" Type="http://schemas.openxmlformats.org/officeDocument/2006/relationships/image" Target="../media/image-4-1.png"/><Relationship Id="rId10" Type="http://schemas.openxmlformats.org/officeDocument/2006/relationships/image" Target="../media/image-4-2.svg"/><Relationship Id="rId11" Type="http://schemas.openxmlformats.org/officeDocument/2006/relationships/image" Target="../media/image-4-1.png"/><Relationship Id="rId12" Type="http://schemas.openxmlformats.org/officeDocument/2006/relationships/image" Target="../media/image-4-2.svg"/><Relationship Id="rId13" Type="http://schemas.openxmlformats.org/officeDocument/2006/relationships/slideLayout" Target="../slideLayouts/slideLayout2.xml"/><Relationship Id="rId1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1.png"/><Relationship Id="rId4" Type="http://schemas.openxmlformats.org/officeDocument/2006/relationships/image" Target="../media/image-6-2.svg"/><Relationship Id="rId5" Type="http://schemas.openxmlformats.org/officeDocument/2006/relationships/image" Target="../media/image-6-1.png"/><Relationship Id="rId6" Type="http://schemas.openxmlformats.org/officeDocument/2006/relationships/image" Target="../media/image-6-2.sv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image" Target="../media/image-8-7.png"/><Relationship Id="rId8" Type="http://schemas.openxmlformats.org/officeDocument/2006/relationships/image" Target="../media/image-8-8.svg"/><Relationship Id="rId9" Type="http://schemas.openxmlformats.org/officeDocument/2006/relationships/image" Target="../media/image-8-9.png"/><Relationship Id="rId10" Type="http://schemas.openxmlformats.org/officeDocument/2006/relationships/image" Target="../media/image-8-10.svg"/><Relationship Id="rId11" Type="http://schemas.openxmlformats.org/officeDocument/2006/relationships/image" Target="../media/image-8-11.png"/><Relationship Id="rId12" Type="http://schemas.openxmlformats.org/officeDocument/2006/relationships/image" Target="../media/image-8-12.svg"/><Relationship Id="rId13" Type="http://schemas.openxmlformats.org/officeDocument/2006/relationships/image" Target="../media/image-8-13.png"/><Relationship Id="rId14" Type="http://schemas.openxmlformats.org/officeDocument/2006/relationships/slideLayout" Target="../slideLayouts/slideLayout2.xml"/><Relationship Id="rId1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1.png"/><Relationship Id="rId4" Type="http://schemas.openxmlformats.org/officeDocument/2006/relationships/image" Target="../media/image-11-2.svg"/><Relationship Id="rId5" Type="http://schemas.openxmlformats.org/officeDocument/2006/relationships/image" Target="../media/image-11-1.png"/><Relationship Id="rId6" Type="http://schemas.openxmlformats.org/officeDocument/2006/relationships/image" Target="../media/image-11-2.svg"/><Relationship Id="rId7" Type="http://schemas.openxmlformats.org/officeDocument/2006/relationships/image" Target="../media/image-11-1.png"/><Relationship Id="rId8" Type="http://schemas.openxmlformats.org/officeDocument/2006/relationships/image" Target="../media/image-11-2.svg"/><Relationship Id="rId9" Type="http://schemas.openxmlformats.org/officeDocument/2006/relationships/image" Target="../media/image-11-1.png"/><Relationship Id="rId10" Type="http://schemas.openxmlformats.org/officeDocument/2006/relationships/image" Target="../media/image-11-2.svg"/><Relationship Id="rId11" Type="http://schemas.openxmlformats.org/officeDocument/2006/relationships/image" Target="../media/image-11-1.png"/><Relationship Id="rId12" Type="http://schemas.openxmlformats.org/officeDocument/2006/relationships/image" Target="../media/image-11-2.svg"/><Relationship Id="rId13" Type="http://schemas.openxmlformats.org/officeDocument/2006/relationships/slideLayout" Target="../slideLayouts/slideLayout2.xml"/><Relationship Id="rId1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475" y="1077516"/>
            <a:ext cx="10868745" cy="516731"/>
          </a:xfrm>
          <a:prstGeom prst="rect">
            <a:avLst/>
          </a:prstGeom>
          <a:noFill/>
          <a:ln/>
        </p:spPr>
        <p:txBody>
          <a:bodyPr wrap="none" lIns="0" tIns="0" rIns="0" bIns="0" rtlCol="0" anchor="t"/>
          <a:lstStyle/>
          <a:p>
            <a:pPr algn="ctr" indent="0" marL="0">
              <a:lnSpc>
                <a:spcPct val="104000"/>
              </a:lnSpc>
              <a:buNone/>
            </a:pPr>
            <a:r>
              <a:rPr lang="en-US" sz="3250" dirty="0">
                <a:solidFill>
                  <a:srgbClr val="1B1B27"/>
                </a:solidFill>
                <a:latin typeface="Raleway" pitchFamily="34" charset="0"/>
                <a:ea typeface="Raleway" pitchFamily="34" charset="-122"/>
                <a:cs typeface="Raleway" pitchFamily="34" charset="-120"/>
              </a:rPr>
              <a:t>Student Academic Performance Analysis System</a:t>
            </a:r>
            <a:endParaRPr lang="en-US" sz="3250" dirty="0"/>
          </a:p>
        </p:txBody>
      </p:sp>
      <p:sp>
        <p:nvSpPr>
          <p:cNvPr id="3" name="Text 1"/>
          <p:cNvSpPr/>
          <p:nvPr/>
        </p:nvSpPr>
        <p:spPr>
          <a:xfrm>
            <a:off x="661475" y="1660327"/>
            <a:ext cx="10868745" cy="258465"/>
          </a:xfrm>
          <a:prstGeom prst="rect">
            <a:avLst/>
          </a:prstGeom>
          <a:noFill/>
          <a:ln/>
        </p:spPr>
        <p:txBody>
          <a:bodyPr wrap="none" lIns="0" tIns="0" rIns="0" bIns="0" rtlCol="0" anchor="t"/>
          <a:lstStyle/>
          <a:p>
            <a:pPr algn="ctr" indent="0" marL="0">
              <a:lnSpc>
                <a:spcPct val="104000"/>
              </a:lnSpc>
              <a:buNone/>
            </a:pPr>
            <a:r>
              <a:rPr lang="en-US" sz="1600" dirty="0">
                <a:solidFill>
                  <a:srgbClr val="1B1B27"/>
                </a:solidFill>
                <a:latin typeface="Raleway" pitchFamily="34" charset="0"/>
                <a:ea typeface="Raleway" pitchFamily="34" charset="-122"/>
                <a:cs typeface="Raleway" pitchFamily="34" charset="-120"/>
              </a:rPr>
              <a:t>Using Multi-Variable Regression and Educational Data Analytics</a:t>
            </a:r>
            <a:endParaRPr lang="en-US" sz="1600" dirty="0"/>
          </a:p>
        </p:txBody>
      </p:sp>
      <p:sp>
        <p:nvSpPr>
          <p:cNvPr id="4" name="Text 2"/>
          <p:cNvSpPr/>
          <p:nvPr/>
        </p:nvSpPr>
        <p:spPr>
          <a:xfrm>
            <a:off x="661475" y="2166838"/>
            <a:ext cx="10868745" cy="529233"/>
          </a:xfrm>
          <a:prstGeom prst="rect">
            <a:avLst/>
          </a:prstGeom>
          <a:noFill/>
          <a:ln/>
        </p:spPr>
        <p:txBody>
          <a:bodyPr wrap="square" lIns="0" tIns="0" rIns="0" bIns="0" rtlCol="0" anchor="t">
            <a:normAutofit/>
          </a:bodyPr>
          <a:lstStyle/>
          <a:p>
            <a:pPr algn="ctr" indent="0" marL="0">
              <a:lnSpc>
                <a:spcPct val="133000"/>
              </a:lnSpc>
              <a:buNone/>
            </a:pPr>
            <a:r>
              <a:rPr lang="en-US" sz="1300" dirty="0">
                <a:solidFill>
                  <a:srgbClr val="3C3939"/>
                </a:solidFill>
                <a:latin typeface="Roboto" pitchFamily="34" charset="0"/>
                <a:ea typeface="Roboto" pitchFamily="34" charset="-122"/>
                <a:cs typeface="Roboto" pitchFamily="34" charset="-120"/>
              </a:rPr>
              <a:t>A comprehensive data-driven framework for predicting student outcomes, identifying at-risk learners, and empowering faculty with actionable academic intelligence.</a:t>
            </a:r>
            <a:endParaRPr lang="en-US" sz="1300" dirty="0"/>
          </a:p>
        </p:txBody>
      </p:sp>
      <p:sp>
        <p:nvSpPr>
          <p:cNvPr id="5" name="Shape 3"/>
          <p:cNvSpPr/>
          <p:nvPr/>
        </p:nvSpPr>
        <p:spPr>
          <a:xfrm>
            <a:off x="661475" y="2882106"/>
            <a:ext cx="10868745" cy="2447727"/>
          </a:xfrm>
          <a:prstGeom prst="roundRect">
            <a:avLst>
              <a:gd name="adj" fmla="val 2838"/>
            </a:avLst>
          </a:prstGeom>
          <a:solidFill>
            <a:srgbClr val="E1E1EA"/>
          </a:solidFill>
          <a:ln w="6350">
            <a:solidFill>
              <a:srgbClr val="C7C7D0"/>
            </a:solidFill>
            <a:prstDash val="solid"/>
          </a:ln>
        </p:spPr>
      </p:sp>
      <p:sp>
        <p:nvSpPr>
          <p:cNvPr id="6" name="Shape 4"/>
          <p:cNvSpPr/>
          <p:nvPr/>
        </p:nvSpPr>
        <p:spPr>
          <a:xfrm>
            <a:off x="667825" y="2888456"/>
            <a:ext cx="5428023" cy="1217513"/>
          </a:xfrm>
          <a:custGeom>
            <a:avLst/>
            <a:gdLst/>
            <a:ahLst/>
            <a:cxnLst/>
            <a:rect l="l" t="t" r="r" b="b"/>
            <a:pathLst>
              <a:path w="5428023" h="1217513">
                <a:moveTo>
                  <a:pt x="57887" y="0"/>
                </a:moveTo>
                <a:lnTo>
                  <a:pt x="5428023" y="0"/>
                </a:lnTo>
                <a:lnTo>
                  <a:pt x="5428023" y="1217513"/>
                </a:lnTo>
                <a:lnTo>
                  <a:pt x="0" y="1217513"/>
                </a:lnTo>
                <a:lnTo>
                  <a:pt x="0" y="57888"/>
                </a:lnTo>
                <a:arcTo hR="57888" wR="57887" stAng="10800000" swAng="5400000"/>
                <a:close/>
              </a:path>
            </a:pathLst>
          </a:custGeom>
          <a:solidFill>
            <a:srgbClr val="E1E1EA"/>
          </a:solidFill>
          <a:ln/>
        </p:spPr>
      </p:sp>
      <p:sp>
        <p:nvSpPr>
          <p:cNvPr id="7" name="Text 5"/>
          <p:cNvSpPr/>
          <p:nvPr/>
        </p:nvSpPr>
        <p:spPr>
          <a:xfrm>
            <a:off x="833119" y="3053755"/>
            <a:ext cx="5097434"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Multi-Variable Regression</a:t>
            </a:r>
            <a:endParaRPr lang="en-US" sz="1600" dirty="0"/>
          </a:p>
        </p:txBody>
      </p:sp>
      <p:sp>
        <p:nvSpPr>
          <p:cNvPr id="8" name="Text 6"/>
          <p:cNvSpPr/>
          <p:nvPr/>
        </p:nvSpPr>
        <p:spPr>
          <a:xfrm>
            <a:off x="833119" y="3411438"/>
            <a:ext cx="5097434"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Statistical modeling of multiple academic factors to forecast final performance</a:t>
            </a:r>
            <a:endParaRPr lang="en-US" sz="1300" dirty="0"/>
          </a:p>
        </p:txBody>
      </p:sp>
      <p:sp>
        <p:nvSpPr>
          <p:cNvPr id="9" name="Shape 7"/>
          <p:cNvSpPr/>
          <p:nvPr/>
        </p:nvSpPr>
        <p:spPr>
          <a:xfrm>
            <a:off x="6095848" y="2888456"/>
            <a:ext cx="5428023" cy="1217513"/>
          </a:xfrm>
          <a:custGeom>
            <a:avLst/>
            <a:gdLst/>
            <a:ahLst/>
            <a:cxnLst/>
            <a:rect l="l" t="t" r="r" b="b"/>
            <a:pathLst>
              <a:path w="5428023" h="1217513">
                <a:moveTo>
                  <a:pt x="0" y="0"/>
                </a:moveTo>
                <a:lnTo>
                  <a:pt x="5370136" y="0"/>
                </a:lnTo>
                <a:arcTo hR="57888" wR="57887" stAng="16200000" swAng="5400000"/>
                <a:lnTo>
                  <a:pt x="5428023" y="1217513"/>
                </a:lnTo>
                <a:lnTo>
                  <a:pt x="0" y="1217513"/>
                </a:lnTo>
                <a:lnTo>
                  <a:pt x="0" y="0"/>
                </a:lnTo>
                <a:close/>
              </a:path>
            </a:pathLst>
          </a:custGeom>
          <a:solidFill>
            <a:srgbClr val="E1E1EA"/>
          </a:solidFill>
          <a:ln/>
        </p:spPr>
      </p:sp>
      <p:sp>
        <p:nvSpPr>
          <p:cNvPr id="10" name="Shape 8"/>
          <p:cNvSpPr/>
          <p:nvPr/>
        </p:nvSpPr>
        <p:spPr>
          <a:xfrm>
            <a:off x="6095848" y="2888456"/>
            <a:ext cx="19050" cy="1217513"/>
          </a:xfrm>
          <a:prstGeom prst="roundRect">
            <a:avLst>
              <a:gd name="adj" fmla="val 49999"/>
            </a:avLst>
          </a:prstGeom>
          <a:solidFill>
            <a:srgbClr val="C7C7D0"/>
          </a:solidFill>
          <a:ln/>
        </p:spPr>
      </p:sp>
      <p:sp>
        <p:nvSpPr>
          <p:cNvPr id="11" name="Text 9"/>
          <p:cNvSpPr/>
          <p:nvPr/>
        </p:nvSpPr>
        <p:spPr>
          <a:xfrm>
            <a:off x="6261142" y="3053755"/>
            <a:ext cx="5097434"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Educational Data Analytics</a:t>
            </a:r>
            <a:endParaRPr lang="en-US" sz="1600" dirty="0"/>
          </a:p>
        </p:txBody>
      </p:sp>
      <p:sp>
        <p:nvSpPr>
          <p:cNvPr id="12" name="Text 10"/>
          <p:cNvSpPr/>
          <p:nvPr/>
        </p:nvSpPr>
        <p:spPr>
          <a:xfrm>
            <a:off x="6261142" y="3411438"/>
            <a:ext cx="5097434" cy="264616"/>
          </a:xfrm>
          <a:prstGeom prst="rect">
            <a:avLst/>
          </a:prstGeom>
          <a:noFill/>
          <a:ln/>
        </p:spPr>
        <p:txBody>
          <a:bodyPr wrap="none" lIns="0" tIns="0" rIns="0" bIns="0" rtlCol="0" anchor="t"/>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Extracting actionable insights from institutional academic datasets</a:t>
            </a:r>
            <a:endParaRPr lang="en-US" sz="1300" dirty="0"/>
          </a:p>
        </p:txBody>
      </p:sp>
      <p:sp>
        <p:nvSpPr>
          <p:cNvPr id="13" name="Shape 11"/>
          <p:cNvSpPr/>
          <p:nvPr/>
        </p:nvSpPr>
        <p:spPr>
          <a:xfrm>
            <a:off x="667825" y="4105970"/>
            <a:ext cx="5428023" cy="1217513"/>
          </a:xfrm>
          <a:custGeom>
            <a:avLst/>
            <a:gdLst/>
            <a:ahLst/>
            <a:cxnLst/>
            <a:rect l="l" t="t" r="r" b="b"/>
            <a:pathLst>
              <a:path w="5428023" h="1217513">
                <a:moveTo>
                  <a:pt x="0" y="0"/>
                </a:moveTo>
                <a:lnTo>
                  <a:pt x="5428023" y="0"/>
                </a:lnTo>
                <a:lnTo>
                  <a:pt x="5428023" y="1217513"/>
                </a:lnTo>
                <a:lnTo>
                  <a:pt x="57887" y="1217513"/>
                </a:lnTo>
                <a:arcTo hR="57888" wR="57887" stAng="5400000" swAng="5400000"/>
                <a:lnTo>
                  <a:pt x="0" y="0"/>
                </a:lnTo>
                <a:close/>
              </a:path>
            </a:pathLst>
          </a:custGeom>
          <a:solidFill>
            <a:srgbClr val="E1E1EA"/>
          </a:solidFill>
          <a:ln/>
        </p:spPr>
      </p:sp>
      <p:sp>
        <p:nvSpPr>
          <p:cNvPr id="14" name="Shape 12"/>
          <p:cNvSpPr/>
          <p:nvPr/>
        </p:nvSpPr>
        <p:spPr>
          <a:xfrm>
            <a:off x="667825" y="4105970"/>
            <a:ext cx="5428023" cy="19050"/>
          </a:xfrm>
          <a:prstGeom prst="roundRect">
            <a:avLst>
              <a:gd name="adj" fmla="val 49999"/>
            </a:avLst>
          </a:prstGeom>
          <a:solidFill>
            <a:srgbClr val="C7C7D0"/>
          </a:solidFill>
          <a:ln/>
        </p:spPr>
      </p:sp>
      <p:sp>
        <p:nvSpPr>
          <p:cNvPr id="15" name="Text 13"/>
          <p:cNvSpPr/>
          <p:nvPr/>
        </p:nvSpPr>
        <p:spPr>
          <a:xfrm>
            <a:off x="833119" y="4271268"/>
            <a:ext cx="5097434"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Early Intervention</a:t>
            </a:r>
            <a:endParaRPr lang="en-US" sz="1600" dirty="0"/>
          </a:p>
        </p:txBody>
      </p:sp>
      <p:sp>
        <p:nvSpPr>
          <p:cNvPr id="16" name="Text 14"/>
          <p:cNvSpPr/>
          <p:nvPr/>
        </p:nvSpPr>
        <p:spPr>
          <a:xfrm>
            <a:off x="833119" y="4628952"/>
            <a:ext cx="5097434" cy="264616"/>
          </a:xfrm>
          <a:prstGeom prst="rect">
            <a:avLst/>
          </a:prstGeom>
          <a:noFill/>
          <a:ln/>
        </p:spPr>
        <p:txBody>
          <a:bodyPr wrap="none" lIns="0" tIns="0" rIns="0" bIns="0" rtlCol="0" anchor="t"/>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Proactive identification and support for at-risk students</a:t>
            </a:r>
            <a:endParaRPr lang="en-US" sz="1300" dirty="0"/>
          </a:p>
        </p:txBody>
      </p:sp>
      <p:sp>
        <p:nvSpPr>
          <p:cNvPr id="17" name="Shape 15"/>
          <p:cNvSpPr/>
          <p:nvPr/>
        </p:nvSpPr>
        <p:spPr>
          <a:xfrm>
            <a:off x="6095848" y="4105970"/>
            <a:ext cx="5428023" cy="1217513"/>
          </a:xfrm>
          <a:custGeom>
            <a:avLst/>
            <a:gdLst/>
            <a:ahLst/>
            <a:cxnLst/>
            <a:rect l="l" t="t" r="r" b="b"/>
            <a:pathLst>
              <a:path w="5428023" h="1217513">
                <a:moveTo>
                  <a:pt x="0" y="0"/>
                </a:moveTo>
                <a:lnTo>
                  <a:pt x="5428023" y="0"/>
                </a:lnTo>
                <a:lnTo>
                  <a:pt x="5428023" y="1159625"/>
                </a:lnTo>
                <a:arcTo hR="57888" wR="57887" stAng="0" swAng="5400000"/>
                <a:lnTo>
                  <a:pt x="0" y="1217513"/>
                </a:lnTo>
                <a:lnTo>
                  <a:pt x="0" y="0"/>
                </a:lnTo>
                <a:close/>
              </a:path>
            </a:pathLst>
          </a:custGeom>
          <a:solidFill>
            <a:srgbClr val="E1E1EA"/>
          </a:solidFill>
          <a:ln/>
        </p:spPr>
      </p:sp>
      <p:sp>
        <p:nvSpPr>
          <p:cNvPr id="18" name="Shape 16"/>
          <p:cNvSpPr/>
          <p:nvPr/>
        </p:nvSpPr>
        <p:spPr>
          <a:xfrm>
            <a:off x="6095848" y="4105970"/>
            <a:ext cx="19050" cy="1217513"/>
          </a:xfrm>
          <a:prstGeom prst="roundRect">
            <a:avLst>
              <a:gd name="adj" fmla="val 49999"/>
            </a:avLst>
          </a:prstGeom>
          <a:solidFill>
            <a:srgbClr val="C7C7D0"/>
          </a:solidFill>
          <a:ln/>
        </p:spPr>
      </p:sp>
      <p:sp>
        <p:nvSpPr>
          <p:cNvPr id="19" name="Shape 17"/>
          <p:cNvSpPr/>
          <p:nvPr/>
        </p:nvSpPr>
        <p:spPr>
          <a:xfrm>
            <a:off x="6095848" y="4105970"/>
            <a:ext cx="5428023" cy="19050"/>
          </a:xfrm>
          <a:prstGeom prst="roundRect">
            <a:avLst>
              <a:gd name="adj" fmla="val 49999"/>
            </a:avLst>
          </a:prstGeom>
          <a:solidFill>
            <a:srgbClr val="C7C7D0"/>
          </a:solidFill>
          <a:ln/>
        </p:spPr>
      </p:sp>
      <p:sp>
        <p:nvSpPr>
          <p:cNvPr id="20" name="Text 18"/>
          <p:cNvSpPr/>
          <p:nvPr/>
        </p:nvSpPr>
        <p:spPr>
          <a:xfrm>
            <a:off x="6261142" y="4271268"/>
            <a:ext cx="5097434" cy="258465"/>
          </a:xfrm>
          <a:prstGeom prst="rect">
            <a:avLst/>
          </a:prstGeom>
          <a:noFill/>
          <a:ln/>
        </p:spPr>
        <p:txBody>
          <a:bodyPr wrap="none" lIns="0" tIns="0" rIns="0" bIns="0" rtlCol="0" anchor="t"/>
          <a:lstStyle/>
          <a:p>
            <a:pPr algn="l" indent="0" marL="0">
              <a:lnSpc>
                <a:spcPct val="104000"/>
              </a:lnSpc>
              <a:buNone/>
            </a:pPr>
            <a:r>
              <a:rPr lang="en-US" sz="1600" dirty="0">
                <a:solidFill>
                  <a:srgbClr val="3C3939"/>
                </a:solidFill>
                <a:latin typeface="Raleway" pitchFamily="34" charset="0"/>
                <a:ea typeface="Raleway" pitchFamily="34" charset="-122"/>
                <a:cs typeface="Raleway" pitchFamily="34" charset="-120"/>
              </a:rPr>
              <a:t>Faculty Decision Support</a:t>
            </a:r>
            <a:endParaRPr lang="en-US" sz="1600" dirty="0"/>
          </a:p>
        </p:txBody>
      </p:sp>
      <p:sp>
        <p:nvSpPr>
          <p:cNvPr id="21" name="Text 19"/>
          <p:cNvSpPr/>
          <p:nvPr/>
        </p:nvSpPr>
        <p:spPr>
          <a:xfrm>
            <a:off x="6261142" y="4628952"/>
            <a:ext cx="5097434"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C3939"/>
                </a:solidFill>
                <a:latin typeface="Roboto" pitchFamily="34" charset="0"/>
                <a:ea typeface="Roboto" pitchFamily="34" charset="-122"/>
                <a:cs typeface="Roboto" pitchFamily="34" charset="-120"/>
              </a:rPr>
              <a:t>Data-driven dashboards to guide teaching strategy and academic planning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61475" y="1216025"/>
            <a:ext cx="713762" cy="201116"/>
          </a:xfrm>
          <a:prstGeom prst="roundRect">
            <a:avLst>
              <a:gd name="adj" fmla="val 22105"/>
            </a:avLst>
          </a:prstGeom>
          <a:solidFill>
            <a:srgbClr val="E1E1EA"/>
          </a:solidFill>
          <a:ln/>
        </p:spPr>
      </p:sp>
      <p:sp>
        <p:nvSpPr>
          <p:cNvPr id="3" name="Text 1"/>
          <p:cNvSpPr/>
          <p:nvPr/>
        </p:nvSpPr>
        <p:spPr>
          <a:xfrm>
            <a:off x="740848" y="1255713"/>
            <a:ext cx="1164601" cy="121741"/>
          </a:xfrm>
          <a:prstGeom prst="rect">
            <a:avLst/>
          </a:prstGeom>
          <a:noFill/>
          <a:ln/>
        </p:spPr>
        <p:txBody>
          <a:bodyPr wrap="none" lIns="0" tIns="0" rIns="0" bIns="0" rtlCol="0" anchor="t"/>
          <a:lstStyle/>
          <a:p>
            <a:pPr algn="l" indent="0" marL="0">
              <a:lnSpc>
                <a:spcPct val="96000"/>
              </a:lnSpc>
              <a:buNone/>
            </a:pPr>
            <a:r>
              <a:rPr lang="en-US" sz="800" dirty="0">
                <a:solidFill>
                  <a:srgbClr val="3C3939"/>
                </a:solidFill>
                <a:latin typeface="Roboto" pitchFamily="34" charset="0"/>
                <a:ea typeface="Roboto" pitchFamily="34" charset="-122"/>
                <a:cs typeface="Roboto" pitchFamily="34" charset="-120"/>
              </a:rPr>
              <a:t>CHAPTER 1</a:t>
            </a:r>
            <a:endParaRPr lang="en-US" sz="800" dirty="0"/>
          </a:p>
        </p:txBody>
      </p:sp>
      <p:sp>
        <p:nvSpPr>
          <p:cNvPr id="4" name="Text 2"/>
          <p:cNvSpPr/>
          <p:nvPr/>
        </p:nvSpPr>
        <p:spPr>
          <a:xfrm>
            <a:off x="661475" y="1459409"/>
            <a:ext cx="10868745" cy="413445"/>
          </a:xfrm>
          <a:prstGeom prst="rect">
            <a:avLst/>
          </a:prstGeom>
          <a:noFill/>
          <a:ln/>
        </p:spPr>
        <p:txBody>
          <a:bodyPr wrap="none" lIns="0" tIns="0" rIns="0" bIns="0" rtlCol="0" anchor="t"/>
          <a:lstStyle/>
          <a:p>
            <a:pPr algn="l" indent="0" marL="0">
              <a:lnSpc>
                <a:spcPct val="104000"/>
              </a:lnSpc>
              <a:buNone/>
            </a:pPr>
            <a:r>
              <a:rPr lang="en-US" sz="2600" dirty="0">
                <a:solidFill>
                  <a:srgbClr val="1B1B27"/>
                </a:solidFill>
                <a:latin typeface="Raleway" pitchFamily="34" charset="0"/>
                <a:ea typeface="Raleway" pitchFamily="34" charset="-122"/>
                <a:cs typeface="Raleway" pitchFamily="34" charset="-120"/>
              </a:rPr>
              <a:t>Introduction &amp; Background</a:t>
            </a:r>
            <a:endParaRPr lang="en-US" sz="2600" dirty="0"/>
          </a:p>
        </p:txBody>
      </p:sp>
      <p:sp>
        <p:nvSpPr>
          <p:cNvPr id="5" name="Text 3"/>
          <p:cNvSpPr/>
          <p:nvPr/>
        </p:nvSpPr>
        <p:spPr>
          <a:xfrm>
            <a:off x="661475" y="2031603"/>
            <a:ext cx="10868745" cy="5715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3C3939"/>
                </a:solidFill>
                <a:latin typeface="Roboto" pitchFamily="34" charset="0"/>
                <a:ea typeface="Roboto" pitchFamily="34" charset="-122"/>
                <a:cs typeface="Roboto" pitchFamily="34" charset="-120"/>
              </a:rPr>
              <a:t>The convergence of data science and education has given rise to a powerful discipline known as </a:t>
            </a:r>
            <a:pPr algn="l" indent="0" marL="0">
              <a:lnSpc>
                <a:spcPct val="120000"/>
              </a:lnSpc>
              <a:buNone/>
            </a:pPr>
            <a:r>
              <a:rPr lang="en-US" sz="1000" b="1" dirty="0">
                <a:solidFill>
                  <a:srgbClr val="3C3939"/>
                </a:solidFill>
                <a:latin typeface="Roboto Bold" pitchFamily="34" charset="0"/>
                <a:ea typeface="Roboto Bold" pitchFamily="34" charset="-122"/>
                <a:cs typeface="Roboto Bold" pitchFamily="34" charset="-120"/>
              </a:rPr>
              <a:t>Educational Data Analytics</a:t>
            </a:r>
            <a:pPr algn="l" indent="0" marL="0">
              <a:lnSpc>
                <a:spcPct val="120000"/>
              </a:lnSpc>
              <a:buNone/>
            </a:pPr>
            <a:r>
              <a:rPr lang="en-US" sz="1000" dirty="0">
                <a:solidFill>
                  <a:srgbClr val="3C3939"/>
                </a:solidFill>
                <a:latin typeface="Roboto" pitchFamily="34" charset="0"/>
                <a:ea typeface="Roboto" pitchFamily="34" charset="-122"/>
                <a:cs typeface="Roboto" pitchFamily="34" charset="-120"/>
              </a:rPr>
              <a:t> — the systematic application of statistical and computational methods to academic datasets in order to extract meaningful, actionable insights. At its core, this field enables institutions to move beyond anecdotal observation toward evidence-based understanding of student learning dynamics.</a:t>
            </a:r>
            <a:endParaRPr lang="en-US" sz="1000" dirty="0"/>
          </a:p>
        </p:txBody>
      </p:sp>
      <p:sp>
        <p:nvSpPr>
          <p:cNvPr id="6" name="Shape 4"/>
          <p:cNvSpPr/>
          <p:nvPr/>
        </p:nvSpPr>
        <p:spPr>
          <a:xfrm>
            <a:off x="566227" y="2722166"/>
            <a:ext cx="5463542" cy="1465957"/>
          </a:xfrm>
          <a:prstGeom prst="roundRect">
            <a:avLst>
              <a:gd name="adj" fmla="val 6498"/>
            </a:avLst>
          </a:prstGeom>
          <a:solidFill>
            <a:srgbClr val="1B1B27">
              <a:alpha val="95000"/>
            </a:srgbClr>
          </a:solidFill>
          <a:ln/>
        </p:spPr>
      </p:sp>
      <p:sp>
        <p:nvSpPr>
          <p:cNvPr id="7" name="Text 5"/>
          <p:cNvSpPr/>
          <p:nvPr/>
        </p:nvSpPr>
        <p:spPr>
          <a:xfrm>
            <a:off x="698483" y="2827933"/>
            <a:ext cx="5199032" cy="206673"/>
          </a:xfrm>
          <a:prstGeom prst="rect">
            <a:avLst/>
          </a:prstGeom>
          <a:noFill/>
          <a:ln/>
        </p:spPr>
        <p:txBody>
          <a:bodyPr wrap="none" lIns="0" tIns="0" rIns="0" bIns="0" rtlCol="0" anchor="t"/>
          <a:lstStyle/>
          <a:p>
            <a:pPr algn="l" indent="0" marL="0">
              <a:lnSpc>
                <a:spcPct val="104000"/>
              </a:lnSpc>
              <a:buNone/>
            </a:pPr>
            <a:r>
              <a:rPr lang="en-US" sz="1300" dirty="0">
                <a:solidFill>
                  <a:srgbClr val="FFFFFF"/>
                </a:solidFill>
                <a:latin typeface="Raleway" pitchFamily="34" charset="0"/>
                <a:ea typeface="Raleway" pitchFamily="34" charset="-122"/>
                <a:cs typeface="Raleway" pitchFamily="34" charset="-120"/>
              </a:rPr>
              <a:t>What is Academic Performance Prediction?</a:t>
            </a:r>
            <a:endParaRPr lang="en-US" sz="1300" dirty="0"/>
          </a:p>
        </p:txBody>
      </p:sp>
      <p:sp>
        <p:nvSpPr>
          <p:cNvPr id="8" name="Text 6"/>
          <p:cNvSpPr/>
          <p:nvPr/>
        </p:nvSpPr>
        <p:spPr>
          <a:xfrm>
            <a:off x="698483" y="3140373"/>
            <a:ext cx="5199032" cy="7620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FFFFFF"/>
                </a:solidFill>
                <a:latin typeface="Roboto" pitchFamily="34" charset="0"/>
                <a:ea typeface="Roboto" pitchFamily="34" charset="-122"/>
                <a:cs typeface="Roboto" pitchFamily="34" charset="-120"/>
              </a:rPr>
              <a:t>Academic performance prediction involves identifying recurring patterns within student data — such as attendance trends, assessment scores, and engagement metrics — to forecast learning outcomes before the end of a term. This enables institutions to act proactively rather than reactively.</a:t>
            </a:r>
            <a:endParaRPr lang="en-US" sz="1000" dirty="0"/>
          </a:p>
        </p:txBody>
      </p:sp>
      <p:sp>
        <p:nvSpPr>
          <p:cNvPr id="9" name="Text 7"/>
          <p:cNvSpPr/>
          <p:nvPr/>
        </p:nvSpPr>
        <p:spPr>
          <a:xfrm>
            <a:off x="6263523" y="2827933"/>
            <a:ext cx="5273047" cy="206673"/>
          </a:xfrm>
          <a:prstGeom prst="rect">
            <a:avLst/>
          </a:prstGeom>
          <a:noFill/>
          <a:ln/>
        </p:spPr>
        <p:txBody>
          <a:bodyPr wrap="none" lIns="0" tIns="0" rIns="0" bIns="0" rtlCol="0" anchor="t"/>
          <a:lstStyle/>
          <a:p>
            <a:pPr algn="l" indent="0" marL="0">
              <a:lnSpc>
                <a:spcPct val="104000"/>
              </a:lnSpc>
              <a:buNone/>
            </a:pPr>
            <a:r>
              <a:rPr lang="en-US" sz="1300" dirty="0">
                <a:solidFill>
                  <a:srgbClr val="1B1B27"/>
                </a:solidFill>
                <a:latin typeface="Raleway" pitchFamily="34" charset="0"/>
                <a:ea typeface="Raleway" pitchFamily="34" charset="-122"/>
                <a:cs typeface="Raleway" pitchFamily="34" charset="-120"/>
              </a:rPr>
              <a:t>Why Multi-Variable Regression?</a:t>
            </a:r>
            <a:endParaRPr lang="en-US" sz="1300" dirty="0"/>
          </a:p>
        </p:txBody>
      </p:sp>
      <p:sp>
        <p:nvSpPr>
          <p:cNvPr id="10" name="Text 8"/>
          <p:cNvSpPr/>
          <p:nvPr/>
        </p:nvSpPr>
        <p:spPr>
          <a:xfrm>
            <a:off x="6263523" y="3140373"/>
            <a:ext cx="5273047" cy="9525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3C3939"/>
                </a:solidFill>
                <a:latin typeface="Roboto" pitchFamily="34" charset="0"/>
                <a:ea typeface="Roboto" pitchFamily="34" charset="-122"/>
                <a:cs typeface="Roboto" pitchFamily="34" charset="-120"/>
              </a:rPr>
              <a:t>Student academic success is rarely determined by a single factor. Multi-variable regression is a statistical method that models the simultaneous relationship between several independent academic variables (attendance, marks, participation, etc.) and a single dependent variable — the student's final performance score or GPA. By estimating regression coefficients, the model reveals which factors matter most and by how much.</a:t>
            </a:r>
            <a:endParaRPr lang="en-US" sz="1000" dirty="0"/>
          </a:p>
        </p:txBody>
      </p:sp>
      <p:pic>
        <p:nvPicPr>
          <p:cNvPr id="11"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4307185"/>
            <a:ext cx="5381490" cy="1334790"/>
          </a:xfrm>
          <a:prstGeom prst="rect">
            <a:avLst/>
          </a:prstGeom>
        </p:spPr>
      </p:pic>
      <p:sp>
        <p:nvSpPr>
          <p:cNvPr id="12" name="Text 9"/>
          <p:cNvSpPr/>
          <p:nvPr/>
        </p:nvSpPr>
        <p:spPr>
          <a:xfrm>
            <a:off x="888978" y="4458494"/>
            <a:ext cx="5002683" cy="206673"/>
          </a:xfrm>
          <a:prstGeom prst="rect">
            <a:avLst/>
          </a:prstGeom>
          <a:noFill/>
          <a:ln/>
        </p:spPr>
        <p:txBody>
          <a:bodyPr wrap="none" lIns="0" tIns="0" rIns="0" bIns="0" rtlCol="0" anchor="t"/>
          <a:lstStyle/>
          <a:p>
            <a:pPr algn="l" indent="0" marL="0">
              <a:lnSpc>
                <a:spcPct val="104000"/>
              </a:lnSpc>
              <a:buNone/>
            </a:pPr>
            <a:r>
              <a:rPr lang="en-US" sz="1300" dirty="0">
                <a:solidFill>
                  <a:srgbClr val="3C3939"/>
                </a:solidFill>
                <a:latin typeface="Raleway" pitchFamily="34" charset="0"/>
                <a:ea typeface="Raleway" pitchFamily="34" charset="-122"/>
                <a:cs typeface="Raleway" pitchFamily="34" charset="-120"/>
              </a:rPr>
              <a:t>Institutional Imperative</a:t>
            </a:r>
            <a:endParaRPr lang="en-US" sz="1300" dirty="0"/>
          </a:p>
        </p:txBody>
      </p:sp>
      <p:sp>
        <p:nvSpPr>
          <p:cNvPr id="13" name="Text 10"/>
          <p:cNvSpPr/>
          <p:nvPr/>
        </p:nvSpPr>
        <p:spPr>
          <a:xfrm>
            <a:off x="888978" y="4728666"/>
            <a:ext cx="5002683" cy="7620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3C3939"/>
                </a:solidFill>
                <a:latin typeface="Roboto" pitchFamily="34" charset="0"/>
                <a:ea typeface="Roboto" pitchFamily="34" charset="-122"/>
                <a:cs typeface="Roboto" pitchFamily="34" charset="-120"/>
              </a:rPr>
              <a:t>Educational institutions accumulate vast volumes of academic data every semester — yet most of it remains siloed, underanalyzed, and disconnected. A data-driven performance analysis system bridges this gap by converting raw records into predictive intelligence that faculty and administrators can act upon.</a:t>
            </a:r>
            <a:endParaRPr lang="en-US" sz="10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48730" y="4307185"/>
            <a:ext cx="5381490" cy="1334790"/>
          </a:xfrm>
          <a:prstGeom prst="rect">
            <a:avLst/>
          </a:prstGeom>
        </p:spPr>
      </p:pic>
      <p:sp>
        <p:nvSpPr>
          <p:cNvPr id="15" name="Text 11"/>
          <p:cNvSpPr/>
          <p:nvPr/>
        </p:nvSpPr>
        <p:spPr>
          <a:xfrm>
            <a:off x="6376233" y="4458494"/>
            <a:ext cx="5002683" cy="206673"/>
          </a:xfrm>
          <a:prstGeom prst="rect">
            <a:avLst/>
          </a:prstGeom>
          <a:noFill/>
          <a:ln/>
        </p:spPr>
        <p:txBody>
          <a:bodyPr wrap="none" lIns="0" tIns="0" rIns="0" bIns="0" rtlCol="0" anchor="t"/>
          <a:lstStyle/>
          <a:p>
            <a:pPr algn="l" indent="0" marL="0">
              <a:lnSpc>
                <a:spcPct val="104000"/>
              </a:lnSpc>
              <a:buNone/>
            </a:pPr>
            <a:r>
              <a:rPr lang="en-US" sz="1300" dirty="0">
                <a:solidFill>
                  <a:srgbClr val="3C3939"/>
                </a:solidFill>
                <a:latin typeface="Raleway" pitchFamily="34" charset="0"/>
                <a:ea typeface="Raleway" pitchFamily="34" charset="-122"/>
                <a:cs typeface="Raleway" pitchFamily="34" charset="-120"/>
              </a:rPr>
              <a:t>Scope of Application</a:t>
            </a:r>
            <a:endParaRPr lang="en-US" sz="1300" dirty="0"/>
          </a:p>
        </p:txBody>
      </p:sp>
      <p:sp>
        <p:nvSpPr>
          <p:cNvPr id="16" name="Text 12"/>
          <p:cNvSpPr/>
          <p:nvPr/>
        </p:nvSpPr>
        <p:spPr>
          <a:xfrm>
            <a:off x="6376233" y="4728666"/>
            <a:ext cx="5002683" cy="7620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3C3939"/>
                </a:solidFill>
                <a:latin typeface="Roboto" pitchFamily="34" charset="0"/>
                <a:ea typeface="Roboto" pitchFamily="34" charset="-122"/>
                <a:cs typeface="Roboto" pitchFamily="34" charset="-120"/>
              </a:rPr>
              <a:t>The system is applicable across schools, colleges, and universities, supporting undergraduate and postgraduate programs where continuous academic monitoring and early intervention can meaningfully improve student success rates and institutional outcomes.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61475" y="894755"/>
            <a:ext cx="758608" cy="213717"/>
          </a:xfrm>
          <a:prstGeom prst="roundRect">
            <a:avLst>
              <a:gd name="adj" fmla="val 22102"/>
            </a:avLst>
          </a:prstGeom>
          <a:solidFill>
            <a:srgbClr val="E1E1EA"/>
          </a:solidFill>
          <a:ln/>
        </p:spPr>
      </p:sp>
      <p:sp>
        <p:nvSpPr>
          <p:cNvPr id="3" name="Text 1"/>
          <p:cNvSpPr/>
          <p:nvPr/>
        </p:nvSpPr>
        <p:spPr>
          <a:xfrm>
            <a:off x="745809" y="936923"/>
            <a:ext cx="1199525" cy="129381"/>
          </a:xfrm>
          <a:prstGeom prst="rect">
            <a:avLst/>
          </a:prstGeom>
          <a:noFill/>
          <a:ln/>
        </p:spPr>
        <p:txBody>
          <a:bodyPr wrap="none" lIns="0" tIns="0" rIns="0" bIns="0" rtlCol="0" anchor="t"/>
          <a:lstStyle/>
          <a:p>
            <a:pPr algn="l" indent="0" marL="0">
              <a:lnSpc>
                <a:spcPct val="96000"/>
              </a:lnSpc>
              <a:buNone/>
            </a:pPr>
            <a:r>
              <a:rPr lang="en-US" sz="850" dirty="0">
                <a:solidFill>
                  <a:srgbClr val="3C3939"/>
                </a:solidFill>
                <a:latin typeface="Roboto" pitchFamily="34" charset="0"/>
                <a:ea typeface="Roboto" pitchFamily="34" charset="-122"/>
                <a:cs typeface="Roboto" pitchFamily="34" charset="-120"/>
              </a:rPr>
              <a:t>CHAPTER 2</a:t>
            </a:r>
            <a:endParaRPr lang="en-US" sz="850" dirty="0"/>
          </a:p>
        </p:txBody>
      </p:sp>
      <p:sp>
        <p:nvSpPr>
          <p:cNvPr id="4" name="Text 2"/>
          <p:cNvSpPr/>
          <p:nvPr/>
        </p:nvSpPr>
        <p:spPr>
          <a:xfrm>
            <a:off x="661475" y="1156196"/>
            <a:ext cx="10868745" cy="439241"/>
          </a:xfrm>
          <a:prstGeom prst="rect">
            <a:avLst/>
          </a:prstGeom>
          <a:noFill/>
          <a:ln/>
        </p:spPr>
        <p:txBody>
          <a:bodyPr wrap="none" lIns="0" tIns="0" rIns="0" bIns="0" rtlCol="0" anchor="t"/>
          <a:lstStyle/>
          <a:p>
            <a:pPr algn="l" indent="0" marL="0">
              <a:lnSpc>
                <a:spcPct val="104000"/>
              </a:lnSpc>
              <a:buNone/>
            </a:pPr>
            <a:r>
              <a:rPr lang="en-US" sz="2750" dirty="0">
                <a:solidFill>
                  <a:srgbClr val="1B1B27"/>
                </a:solidFill>
                <a:latin typeface="Raleway" pitchFamily="34" charset="0"/>
                <a:ea typeface="Raleway" pitchFamily="34" charset="-122"/>
                <a:cs typeface="Raleway" pitchFamily="34" charset="-120"/>
              </a:rPr>
              <a:t>Problem Statement &amp; Motivation</a:t>
            </a:r>
            <a:endParaRPr lang="en-US" sz="2750" dirty="0"/>
          </a:p>
        </p:txBody>
      </p:sp>
      <p:sp>
        <p:nvSpPr>
          <p:cNvPr id="5" name="Text 3"/>
          <p:cNvSpPr/>
          <p:nvPr/>
        </p:nvSpPr>
        <p:spPr>
          <a:xfrm>
            <a:off x="661475" y="1774627"/>
            <a:ext cx="10868745" cy="41612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3C3939"/>
                </a:solidFill>
                <a:latin typeface="Roboto" pitchFamily="34" charset="0"/>
                <a:ea typeface="Roboto" pitchFamily="34" charset="-122"/>
                <a:cs typeface="Roboto" pitchFamily="34" charset="-120"/>
              </a:rPr>
              <a:t>Despite the richness of academic data generated by institutions, most performance management practices remain fundamentally reactive and fragmented. This section identifies the core gaps that motivate the proposed system.</a:t>
            </a:r>
            <a:endParaRPr lang="en-US" sz="1100" dirty="0"/>
          </a:p>
        </p:txBody>
      </p:sp>
      <p:sp>
        <p:nvSpPr>
          <p:cNvPr id="6" name="Shape 4"/>
          <p:cNvSpPr/>
          <p:nvPr/>
        </p:nvSpPr>
        <p:spPr>
          <a:xfrm>
            <a:off x="661475" y="2325092"/>
            <a:ext cx="316301" cy="316309"/>
          </a:xfrm>
          <a:prstGeom prst="roundRect">
            <a:avLst>
              <a:gd name="adj" fmla="val 18667"/>
            </a:avLst>
          </a:prstGeom>
          <a:solidFill>
            <a:srgbClr val="E1E1EA"/>
          </a:solidFill>
          <a:ln w="6350">
            <a:solidFill>
              <a:srgbClr val="C7C7D0"/>
            </a:solidFill>
            <a:prstDash val="solid"/>
          </a:ln>
        </p:spPr>
      </p:sp>
      <p:sp>
        <p:nvSpPr>
          <p:cNvPr id="7" name="Text 5"/>
          <p:cNvSpPr/>
          <p:nvPr/>
        </p:nvSpPr>
        <p:spPr>
          <a:xfrm>
            <a:off x="714208" y="2351484"/>
            <a:ext cx="210835" cy="263525"/>
          </a:xfrm>
          <a:prstGeom prst="rect">
            <a:avLst/>
          </a:prstGeom>
          <a:noFill/>
          <a:ln/>
        </p:spPr>
        <p:txBody>
          <a:bodyPr wrap="none" lIns="0" tIns="0" rIns="0" bIns="0" rtlCol="0" anchor="ctr"/>
          <a:lstStyle/>
          <a:p>
            <a:pPr algn="ctr" indent="0" marL="0">
              <a:lnSpc>
                <a:spcPct val="100000"/>
              </a:lnSpc>
              <a:buNone/>
            </a:pPr>
            <a:r>
              <a:rPr lang="en-US" sz="1650" dirty="0">
                <a:solidFill>
                  <a:srgbClr val="3C3939"/>
                </a:solidFill>
                <a:latin typeface="Raleway" pitchFamily="34" charset="0"/>
                <a:ea typeface="Raleway" pitchFamily="34" charset="-122"/>
                <a:cs typeface="Raleway" pitchFamily="34" charset="-120"/>
              </a:rPr>
              <a:t>1</a:t>
            </a:r>
            <a:endParaRPr lang="en-US" sz="1650" dirty="0"/>
          </a:p>
        </p:txBody>
      </p:sp>
      <p:sp>
        <p:nvSpPr>
          <p:cNvPr id="8" name="Text 6"/>
          <p:cNvSpPr/>
          <p:nvPr/>
        </p:nvSpPr>
        <p:spPr>
          <a:xfrm>
            <a:off x="1097233" y="2373412"/>
            <a:ext cx="4923905" cy="219571"/>
          </a:xfrm>
          <a:prstGeom prst="rect">
            <a:avLst/>
          </a:prstGeom>
          <a:noFill/>
          <a:ln/>
        </p:spPr>
        <p:txBody>
          <a:bodyPr wrap="none" lIns="0" tIns="0" rIns="0" bIns="0" rtlCol="0" anchor="t"/>
          <a:lstStyle/>
          <a:p>
            <a:pPr algn="l" indent="0" marL="0">
              <a:lnSpc>
                <a:spcPct val="104000"/>
              </a:lnSpc>
              <a:buNone/>
            </a:pPr>
            <a:r>
              <a:rPr lang="en-US" sz="1350" dirty="0">
                <a:solidFill>
                  <a:srgbClr val="3C3939"/>
                </a:solidFill>
                <a:latin typeface="Raleway" pitchFamily="34" charset="0"/>
                <a:ea typeface="Raleway" pitchFamily="34" charset="-122"/>
                <a:cs typeface="Raleway" pitchFamily="34" charset="-120"/>
              </a:rPr>
              <a:t>Periodic, Snapshot-Based Evaluation</a:t>
            </a:r>
            <a:endParaRPr lang="en-US" sz="1350" dirty="0"/>
          </a:p>
        </p:txBody>
      </p:sp>
      <p:sp>
        <p:nvSpPr>
          <p:cNvPr id="9" name="Text 7"/>
          <p:cNvSpPr/>
          <p:nvPr/>
        </p:nvSpPr>
        <p:spPr>
          <a:xfrm>
            <a:off x="1097233" y="2664619"/>
            <a:ext cx="4923905" cy="1040309"/>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3C3939"/>
                </a:solidFill>
                <a:latin typeface="Roboto" pitchFamily="34" charset="0"/>
                <a:ea typeface="Roboto" pitchFamily="34" charset="-122"/>
                <a:cs typeface="Roboto" pitchFamily="34" charset="-120"/>
              </a:rPr>
              <a:t>Traditional academic evaluation relies on end-of-term examinations and periodic assessments. This approach captures performance at discrete points in time rather than tracking the </a:t>
            </a:r>
            <a:pPr algn="l" indent="0" marL="0">
              <a:lnSpc>
                <a:spcPct val="123000"/>
              </a:lnSpc>
              <a:buNone/>
            </a:pPr>
            <a:r>
              <a:rPr lang="en-US" sz="1100" b="1" dirty="0">
                <a:solidFill>
                  <a:srgbClr val="3C3939"/>
                </a:solidFill>
                <a:latin typeface="Roboto Bold" pitchFamily="34" charset="0"/>
                <a:ea typeface="Roboto Bold" pitchFamily="34" charset="-122"/>
                <a:cs typeface="Roboto Bold" pitchFamily="34" charset="-120"/>
              </a:rPr>
              <a:t>continuous academic trajectory</a:t>
            </a:r>
            <a:pPr algn="l" indent="0" marL="0">
              <a:lnSpc>
                <a:spcPct val="123000"/>
              </a:lnSpc>
              <a:buNone/>
            </a:pPr>
            <a:r>
              <a:rPr lang="en-US" sz="1100" dirty="0">
                <a:solidFill>
                  <a:srgbClr val="3C3939"/>
                </a:solidFill>
                <a:latin typeface="Roboto" pitchFamily="34" charset="0"/>
                <a:ea typeface="Roboto" pitchFamily="34" charset="-122"/>
                <a:cs typeface="Roboto" pitchFamily="34" charset="-120"/>
              </a:rPr>
              <a:t> of each student — leaving critical warning signs undetected until it is too late to intervene effectively.</a:t>
            </a:r>
            <a:endParaRPr lang="en-US" sz="1100" dirty="0"/>
          </a:p>
        </p:txBody>
      </p:sp>
      <p:sp>
        <p:nvSpPr>
          <p:cNvPr id="10" name="Shape 8"/>
          <p:cNvSpPr/>
          <p:nvPr/>
        </p:nvSpPr>
        <p:spPr>
          <a:xfrm>
            <a:off x="6170458" y="2325092"/>
            <a:ext cx="316301" cy="316309"/>
          </a:xfrm>
          <a:prstGeom prst="roundRect">
            <a:avLst>
              <a:gd name="adj" fmla="val 18667"/>
            </a:avLst>
          </a:prstGeom>
          <a:solidFill>
            <a:srgbClr val="E1E1EA"/>
          </a:solidFill>
          <a:ln w="6350">
            <a:solidFill>
              <a:srgbClr val="C7C7D0"/>
            </a:solidFill>
            <a:prstDash val="solid"/>
          </a:ln>
        </p:spPr>
      </p:sp>
      <p:sp>
        <p:nvSpPr>
          <p:cNvPr id="11" name="Text 9"/>
          <p:cNvSpPr/>
          <p:nvPr/>
        </p:nvSpPr>
        <p:spPr>
          <a:xfrm>
            <a:off x="6223192" y="2351484"/>
            <a:ext cx="210835" cy="263525"/>
          </a:xfrm>
          <a:prstGeom prst="rect">
            <a:avLst/>
          </a:prstGeom>
          <a:noFill/>
          <a:ln/>
        </p:spPr>
        <p:txBody>
          <a:bodyPr wrap="none" lIns="0" tIns="0" rIns="0" bIns="0" rtlCol="0" anchor="ctr"/>
          <a:lstStyle/>
          <a:p>
            <a:pPr algn="ctr" indent="0" marL="0">
              <a:lnSpc>
                <a:spcPct val="100000"/>
              </a:lnSpc>
              <a:buNone/>
            </a:pPr>
            <a:r>
              <a:rPr lang="en-US" sz="1650" dirty="0">
                <a:solidFill>
                  <a:srgbClr val="3C3939"/>
                </a:solidFill>
                <a:latin typeface="Raleway" pitchFamily="34" charset="0"/>
                <a:ea typeface="Raleway" pitchFamily="34" charset="-122"/>
                <a:cs typeface="Raleway" pitchFamily="34" charset="-120"/>
              </a:rPr>
              <a:t>2</a:t>
            </a:r>
            <a:endParaRPr lang="en-US" sz="1650" dirty="0"/>
          </a:p>
        </p:txBody>
      </p:sp>
      <p:sp>
        <p:nvSpPr>
          <p:cNvPr id="12" name="Text 10"/>
          <p:cNvSpPr/>
          <p:nvPr/>
        </p:nvSpPr>
        <p:spPr>
          <a:xfrm>
            <a:off x="6606216" y="2373412"/>
            <a:ext cx="4924004" cy="219571"/>
          </a:xfrm>
          <a:prstGeom prst="rect">
            <a:avLst/>
          </a:prstGeom>
          <a:noFill/>
          <a:ln/>
        </p:spPr>
        <p:txBody>
          <a:bodyPr wrap="none" lIns="0" tIns="0" rIns="0" bIns="0" rtlCol="0" anchor="t"/>
          <a:lstStyle/>
          <a:p>
            <a:pPr algn="l" indent="0" marL="0">
              <a:lnSpc>
                <a:spcPct val="104000"/>
              </a:lnSpc>
              <a:buNone/>
            </a:pPr>
            <a:r>
              <a:rPr lang="en-US" sz="1350" dirty="0">
                <a:solidFill>
                  <a:srgbClr val="3C3939"/>
                </a:solidFill>
                <a:latin typeface="Raleway" pitchFamily="34" charset="0"/>
                <a:ea typeface="Raleway" pitchFamily="34" charset="-122"/>
                <a:cs typeface="Raleway" pitchFamily="34" charset="-120"/>
              </a:rPr>
              <a:t>Reactive Rather Than Proactive Intervention</a:t>
            </a:r>
            <a:endParaRPr lang="en-US" sz="1350" dirty="0"/>
          </a:p>
        </p:txBody>
      </p:sp>
      <p:sp>
        <p:nvSpPr>
          <p:cNvPr id="13" name="Text 11"/>
          <p:cNvSpPr/>
          <p:nvPr/>
        </p:nvSpPr>
        <p:spPr>
          <a:xfrm>
            <a:off x="6606216" y="2664619"/>
            <a:ext cx="4924004" cy="832247"/>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3C3939"/>
                </a:solidFill>
                <a:latin typeface="Roboto" pitchFamily="34" charset="0"/>
                <a:ea typeface="Roboto" pitchFamily="34" charset="-122"/>
                <a:cs typeface="Roboto" pitchFamily="34" charset="-120"/>
              </a:rPr>
              <a:t>Academic support is typically triggered only after a student has already experienced significant performance decline. At this stage, the window for meaningful remediation is narrow. A </a:t>
            </a:r>
            <a:pPr algn="l" indent="0" marL="0">
              <a:lnSpc>
                <a:spcPct val="123000"/>
              </a:lnSpc>
              <a:buNone/>
            </a:pPr>
            <a:r>
              <a:rPr lang="en-US" sz="1100" b="1" dirty="0">
                <a:solidFill>
                  <a:srgbClr val="3C3939"/>
                </a:solidFill>
                <a:latin typeface="Roboto Bold" pitchFamily="34" charset="0"/>
                <a:ea typeface="Roboto Bold" pitchFamily="34" charset="-122"/>
                <a:cs typeface="Roboto Bold" pitchFamily="34" charset="-120"/>
              </a:rPr>
              <a:t>predictive system</a:t>
            </a:r>
            <a:pPr algn="l" indent="0" marL="0">
              <a:lnSpc>
                <a:spcPct val="123000"/>
              </a:lnSpc>
              <a:buNone/>
            </a:pPr>
            <a:r>
              <a:rPr lang="en-US" sz="1100" dirty="0">
                <a:solidFill>
                  <a:srgbClr val="3C3939"/>
                </a:solidFill>
                <a:latin typeface="Roboto" pitchFamily="34" charset="0"/>
                <a:ea typeface="Roboto" pitchFamily="34" charset="-122"/>
                <a:cs typeface="Roboto" pitchFamily="34" charset="-120"/>
              </a:rPr>
              <a:t> shifts institutional response from reactive correction to proactive prevention.</a:t>
            </a:r>
            <a:endParaRPr lang="en-US" sz="1100" dirty="0"/>
          </a:p>
        </p:txBody>
      </p:sp>
      <p:sp>
        <p:nvSpPr>
          <p:cNvPr id="14" name="Shape 12"/>
          <p:cNvSpPr/>
          <p:nvPr/>
        </p:nvSpPr>
        <p:spPr>
          <a:xfrm>
            <a:off x="661475" y="3943846"/>
            <a:ext cx="316301" cy="316309"/>
          </a:xfrm>
          <a:prstGeom prst="roundRect">
            <a:avLst>
              <a:gd name="adj" fmla="val 18667"/>
            </a:avLst>
          </a:prstGeom>
          <a:solidFill>
            <a:srgbClr val="E1E1EA"/>
          </a:solidFill>
          <a:ln w="6350">
            <a:solidFill>
              <a:srgbClr val="C7C7D0"/>
            </a:solidFill>
            <a:prstDash val="solid"/>
          </a:ln>
        </p:spPr>
      </p:sp>
      <p:sp>
        <p:nvSpPr>
          <p:cNvPr id="15" name="Text 13"/>
          <p:cNvSpPr/>
          <p:nvPr/>
        </p:nvSpPr>
        <p:spPr>
          <a:xfrm>
            <a:off x="714208" y="3970238"/>
            <a:ext cx="210835" cy="263525"/>
          </a:xfrm>
          <a:prstGeom prst="rect">
            <a:avLst/>
          </a:prstGeom>
          <a:noFill/>
          <a:ln/>
        </p:spPr>
        <p:txBody>
          <a:bodyPr wrap="none" lIns="0" tIns="0" rIns="0" bIns="0" rtlCol="0" anchor="ctr"/>
          <a:lstStyle/>
          <a:p>
            <a:pPr algn="ctr" indent="0" marL="0">
              <a:lnSpc>
                <a:spcPct val="100000"/>
              </a:lnSpc>
              <a:buNone/>
            </a:pPr>
            <a:r>
              <a:rPr lang="en-US" sz="1650" dirty="0">
                <a:solidFill>
                  <a:srgbClr val="3C3939"/>
                </a:solidFill>
                <a:latin typeface="Raleway" pitchFamily="34" charset="0"/>
                <a:ea typeface="Raleway" pitchFamily="34" charset="-122"/>
                <a:cs typeface="Raleway" pitchFamily="34" charset="-120"/>
              </a:rPr>
              <a:t>3</a:t>
            </a:r>
            <a:endParaRPr lang="en-US" sz="1650" dirty="0"/>
          </a:p>
        </p:txBody>
      </p:sp>
      <p:sp>
        <p:nvSpPr>
          <p:cNvPr id="16" name="Text 14"/>
          <p:cNvSpPr/>
          <p:nvPr/>
        </p:nvSpPr>
        <p:spPr>
          <a:xfrm>
            <a:off x="1097233" y="3992166"/>
            <a:ext cx="4923905" cy="219571"/>
          </a:xfrm>
          <a:prstGeom prst="rect">
            <a:avLst/>
          </a:prstGeom>
          <a:noFill/>
          <a:ln/>
        </p:spPr>
        <p:txBody>
          <a:bodyPr wrap="none" lIns="0" tIns="0" rIns="0" bIns="0" rtlCol="0" anchor="t"/>
          <a:lstStyle/>
          <a:p>
            <a:pPr algn="l" indent="0" marL="0">
              <a:lnSpc>
                <a:spcPct val="104000"/>
              </a:lnSpc>
              <a:buNone/>
            </a:pPr>
            <a:r>
              <a:rPr lang="en-US" sz="1350" dirty="0">
                <a:solidFill>
                  <a:srgbClr val="3C3939"/>
                </a:solidFill>
                <a:latin typeface="Raleway" pitchFamily="34" charset="0"/>
                <a:ea typeface="Raleway" pitchFamily="34" charset="-122"/>
                <a:cs typeface="Raleway" pitchFamily="34" charset="-120"/>
              </a:rPr>
              <a:t>Siloed and Underutilized Data</a:t>
            </a:r>
            <a:endParaRPr lang="en-US" sz="1350" dirty="0"/>
          </a:p>
        </p:txBody>
      </p:sp>
      <p:sp>
        <p:nvSpPr>
          <p:cNvPr id="17" name="Text 15"/>
          <p:cNvSpPr/>
          <p:nvPr/>
        </p:nvSpPr>
        <p:spPr>
          <a:xfrm>
            <a:off x="1097233" y="4283373"/>
            <a:ext cx="4923905" cy="832247"/>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3C3939"/>
                </a:solidFill>
                <a:latin typeface="Roboto" pitchFamily="34" charset="0"/>
                <a:ea typeface="Roboto" pitchFamily="34" charset="-122"/>
                <a:cs typeface="Roboto" pitchFamily="34" charset="-120"/>
              </a:rPr>
              <a:t>Attendance registers, internal marks, assignment submissions, participation records, and prior semester results exist in separate systems — rarely cross-referenced or analyzed together. This </a:t>
            </a:r>
            <a:pPr algn="l" indent="0" marL="0">
              <a:lnSpc>
                <a:spcPct val="123000"/>
              </a:lnSpc>
              <a:buNone/>
            </a:pPr>
            <a:r>
              <a:rPr lang="en-US" sz="1100" b="1" dirty="0">
                <a:solidFill>
                  <a:srgbClr val="3C3939"/>
                </a:solidFill>
                <a:latin typeface="Roboto Bold" pitchFamily="34" charset="0"/>
                <a:ea typeface="Roboto Bold" pitchFamily="34" charset="-122"/>
                <a:cs typeface="Roboto Bold" pitchFamily="34" charset="-120"/>
              </a:rPr>
              <a:t>data fragmentation</a:t>
            </a:r>
            <a:pPr algn="l" indent="0" marL="0">
              <a:lnSpc>
                <a:spcPct val="123000"/>
              </a:lnSpc>
              <a:buNone/>
            </a:pPr>
            <a:r>
              <a:rPr lang="en-US" sz="1100" dirty="0">
                <a:solidFill>
                  <a:srgbClr val="3C3939"/>
                </a:solidFill>
                <a:latin typeface="Roboto" pitchFamily="34" charset="0"/>
                <a:ea typeface="Roboto" pitchFamily="34" charset="-122"/>
                <a:cs typeface="Roboto" pitchFamily="34" charset="-120"/>
              </a:rPr>
              <a:t> prevents holistic understanding of what drives student success or failure.</a:t>
            </a:r>
            <a:endParaRPr lang="en-US" sz="1100" dirty="0"/>
          </a:p>
        </p:txBody>
      </p:sp>
      <p:sp>
        <p:nvSpPr>
          <p:cNvPr id="18" name="Shape 16"/>
          <p:cNvSpPr/>
          <p:nvPr/>
        </p:nvSpPr>
        <p:spPr>
          <a:xfrm>
            <a:off x="6170458" y="3943846"/>
            <a:ext cx="316301" cy="316309"/>
          </a:xfrm>
          <a:prstGeom prst="roundRect">
            <a:avLst>
              <a:gd name="adj" fmla="val 18667"/>
            </a:avLst>
          </a:prstGeom>
          <a:solidFill>
            <a:srgbClr val="E1E1EA"/>
          </a:solidFill>
          <a:ln w="6350">
            <a:solidFill>
              <a:srgbClr val="C7C7D0"/>
            </a:solidFill>
            <a:prstDash val="solid"/>
          </a:ln>
        </p:spPr>
      </p:sp>
      <p:sp>
        <p:nvSpPr>
          <p:cNvPr id="19" name="Text 17"/>
          <p:cNvSpPr/>
          <p:nvPr/>
        </p:nvSpPr>
        <p:spPr>
          <a:xfrm>
            <a:off x="6223192" y="3970238"/>
            <a:ext cx="210835" cy="263525"/>
          </a:xfrm>
          <a:prstGeom prst="rect">
            <a:avLst/>
          </a:prstGeom>
          <a:noFill/>
          <a:ln/>
        </p:spPr>
        <p:txBody>
          <a:bodyPr wrap="none" lIns="0" tIns="0" rIns="0" bIns="0" rtlCol="0" anchor="ctr"/>
          <a:lstStyle/>
          <a:p>
            <a:pPr algn="ctr" indent="0" marL="0">
              <a:lnSpc>
                <a:spcPct val="100000"/>
              </a:lnSpc>
              <a:buNone/>
            </a:pPr>
            <a:r>
              <a:rPr lang="en-US" sz="1650" dirty="0">
                <a:solidFill>
                  <a:srgbClr val="3C3939"/>
                </a:solidFill>
                <a:latin typeface="Raleway" pitchFamily="34" charset="0"/>
                <a:ea typeface="Raleway" pitchFamily="34" charset="-122"/>
                <a:cs typeface="Raleway" pitchFamily="34" charset="-120"/>
              </a:rPr>
              <a:t>4</a:t>
            </a:r>
            <a:endParaRPr lang="en-US" sz="1650" dirty="0"/>
          </a:p>
        </p:txBody>
      </p:sp>
      <p:sp>
        <p:nvSpPr>
          <p:cNvPr id="20" name="Text 18"/>
          <p:cNvSpPr/>
          <p:nvPr/>
        </p:nvSpPr>
        <p:spPr>
          <a:xfrm>
            <a:off x="6606216" y="3992166"/>
            <a:ext cx="4924004" cy="219571"/>
          </a:xfrm>
          <a:prstGeom prst="rect">
            <a:avLst/>
          </a:prstGeom>
          <a:noFill/>
          <a:ln/>
        </p:spPr>
        <p:txBody>
          <a:bodyPr wrap="none" lIns="0" tIns="0" rIns="0" bIns="0" rtlCol="0" anchor="t"/>
          <a:lstStyle/>
          <a:p>
            <a:pPr algn="l" indent="0" marL="0">
              <a:lnSpc>
                <a:spcPct val="104000"/>
              </a:lnSpc>
              <a:buNone/>
            </a:pPr>
            <a:r>
              <a:rPr lang="en-US" sz="1350" dirty="0">
                <a:solidFill>
                  <a:srgbClr val="3C3939"/>
                </a:solidFill>
                <a:latin typeface="Raleway" pitchFamily="34" charset="0"/>
                <a:ea typeface="Raleway" pitchFamily="34" charset="-122"/>
                <a:cs typeface="Raleway" pitchFamily="34" charset="-120"/>
              </a:rPr>
              <a:t>Lack of Integrated Faculty Tools</a:t>
            </a:r>
            <a:endParaRPr lang="en-US" sz="1350" dirty="0"/>
          </a:p>
        </p:txBody>
      </p:sp>
      <p:sp>
        <p:nvSpPr>
          <p:cNvPr id="21" name="Text 19"/>
          <p:cNvSpPr/>
          <p:nvPr/>
        </p:nvSpPr>
        <p:spPr>
          <a:xfrm>
            <a:off x="6606216" y="4283373"/>
            <a:ext cx="4924004" cy="832247"/>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3C3939"/>
                </a:solidFill>
                <a:latin typeface="Roboto" pitchFamily="34" charset="0"/>
                <a:ea typeface="Roboto" pitchFamily="34" charset="-122"/>
                <a:cs typeface="Roboto" pitchFamily="34" charset="-120"/>
              </a:rPr>
              <a:t>Educators currently lack integrated analytical tools that correlate multiple performance dimensions. Without such tools, identifying at-risk students before terminal assessments depends on intuition rather than </a:t>
            </a:r>
            <a:pPr algn="l" indent="0" marL="0">
              <a:lnSpc>
                <a:spcPct val="123000"/>
              </a:lnSpc>
              <a:buNone/>
            </a:pPr>
            <a:r>
              <a:rPr lang="en-US" sz="1100" b="1" dirty="0">
                <a:solidFill>
                  <a:srgbClr val="3C3939"/>
                </a:solidFill>
                <a:latin typeface="Roboto Bold" pitchFamily="34" charset="0"/>
                <a:ea typeface="Roboto Bold" pitchFamily="34" charset="-122"/>
                <a:cs typeface="Roboto Bold" pitchFamily="34" charset="-120"/>
              </a:rPr>
              <a:t>evidence-based signals</a:t>
            </a:r>
            <a:pPr algn="l" indent="0" marL="0">
              <a:lnSpc>
                <a:spcPct val="123000"/>
              </a:lnSpc>
              <a:buNone/>
            </a:pPr>
            <a:r>
              <a:rPr lang="en-US" sz="1100" dirty="0">
                <a:solidFill>
                  <a:srgbClr val="3C3939"/>
                </a:solidFill>
                <a:latin typeface="Roboto" pitchFamily="34" charset="0"/>
                <a:ea typeface="Roboto" pitchFamily="34" charset="-122"/>
                <a:cs typeface="Roboto" pitchFamily="34" charset="-120"/>
              </a:rPr>
              <a:t> — introducing both delay and subjectivity into the support process.</a:t>
            </a:r>
            <a:endParaRPr lang="en-US" sz="1100" dirty="0"/>
          </a:p>
        </p:txBody>
      </p:sp>
      <p:sp>
        <p:nvSpPr>
          <p:cNvPr id="22" name="Shape 20"/>
          <p:cNvSpPr/>
          <p:nvPr/>
        </p:nvSpPr>
        <p:spPr>
          <a:xfrm>
            <a:off x="661475" y="5249962"/>
            <a:ext cx="10868745" cy="713284"/>
          </a:xfrm>
          <a:prstGeom prst="roundRect">
            <a:avLst>
              <a:gd name="adj" fmla="val 8278"/>
            </a:avLst>
          </a:prstGeom>
          <a:solidFill>
            <a:srgbClr val="E1E1EA"/>
          </a:solidFill>
          <a:ln/>
        </p:spPr>
      </p:sp>
      <p:pic>
        <p:nvPicPr>
          <p:cNvPr id="23" name="Image 0" descr="preencoded.png">    </p:cNvPr>
          <p:cNvPicPr>
            <a:picLocks noChangeAspect="1"/>
          </p:cNvPicPr>
          <p:nvPr/>
        </p:nvPicPr>
        <p:blipFill>
          <a:blip r:embed="rId1"/>
          <a:stretch>
            <a:fillRect/>
          </a:stretch>
        </p:blipFill>
        <p:spPr>
          <a:xfrm>
            <a:off x="801965" y="5421312"/>
            <a:ext cx="175712" cy="140494"/>
          </a:xfrm>
          <a:prstGeom prst="rect">
            <a:avLst/>
          </a:prstGeom>
        </p:spPr>
      </p:pic>
      <p:sp>
        <p:nvSpPr>
          <p:cNvPr id="24" name="Text 21"/>
          <p:cNvSpPr/>
          <p:nvPr/>
        </p:nvSpPr>
        <p:spPr>
          <a:xfrm>
            <a:off x="1118167" y="5404545"/>
            <a:ext cx="10271563" cy="416123"/>
          </a:xfrm>
          <a:prstGeom prst="rect">
            <a:avLst/>
          </a:prstGeom>
          <a:noFill/>
          <a:ln/>
        </p:spPr>
        <p:txBody>
          <a:bodyPr wrap="square" lIns="0" tIns="0" rIns="0" bIns="0" rtlCol="0" anchor="t">
            <a:normAutofit/>
          </a:bodyPr>
          <a:lstStyle/>
          <a:p>
            <a:pPr algn="l" indent="0" marL="0">
              <a:lnSpc>
                <a:spcPct val="123000"/>
              </a:lnSpc>
              <a:buNone/>
            </a:pPr>
            <a:r>
              <a:rPr lang="en-US" sz="1100" b="1" dirty="0">
                <a:solidFill>
                  <a:srgbClr val="000000"/>
                </a:solidFill>
                <a:latin typeface="Roboto Bold" pitchFamily="34" charset="0"/>
                <a:ea typeface="Roboto Bold" pitchFamily="34" charset="-122"/>
                <a:cs typeface="Roboto Bold" pitchFamily="34" charset="-120"/>
              </a:rPr>
              <a:t>Core Motivation:</a:t>
            </a:r>
            <a:pPr algn="l" indent="0" marL="0">
              <a:lnSpc>
                <a:spcPct val="123000"/>
              </a:lnSpc>
              <a:buNone/>
            </a:pPr>
            <a:r>
              <a:rPr lang="en-US" sz="1100" dirty="0">
                <a:solidFill>
                  <a:srgbClr val="000000"/>
                </a:solidFill>
                <a:latin typeface="Roboto" pitchFamily="34" charset="0"/>
                <a:ea typeface="Roboto" pitchFamily="34" charset="-122"/>
                <a:cs typeface="Roboto" pitchFamily="34" charset="-120"/>
              </a:rPr>
              <a:t> Develop an automated, regression-powered system that analyzes multi-dimensional academic data continuously — enabling timely, targeted, and data-backed interventions for every student.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61475" y="822127"/>
            <a:ext cx="579919" cy="163413"/>
          </a:xfrm>
          <a:prstGeom prst="roundRect">
            <a:avLst>
              <a:gd name="adj" fmla="val 22104"/>
            </a:avLst>
          </a:prstGeom>
          <a:solidFill>
            <a:srgbClr val="E1E1EA"/>
          </a:solidFill>
          <a:ln/>
        </p:spPr>
      </p:sp>
      <p:sp>
        <p:nvSpPr>
          <p:cNvPr id="3" name="Text 1"/>
          <p:cNvSpPr/>
          <p:nvPr/>
        </p:nvSpPr>
        <p:spPr>
          <a:xfrm>
            <a:off x="725965" y="854373"/>
            <a:ext cx="1060523" cy="98921"/>
          </a:xfrm>
          <a:prstGeom prst="rect">
            <a:avLst/>
          </a:prstGeom>
          <a:noFill/>
          <a:ln/>
        </p:spPr>
        <p:txBody>
          <a:bodyPr wrap="none" lIns="0" tIns="0" rIns="0" bIns="0" rtlCol="0" anchor="t"/>
          <a:lstStyle/>
          <a:p>
            <a:pPr algn="l" indent="0" marL="0">
              <a:lnSpc>
                <a:spcPct val="96000"/>
              </a:lnSpc>
              <a:buNone/>
            </a:pPr>
            <a:r>
              <a:rPr lang="en-US" sz="650" dirty="0">
                <a:solidFill>
                  <a:srgbClr val="3C3939"/>
                </a:solidFill>
                <a:latin typeface="Roboto" pitchFamily="34" charset="0"/>
                <a:ea typeface="Roboto" pitchFamily="34" charset="-122"/>
                <a:cs typeface="Roboto" pitchFamily="34" charset="-120"/>
              </a:rPr>
              <a:t>CHAPTER 3</a:t>
            </a:r>
            <a:endParaRPr lang="en-US" sz="650" dirty="0"/>
          </a:p>
        </p:txBody>
      </p:sp>
      <p:sp>
        <p:nvSpPr>
          <p:cNvPr id="4" name="Text 2"/>
          <p:cNvSpPr/>
          <p:nvPr/>
        </p:nvSpPr>
        <p:spPr>
          <a:xfrm>
            <a:off x="661475" y="1013420"/>
            <a:ext cx="10868745" cy="335955"/>
          </a:xfrm>
          <a:prstGeom prst="rect">
            <a:avLst/>
          </a:prstGeom>
          <a:noFill/>
          <a:ln/>
        </p:spPr>
        <p:txBody>
          <a:bodyPr wrap="none" lIns="0" tIns="0" rIns="0" bIns="0" rtlCol="0" anchor="t"/>
          <a:lstStyle/>
          <a:p>
            <a:pPr algn="l" indent="0" marL="0">
              <a:lnSpc>
                <a:spcPct val="104000"/>
              </a:lnSpc>
              <a:buNone/>
            </a:pPr>
            <a:r>
              <a:rPr lang="en-US" sz="2100" dirty="0">
                <a:solidFill>
                  <a:srgbClr val="1B1B27"/>
                </a:solidFill>
                <a:latin typeface="Raleway" pitchFamily="34" charset="0"/>
                <a:ea typeface="Raleway" pitchFamily="34" charset="-122"/>
                <a:cs typeface="Raleway" pitchFamily="34" charset="-120"/>
              </a:rPr>
              <a:t>Objectives &amp; Proposed System</a:t>
            </a:r>
            <a:endParaRPr lang="en-US" sz="2100" dirty="0"/>
          </a:p>
        </p:txBody>
      </p:sp>
      <p:sp>
        <p:nvSpPr>
          <p:cNvPr id="5" name="Text 3"/>
          <p:cNvSpPr/>
          <p:nvPr/>
        </p:nvSpPr>
        <p:spPr>
          <a:xfrm>
            <a:off x="661475" y="1454150"/>
            <a:ext cx="10868745" cy="283766"/>
          </a:xfrm>
          <a:prstGeom prst="rect">
            <a:avLst/>
          </a:prstGeom>
          <a:noFill/>
          <a:ln/>
        </p:spPr>
        <p:txBody>
          <a:bodyPr wrap="square" lIns="0" tIns="0" rIns="0" bIns="0" rtlCol="0" anchor="t">
            <a:normAutofit/>
          </a:bodyPr>
          <a:lstStyle/>
          <a:p>
            <a:pPr algn="l" indent="0" marL="0">
              <a:lnSpc>
                <a:spcPct val="110000"/>
              </a:lnSpc>
              <a:buNone/>
            </a:pPr>
            <a:r>
              <a:rPr lang="en-US" sz="800" dirty="0">
                <a:solidFill>
                  <a:srgbClr val="3C3939"/>
                </a:solidFill>
                <a:latin typeface="Roboto" pitchFamily="34" charset="0"/>
                <a:ea typeface="Roboto" pitchFamily="34" charset="-122"/>
                <a:cs typeface="Roboto" pitchFamily="34" charset="-120"/>
              </a:rPr>
              <a:t>The proposed system is designed around a central objective: to build a regression-based predictive engine that integrates diverse academic data sources and delivers actionable intelligence for students, faculty, and administrators alike.</a:t>
            </a:r>
            <a:endParaRPr lang="en-US" sz="8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816497"/>
            <a:ext cx="10868745" cy="645021"/>
          </a:xfrm>
          <a:prstGeom prst="rect">
            <a:avLst/>
          </a:prstGeom>
        </p:spPr>
      </p:pic>
      <p:sp>
        <p:nvSpPr>
          <p:cNvPr id="7" name="Text 4"/>
          <p:cNvSpPr/>
          <p:nvPr/>
        </p:nvSpPr>
        <p:spPr>
          <a:xfrm>
            <a:off x="805338" y="2038251"/>
            <a:ext cx="161226" cy="201513"/>
          </a:xfrm>
          <a:prstGeom prst="rect">
            <a:avLst/>
          </a:prstGeom>
          <a:noFill/>
          <a:ln/>
        </p:spPr>
        <p:txBody>
          <a:bodyPr wrap="none" lIns="0" tIns="0" rIns="0" bIns="0" rtlCol="0" anchor="ctr"/>
          <a:lstStyle/>
          <a:p>
            <a:pPr algn="ctr" indent="0" marL="0">
              <a:lnSpc>
                <a:spcPct val="100000"/>
              </a:lnSpc>
              <a:buNone/>
            </a:pPr>
            <a:r>
              <a:rPr lang="en-US" sz="1250" dirty="0">
                <a:solidFill>
                  <a:srgbClr val="3C3939"/>
                </a:solidFill>
                <a:latin typeface="Raleway" pitchFamily="34" charset="0"/>
                <a:ea typeface="Raleway" pitchFamily="34" charset="-122"/>
                <a:cs typeface="Raleway" pitchFamily="34" charset="-120"/>
              </a:rPr>
              <a:t>1</a:t>
            </a:r>
            <a:endParaRPr lang="en-US" sz="1250" dirty="0"/>
          </a:p>
        </p:txBody>
      </p:sp>
      <p:sp>
        <p:nvSpPr>
          <p:cNvPr id="8" name="Text 5"/>
          <p:cNvSpPr/>
          <p:nvPr/>
        </p:nvSpPr>
        <p:spPr>
          <a:xfrm>
            <a:off x="1174026" y="1936651"/>
            <a:ext cx="10236043" cy="167878"/>
          </a:xfrm>
          <a:prstGeom prst="rect">
            <a:avLst/>
          </a:prstGeom>
          <a:noFill/>
          <a:ln/>
        </p:spPr>
        <p:txBody>
          <a:bodyPr wrap="none" lIns="0" tIns="0" rIns="0" bIns="0" rtlCol="0" anchor="t"/>
          <a:lstStyle/>
          <a:p>
            <a:pPr algn="l" indent="0" marL="0">
              <a:lnSpc>
                <a:spcPct val="104000"/>
              </a:lnSpc>
              <a:buNone/>
            </a:pPr>
            <a:r>
              <a:rPr lang="en-US" sz="1050" dirty="0">
                <a:solidFill>
                  <a:srgbClr val="3C3939"/>
                </a:solidFill>
                <a:latin typeface="Raleway" pitchFamily="34" charset="0"/>
                <a:ea typeface="Raleway" pitchFamily="34" charset="-122"/>
                <a:cs typeface="Raleway" pitchFamily="34" charset="-120"/>
              </a:rPr>
              <a:t>Data Integration</a:t>
            </a:r>
            <a:endParaRPr lang="en-US" sz="1050" dirty="0"/>
          </a:p>
        </p:txBody>
      </p:sp>
      <p:sp>
        <p:nvSpPr>
          <p:cNvPr id="9" name="Text 6"/>
          <p:cNvSpPr/>
          <p:nvPr/>
        </p:nvSpPr>
        <p:spPr>
          <a:xfrm>
            <a:off x="1174026" y="2146399"/>
            <a:ext cx="10236043" cy="141883"/>
          </a:xfrm>
          <a:prstGeom prst="rect">
            <a:avLst/>
          </a:prstGeom>
          <a:noFill/>
          <a:ln/>
        </p:spPr>
        <p:txBody>
          <a:bodyPr wrap="none" lIns="0" tIns="0" rIns="0" bIns="0" rtlCol="0" anchor="t"/>
          <a:lstStyle/>
          <a:p>
            <a:pPr algn="l" indent="0" marL="0">
              <a:lnSpc>
                <a:spcPct val="110000"/>
              </a:lnSpc>
              <a:buNone/>
            </a:pPr>
            <a:r>
              <a:rPr lang="en-US" sz="800" dirty="0">
                <a:solidFill>
                  <a:srgbClr val="3C3939"/>
                </a:solidFill>
                <a:latin typeface="Roboto" pitchFamily="34" charset="0"/>
                <a:ea typeface="Roboto" pitchFamily="34" charset="-122"/>
                <a:cs typeface="Roboto" pitchFamily="34" charset="-120"/>
              </a:rPr>
              <a:t>Collect and unify diverse academic data sources — including attendance records, internal assessment scores, assignment submissions, and classroom participation — into a single, coherent dataset for analysis.</a:t>
            </a:r>
            <a:endParaRPr lang="en-US" sz="800" dirty="0"/>
          </a:p>
        </p:txBody>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475" y="2531368"/>
            <a:ext cx="10868745" cy="645021"/>
          </a:xfrm>
          <a:prstGeom prst="rect">
            <a:avLst/>
          </a:prstGeom>
        </p:spPr>
      </p:pic>
      <p:sp>
        <p:nvSpPr>
          <p:cNvPr id="11" name="Text 7"/>
          <p:cNvSpPr/>
          <p:nvPr/>
        </p:nvSpPr>
        <p:spPr>
          <a:xfrm>
            <a:off x="805338" y="2753122"/>
            <a:ext cx="161226" cy="201513"/>
          </a:xfrm>
          <a:prstGeom prst="rect">
            <a:avLst/>
          </a:prstGeom>
          <a:noFill/>
          <a:ln/>
        </p:spPr>
        <p:txBody>
          <a:bodyPr wrap="none" lIns="0" tIns="0" rIns="0" bIns="0" rtlCol="0" anchor="ctr"/>
          <a:lstStyle/>
          <a:p>
            <a:pPr algn="ctr" indent="0" marL="0">
              <a:lnSpc>
                <a:spcPct val="100000"/>
              </a:lnSpc>
              <a:buNone/>
            </a:pPr>
            <a:r>
              <a:rPr lang="en-US" sz="1250" dirty="0">
                <a:solidFill>
                  <a:srgbClr val="3C3939"/>
                </a:solidFill>
                <a:latin typeface="Raleway" pitchFamily="34" charset="0"/>
                <a:ea typeface="Raleway" pitchFamily="34" charset="-122"/>
                <a:cs typeface="Raleway" pitchFamily="34" charset="-120"/>
              </a:rPr>
              <a:t>2</a:t>
            </a:r>
            <a:endParaRPr lang="en-US" sz="1250" dirty="0"/>
          </a:p>
        </p:txBody>
      </p:sp>
      <p:sp>
        <p:nvSpPr>
          <p:cNvPr id="12" name="Text 8"/>
          <p:cNvSpPr/>
          <p:nvPr/>
        </p:nvSpPr>
        <p:spPr>
          <a:xfrm>
            <a:off x="1174026" y="2651522"/>
            <a:ext cx="10236043" cy="167878"/>
          </a:xfrm>
          <a:prstGeom prst="rect">
            <a:avLst/>
          </a:prstGeom>
          <a:noFill/>
          <a:ln/>
        </p:spPr>
        <p:txBody>
          <a:bodyPr wrap="none" lIns="0" tIns="0" rIns="0" bIns="0" rtlCol="0" anchor="t"/>
          <a:lstStyle/>
          <a:p>
            <a:pPr algn="l" indent="0" marL="0">
              <a:lnSpc>
                <a:spcPct val="104000"/>
              </a:lnSpc>
              <a:buNone/>
            </a:pPr>
            <a:r>
              <a:rPr lang="en-US" sz="1050" dirty="0">
                <a:solidFill>
                  <a:srgbClr val="3C3939"/>
                </a:solidFill>
                <a:latin typeface="Raleway" pitchFamily="34" charset="0"/>
                <a:ea typeface="Raleway" pitchFamily="34" charset="-122"/>
                <a:cs typeface="Raleway" pitchFamily="34" charset="-120"/>
              </a:rPr>
              <a:t>Preprocessing Pipeline</a:t>
            </a:r>
            <a:endParaRPr lang="en-US" sz="1050" dirty="0"/>
          </a:p>
        </p:txBody>
      </p:sp>
      <p:sp>
        <p:nvSpPr>
          <p:cNvPr id="13" name="Text 9"/>
          <p:cNvSpPr/>
          <p:nvPr/>
        </p:nvSpPr>
        <p:spPr>
          <a:xfrm>
            <a:off x="1174026" y="2861270"/>
            <a:ext cx="10236043" cy="141883"/>
          </a:xfrm>
          <a:prstGeom prst="rect">
            <a:avLst/>
          </a:prstGeom>
          <a:noFill/>
          <a:ln/>
        </p:spPr>
        <p:txBody>
          <a:bodyPr wrap="none" lIns="0" tIns="0" rIns="0" bIns="0" rtlCol="0" anchor="t"/>
          <a:lstStyle/>
          <a:p>
            <a:pPr algn="l" indent="0" marL="0">
              <a:lnSpc>
                <a:spcPct val="110000"/>
              </a:lnSpc>
              <a:buNone/>
            </a:pPr>
            <a:r>
              <a:rPr lang="en-US" sz="800" dirty="0">
                <a:solidFill>
                  <a:srgbClr val="3C3939"/>
                </a:solidFill>
                <a:latin typeface="Roboto" pitchFamily="34" charset="0"/>
                <a:ea typeface="Roboto" pitchFamily="34" charset="-122"/>
                <a:cs typeface="Roboto" pitchFamily="34" charset="-120"/>
              </a:rPr>
              <a:t>Clean, normalize, and engineer features from raw academic data to prepare it for reliable regression modeling. Handle missing values, outliers, and ensure all variables are on comparable scales.</a:t>
            </a:r>
            <a:endParaRPr lang="en-US" sz="800" dirty="0"/>
          </a:p>
        </p:txBody>
      </p:sp>
      <p:pic>
        <p:nvPicPr>
          <p:cNvPr id="1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246239"/>
            <a:ext cx="10868745" cy="645021"/>
          </a:xfrm>
          <a:prstGeom prst="rect">
            <a:avLst/>
          </a:prstGeom>
        </p:spPr>
      </p:pic>
      <p:sp>
        <p:nvSpPr>
          <p:cNvPr id="15" name="Text 10"/>
          <p:cNvSpPr/>
          <p:nvPr/>
        </p:nvSpPr>
        <p:spPr>
          <a:xfrm>
            <a:off x="805338" y="3467993"/>
            <a:ext cx="161226" cy="201513"/>
          </a:xfrm>
          <a:prstGeom prst="rect">
            <a:avLst/>
          </a:prstGeom>
          <a:noFill/>
          <a:ln/>
        </p:spPr>
        <p:txBody>
          <a:bodyPr wrap="none" lIns="0" tIns="0" rIns="0" bIns="0" rtlCol="0" anchor="ctr"/>
          <a:lstStyle/>
          <a:p>
            <a:pPr algn="ctr" indent="0" marL="0">
              <a:lnSpc>
                <a:spcPct val="100000"/>
              </a:lnSpc>
              <a:buNone/>
            </a:pPr>
            <a:r>
              <a:rPr lang="en-US" sz="1250" dirty="0">
                <a:solidFill>
                  <a:srgbClr val="3C3939"/>
                </a:solidFill>
                <a:latin typeface="Raleway" pitchFamily="34" charset="0"/>
                <a:ea typeface="Raleway" pitchFamily="34" charset="-122"/>
                <a:cs typeface="Raleway" pitchFamily="34" charset="-120"/>
              </a:rPr>
              <a:t>3</a:t>
            </a:r>
            <a:endParaRPr lang="en-US" sz="1250" dirty="0"/>
          </a:p>
        </p:txBody>
      </p:sp>
      <p:sp>
        <p:nvSpPr>
          <p:cNvPr id="16" name="Text 11"/>
          <p:cNvSpPr/>
          <p:nvPr/>
        </p:nvSpPr>
        <p:spPr>
          <a:xfrm>
            <a:off x="1174026" y="3366393"/>
            <a:ext cx="10236043" cy="167878"/>
          </a:xfrm>
          <a:prstGeom prst="rect">
            <a:avLst/>
          </a:prstGeom>
          <a:noFill/>
          <a:ln/>
        </p:spPr>
        <p:txBody>
          <a:bodyPr wrap="none" lIns="0" tIns="0" rIns="0" bIns="0" rtlCol="0" anchor="t"/>
          <a:lstStyle/>
          <a:p>
            <a:pPr algn="l" indent="0" marL="0">
              <a:lnSpc>
                <a:spcPct val="104000"/>
              </a:lnSpc>
              <a:buNone/>
            </a:pPr>
            <a:r>
              <a:rPr lang="en-US" sz="1050" dirty="0">
                <a:solidFill>
                  <a:srgbClr val="3C3939"/>
                </a:solidFill>
                <a:latin typeface="Raleway" pitchFamily="34" charset="0"/>
                <a:ea typeface="Raleway" pitchFamily="34" charset="-122"/>
                <a:cs typeface="Raleway" pitchFamily="34" charset="-120"/>
              </a:rPr>
              <a:t>Regression Model Development</a:t>
            </a:r>
            <a:endParaRPr lang="en-US" sz="1050" dirty="0"/>
          </a:p>
        </p:txBody>
      </p:sp>
      <p:sp>
        <p:nvSpPr>
          <p:cNvPr id="17" name="Text 12"/>
          <p:cNvSpPr/>
          <p:nvPr/>
        </p:nvSpPr>
        <p:spPr>
          <a:xfrm>
            <a:off x="1174026" y="3576141"/>
            <a:ext cx="10236043" cy="141883"/>
          </a:xfrm>
          <a:prstGeom prst="rect">
            <a:avLst/>
          </a:prstGeom>
          <a:noFill/>
          <a:ln/>
        </p:spPr>
        <p:txBody>
          <a:bodyPr wrap="none" lIns="0" tIns="0" rIns="0" bIns="0" rtlCol="0" anchor="t"/>
          <a:lstStyle/>
          <a:p>
            <a:pPr algn="l" indent="0" marL="0">
              <a:lnSpc>
                <a:spcPct val="110000"/>
              </a:lnSpc>
              <a:buNone/>
            </a:pPr>
            <a:r>
              <a:rPr lang="en-US" sz="800" dirty="0">
                <a:solidFill>
                  <a:srgbClr val="3C3939"/>
                </a:solidFill>
                <a:latin typeface="Roboto" pitchFamily="34" charset="0"/>
                <a:ea typeface="Roboto" pitchFamily="34" charset="-122"/>
                <a:cs typeface="Roboto" pitchFamily="34" charset="-120"/>
              </a:rPr>
              <a:t>Develop and train multi-variable regression models to quantify the relationship between academic factors and final performance outcomes, identifying the relative influence of each independent variable.</a:t>
            </a:r>
            <a:endParaRPr lang="en-US" sz="800" dirty="0"/>
          </a:p>
        </p:txBody>
      </p:sp>
      <p:pic>
        <p:nvPicPr>
          <p:cNvPr id="18"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3961110"/>
            <a:ext cx="10868745" cy="645021"/>
          </a:xfrm>
          <a:prstGeom prst="rect">
            <a:avLst/>
          </a:prstGeom>
        </p:spPr>
      </p:pic>
      <p:sp>
        <p:nvSpPr>
          <p:cNvPr id="19" name="Text 13"/>
          <p:cNvSpPr/>
          <p:nvPr/>
        </p:nvSpPr>
        <p:spPr>
          <a:xfrm>
            <a:off x="805338" y="4182864"/>
            <a:ext cx="161226" cy="201513"/>
          </a:xfrm>
          <a:prstGeom prst="rect">
            <a:avLst/>
          </a:prstGeom>
          <a:noFill/>
          <a:ln/>
        </p:spPr>
        <p:txBody>
          <a:bodyPr wrap="none" lIns="0" tIns="0" rIns="0" bIns="0" rtlCol="0" anchor="ctr"/>
          <a:lstStyle/>
          <a:p>
            <a:pPr algn="ctr" indent="0" marL="0">
              <a:lnSpc>
                <a:spcPct val="100000"/>
              </a:lnSpc>
              <a:buNone/>
            </a:pPr>
            <a:r>
              <a:rPr lang="en-US" sz="1250" dirty="0">
                <a:solidFill>
                  <a:srgbClr val="3C3939"/>
                </a:solidFill>
                <a:latin typeface="Raleway" pitchFamily="34" charset="0"/>
                <a:ea typeface="Raleway" pitchFamily="34" charset="-122"/>
                <a:cs typeface="Raleway" pitchFamily="34" charset="-120"/>
              </a:rPr>
              <a:t>4</a:t>
            </a:r>
            <a:endParaRPr lang="en-US" sz="1250" dirty="0"/>
          </a:p>
        </p:txBody>
      </p:sp>
      <p:sp>
        <p:nvSpPr>
          <p:cNvPr id="20" name="Text 14"/>
          <p:cNvSpPr/>
          <p:nvPr/>
        </p:nvSpPr>
        <p:spPr>
          <a:xfrm>
            <a:off x="1174026" y="4081264"/>
            <a:ext cx="10236043" cy="167878"/>
          </a:xfrm>
          <a:prstGeom prst="rect">
            <a:avLst/>
          </a:prstGeom>
          <a:noFill/>
          <a:ln/>
        </p:spPr>
        <p:txBody>
          <a:bodyPr wrap="none" lIns="0" tIns="0" rIns="0" bIns="0" rtlCol="0" anchor="t"/>
          <a:lstStyle/>
          <a:p>
            <a:pPr algn="l" indent="0" marL="0">
              <a:lnSpc>
                <a:spcPct val="104000"/>
              </a:lnSpc>
              <a:buNone/>
            </a:pPr>
            <a:r>
              <a:rPr lang="en-US" sz="1050" dirty="0">
                <a:solidFill>
                  <a:srgbClr val="3C3939"/>
                </a:solidFill>
                <a:latin typeface="Raleway" pitchFamily="34" charset="0"/>
                <a:ea typeface="Raleway" pitchFamily="34" charset="-122"/>
                <a:cs typeface="Raleway" pitchFamily="34" charset="-120"/>
              </a:rPr>
              <a:t>At-Risk Student Detection</a:t>
            </a:r>
            <a:endParaRPr lang="en-US" sz="1050" dirty="0"/>
          </a:p>
        </p:txBody>
      </p:sp>
      <p:sp>
        <p:nvSpPr>
          <p:cNvPr id="21" name="Text 15"/>
          <p:cNvSpPr/>
          <p:nvPr/>
        </p:nvSpPr>
        <p:spPr>
          <a:xfrm>
            <a:off x="1174026" y="4291013"/>
            <a:ext cx="10236043" cy="141883"/>
          </a:xfrm>
          <a:prstGeom prst="rect">
            <a:avLst/>
          </a:prstGeom>
          <a:noFill/>
          <a:ln/>
        </p:spPr>
        <p:txBody>
          <a:bodyPr wrap="none" lIns="0" tIns="0" rIns="0" bIns="0" rtlCol="0" anchor="t"/>
          <a:lstStyle/>
          <a:p>
            <a:pPr algn="l" indent="0" marL="0">
              <a:lnSpc>
                <a:spcPct val="110000"/>
              </a:lnSpc>
              <a:buNone/>
            </a:pPr>
            <a:r>
              <a:rPr lang="en-US" sz="800" dirty="0">
                <a:solidFill>
                  <a:srgbClr val="3C3939"/>
                </a:solidFill>
                <a:latin typeface="Roboto" pitchFamily="34" charset="0"/>
                <a:ea typeface="Roboto" pitchFamily="34" charset="-122"/>
                <a:cs typeface="Roboto" pitchFamily="34" charset="-120"/>
              </a:rPr>
              <a:t>Use model predictions to automatically flag students whose projected final performance falls below defined institutional thresholds — enabling timely academic counseling and support.</a:t>
            </a:r>
            <a:endParaRPr lang="en-US" sz="800" dirty="0"/>
          </a:p>
        </p:txBody>
      </p:sp>
      <p:pic>
        <p:nvPicPr>
          <p:cNvPr id="22"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1475" y="4675981"/>
            <a:ext cx="10868745" cy="645021"/>
          </a:xfrm>
          <a:prstGeom prst="rect">
            <a:avLst/>
          </a:prstGeom>
        </p:spPr>
      </p:pic>
      <p:sp>
        <p:nvSpPr>
          <p:cNvPr id="23" name="Text 16"/>
          <p:cNvSpPr/>
          <p:nvPr/>
        </p:nvSpPr>
        <p:spPr>
          <a:xfrm>
            <a:off x="805338" y="4897735"/>
            <a:ext cx="161226" cy="201513"/>
          </a:xfrm>
          <a:prstGeom prst="rect">
            <a:avLst/>
          </a:prstGeom>
          <a:noFill/>
          <a:ln/>
        </p:spPr>
        <p:txBody>
          <a:bodyPr wrap="none" lIns="0" tIns="0" rIns="0" bIns="0" rtlCol="0" anchor="ctr"/>
          <a:lstStyle/>
          <a:p>
            <a:pPr algn="ctr" indent="0" marL="0">
              <a:lnSpc>
                <a:spcPct val="100000"/>
              </a:lnSpc>
              <a:buNone/>
            </a:pPr>
            <a:r>
              <a:rPr lang="en-US" sz="1250" dirty="0">
                <a:solidFill>
                  <a:srgbClr val="3C3939"/>
                </a:solidFill>
                <a:latin typeface="Raleway" pitchFamily="34" charset="0"/>
                <a:ea typeface="Raleway" pitchFamily="34" charset="-122"/>
                <a:cs typeface="Raleway" pitchFamily="34" charset="-120"/>
              </a:rPr>
              <a:t>5</a:t>
            </a:r>
            <a:endParaRPr lang="en-US" sz="1250" dirty="0"/>
          </a:p>
        </p:txBody>
      </p:sp>
      <p:sp>
        <p:nvSpPr>
          <p:cNvPr id="24" name="Text 17"/>
          <p:cNvSpPr/>
          <p:nvPr/>
        </p:nvSpPr>
        <p:spPr>
          <a:xfrm>
            <a:off x="1174026" y="4796135"/>
            <a:ext cx="10236043" cy="167878"/>
          </a:xfrm>
          <a:prstGeom prst="rect">
            <a:avLst/>
          </a:prstGeom>
          <a:noFill/>
          <a:ln/>
        </p:spPr>
        <p:txBody>
          <a:bodyPr wrap="none" lIns="0" tIns="0" rIns="0" bIns="0" rtlCol="0" anchor="t"/>
          <a:lstStyle/>
          <a:p>
            <a:pPr algn="l" indent="0" marL="0">
              <a:lnSpc>
                <a:spcPct val="104000"/>
              </a:lnSpc>
              <a:buNone/>
            </a:pPr>
            <a:r>
              <a:rPr lang="en-US" sz="1050" dirty="0">
                <a:solidFill>
                  <a:srgbClr val="3C3939"/>
                </a:solidFill>
                <a:latin typeface="Raleway" pitchFamily="34" charset="0"/>
                <a:ea typeface="Raleway" pitchFamily="34" charset="-122"/>
                <a:cs typeface="Raleway" pitchFamily="34" charset="-120"/>
              </a:rPr>
              <a:t>Interactive Dashboards</a:t>
            </a:r>
            <a:endParaRPr lang="en-US" sz="1050" dirty="0"/>
          </a:p>
        </p:txBody>
      </p:sp>
      <p:sp>
        <p:nvSpPr>
          <p:cNvPr id="25" name="Text 18"/>
          <p:cNvSpPr/>
          <p:nvPr/>
        </p:nvSpPr>
        <p:spPr>
          <a:xfrm>
            <a:off x="1174026" y="5005884"/>
            <a:ext cx="10236043" cy="141883"/>
          </a:xfrm>
          <a:prstGeom prst="rect">
            <a:avLst/>
          </a:prstGeom>
          <a:noFill/>
          <a:ln/>
        </p:spPr>
        <p:txBody>
          <a:bodyPr wrap="none" lIns="0" tIns="0" rIns="0" bIns="0" rtlCol="0" anchor="t"/>
          <a:lstStyle/>
          <a:p>
            <a:pPr algn="l" indent="0" marL="0">
              <a:lnSpc>
                <a:spcPct val="110000"/>
              </a:lnSpc>
              <a:buNone/>
            </a:pPr>
            <a:r>
              <a:rPr lang="en-US" sz="800" dirty="0">
                <a:solidFill>
                  <a:srgbClr val="3C3939"/>
                </a:solidFill>
                <a:latin typeface="Roboto" pitchFamily="34" charset="0"/>
                <a:ea typeface="Roboto" pitchFamily="34" charset="-122"/>
                <a:cs typeface="Roboto" pitchFamily="34" charset="-120"/>
              </a:rPr>
              <a:t>Provide visual performance dashboards displaying trends, correlations, distributions, and predictive scores — making insights accessible to faculty without requiring statistical expertise.</a:t>
            </a:r>
            <a:endParaRPr lang="en-US" sz="800" dirty="0"/>
          </a:p>
        </p:txBody>
      </p:sp>
      <p:pic>
        <p:nvPicPr>
          <p:cNvPr id="26"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61475" y="5390852"/>
            <a:ext cx="10868745" cy="645021"/>
          </a:xfrm>
          <a:prstGeom prst="rect">
            <a:avLst/>
          </a:prstGeom>
        </p:spPr>
      </p:pic>
      <p:sp>
        <p:nvSpPr>
          <p:cNvPr id="27" name="Text 19"/>
          <p:cNvSpPr/>
          <p:nvPr/>
        </p:nvSpPr>
        <p:spPr>
          <a:xfrm>
            <a:off x="805338" y="5612606"/>
            <a:ext cx="161226" cy="201513"/>
          </a:xfrm>
          <a:prstGeom prst="rect">
            <a:avLst/>
          </a:prstGeom>
          <a:noFill/>
          <a:ln/>
        </p:spPr>
        <p:txBody>
          <a:bodyPr wrap="none" lIns="0" tIns="0" rIns="0" bIns="0" rtlCol="0" anchor="ctr"/>
          <a:lstStyle/>
          <a:p>
            <a:pPr algn="ctr" indent="0" marL="0">
              <a:lnSpc>
                <a:spcPct val="100000"/>
              </a:lnSpc>
              <a:buNone/>
            </a:pPr>
            <a:r>
              <a:rPr lang="en-US" sz="1250" dirty="0">
                <a:solidFill>
                  <a:srgbClr val="3C3939"/>
                </a:solidFill>
                <a:latin typeface="Raleway" pitchFamily="34" charset="0"/>
                <a:ea typeface="Raleway" pitchFamily="34" charset="-122"/>
                <a:cs typeface="Raleway" pitchFamily="34" charset="-120"/>
              </a:rPr>
              <a:t>6</a:t>
            </a:r>
            <a:endParaRPr lang="en-US" sz="1250" dirty="0"/>
          </a:p>
        </p:txBody>
      </p:sp>
      <p:sp>
        <p:nvSpPr>
          <p:cNvPr id="28" name="Text 20"/>
          <p:cNvSpPr/>
          <p:nvPr/>
        </p:nvSpPr>
        <p:spPr>
          <a:xfrm>
            <a:off x="1174026" y="5511006"/>
            <a:ext cx="10236043" cy="167878"/>
          </a:xfrm>
          <a:prstGeom prst="rect">
            <a:avLst/>
          </a:prstGeom>
          <a:noFill/>
          <a:ln/>
        </p:spPr>
        <p:txBody>
          <a:bodyPr wrap="none" lIns="0" tIns="0" rIns="0" bIns="0" rtlCol="0" anchor="t"/>
          <a:lstStyle/>
          <a:p>
            <a:pPr algn="l" indent="0" marL="0">
              <a:lnSpc>
                <a:spcPct val="104000"/>
              </a:lnSpc>
              <a:buNone/>
            </a:pPr>
            <a:r>
              <a:rPr lang="en-US" sz="1050" dirty="0">
                <a:solidFill>
                  <a:srgbClr val="3C3939"/>
                </a:solidFill>
                <a:latin typeface="Raleway" pitchFamily="34" charset="0"/>
                <a:ea typeface="Raleway" pitchFamily="34" charset="-122"/>
                <a:cs typeface="Raleway" pitchFamily="34" charset="-120"/>
              </a:rPr>
              <a:t>Faculty Decision Support</a:t>
            </a:r>
            <a:endParaRPr lang="en-US" sz="1050" dirty="0"/>
          </a:p>
        </p:txBody>
      </p:sp>
      <p:sp>
        <p:nvSpPr>
          <p:cNvPr id="29" name="Text 21"/>
          <p:cNvSpPr/>
          <p:nvPr/>
        </p:nvSpPr>
        <p:spPr>
          <a:xfrm>
            <a:off x="1174026" y="5720755"/>
            <a:ext cx="10236043" cy="141883"/>
          </a:xfrm>
          <a:prstGeom prst="rect">
            <a:avLst/>
          </a:prstGeom>
          <a:noFill/>
          <a:ln/>
        </p:spPr>
        <p:txBody>
          <a:bodyPr wrap="none" lIns="0" tIns="0" rIns="0" bIns="0" rtlCol="0" anchor="t"/>
          <a:lstStyle/>
          <a:p>
            <a:pPr algn="l" indent="0" marL="0">
              <a:lnSpc>
                <a:spcPct val="110000"/>
              </a:lnSpc>
              <a:buNone/>
            </a:pPr>
            <a:r>
              <a:rPr lang="en-US" sz="800" dirty="0">
                <a:solidFill>
                  <a:srgbClr val="3C3939"/>
                </a:solidFill>
                <a:latin typeface="Roboto" pitchFamily="34" charset="0"/>
                <a:ea typeface="Roboto" pitchFamily="34" charset="-122"/>
                <a:cs typeface="Roboto" pitchFamily="34" charset="-120"/>
              </a:rPr>
              <a:t>Enable educators to generate academic progress reports, review predicted outcomes, and receive automated alerts — supporting data-driven decisions about teaching strategy and student engagement.</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61475" y="736302"/>
            <a:ext cx="579919" cy="163413"/>
          </a:xfrm>
          <a:prstGeom prst="roundRect">
            <a:avLst>
              <a:gd name="adj" fmla="val 22104"/>
            </a:avLst>
          </a:prstGeom>
          <a:solidFill>
            <a:srgbClr val="E1E1EA"/>
          </a:solidFill>
          <a:ln/>
        </p:spPr>
      </p:sp>
      <p:sp>
        <p:nvSpPr>
          <p:cNvPr id="3" name="Text 1"/>
          <p:cNvSpPr/>
          <p:nvPr/>
        </p:nvSpPr>
        <p:spPr>
          <a:xfrm>
            <a:off x="725965" y="768548"/>
            <a:ext cx="1060523" cy="98921"/>
          </a:xfrm>
          <a:prstGeom prst="rect">
            <a:avLst/>
          </a:prstGeom>
          <a:noFill/>
          <a:ln/>
        </p:spPr>
        <p:txBody>
          <a:bodyPr wrap="none" lIns="0" tIns="0" rIns="0" bIns="0" rtlCol="0" anchor="t"/>
          <a:lstStyle/>
          <a:p>
            <a:pPr algn="l" indent="0" marL="0">
              <a:lnSpc>
                <a:spcPct val="96000"/>
              </a:lnSpc>
              <a:buNone/>
            </a:pPr>
            <a:r>
              <a:rPr lang="en-US" sz="650" dirty="0">
                <a:solidFill>
                  <a:srgbClr val="3C3939"/>
                </a:solidFill>
                <a:latin typeface="Roboto" pitchFamily="34" charset="0"/>
                <a:ea typeface="Roboto" pitchFamily="34" charset="-122"/>
                <a:cs typeface="Roboto" pitchFamily="34" charset="-120"/>
              </a:rPr>
              <a:t>CHAPTER 4</a:t>
            </a:r>
            <a:endParaRPr lang="en-US" sz="650" dirty="0"/>
          </a:p>
        </p:txBody>
      </p:sp>
      <p:sp>
        <p:nvSpPr>
          <p:cNvPr id="4" name="Text 2"/>
          <p:cNvSpPr/>
          <p:nvPr/>
        </p:nvSpPr>
        <p:spPr>
          <a:xfrm>
            <a:off x="661475" y="927596"/>
            <a:ext cx="10868745" cy="335955"/>
          </a:xfrm>
          <a:prstGeom prst="rect">
            <a:avLst/>
          </a:prstGeom>
          <a:noFill/>
          <a:ln/>
        </p:spPr>
        <p:txBody>
          <a:bodyPr wrap="none" lIns="0" tIns="0" rIns="0" bIns="0" rtlCol="0" anchor="t"/>
          <a:lstStyle/>
          <a:p>
            <a:pPr algn="l" indent="0" marL="0">
              <a:lnSpc>
                <a:spcPct val="104000"/>
              </a:lnSpc>
              <a:buNone/>
            </a:pPr>
            <a:r>
              <a:rPr lang="en-US" sz="2100" dirty="0">
                <a:solidFill>
                  <a:srgbClr val="1B1B27"/>
                </a:solidFill>
                <a:latin typeface="Raleway" pitchFamily="34" charset="0"/>
                <a:ea typeface="Raleway" pitchFamily="34" charset="-122"/>
                <a:cs typeface="Raleway" pitchFamily="34" charset="-120"/>
              </a:rPr>
              <a:t>Data Collection &amp; Feature Engineering</a:t>
            </a:r>
            <a:endParaRPr lang="en-US" sz="2100" dirty="0"/>
          </a:p>
        </p:txBody>
      </p:sp>
      <p:sp>
        <p:nvSpPr>
          <p:cNvPr id="5" name="Shape 3"/>
          <p:cNvSpPr/>
          <p:nvPr/>
        </p:nvSpPr>
        <p:spPr>
          <a:xfrm>
            <a:off x="584086" y="1368326"/>
            <a:ext cx="5458085" cy="4753372"/>
          </a:xfrm>
          <a:prstGeom prst="roundRect">
            <a:avLst>
              <a:gd name="adj" fmla="val 1628"/>
            </a:avLst>
          </a:prstGeom>
          <a:solidFill>
            <a:srgbClr val="1B1B27">
              <a:alpha val="95000"/>
            </a:srgbClr>
          </a:solidFill>
          <a:ln/>
        </p:spPr>
      </p:sp>
      <p:sp>
        <p:nvSpPr>
          <p:cNvPr id="6" name="Text 4"/>
          <p:cNvSpPr/>
          <p:nvPr/>
        </p:nvSpPr>
        <p:spPr>
          <a:xfrm>
            <a:off x="691537" y="1438176"/>
            <a:ext cx="5243183" cy="167878"/>
          </a:xfrm>
          <a:prstGeom prst="rect">
            <a:avLst/>
          </a:prstGeom>
          <a:noFill/>
          <a:ln/>
        </p:spPr>
        <p:txBody>
          <a:bodyPr wrap="none" lIns="0" tIns="0" rIns="0" bIns="0" rtlCol="0" anchor="t"/>
          <a:lstStyle/>
          <a:p>
            <a:pPr algn="l" indent="0" marL="0">
              <a:lnSpc>
                <a:spcPct val="104000"/>
              </a:lnSpc>
              <a:buNone/>
            </a:pPr>
            <a:r>
              <a:rPr lang="en-US" sz="1050" dirty="0">
                <a:solidFill>
                  <a:srgbClr val="FFFFFF"/>
                </a:solidFill>
                <a:latin typeface="Raleway" pitchFamily="34" charset="0"/>
                <a:ea typeface="Raleway" pitchFamily="34" charset="-122"/>
                <a:cs typeface="Raleway" pitchFamily="34" charset="-120"/>
              </a:rPr>
              <a:t>Academic Data Sources</a:t>
            </a:r>
            <a:endParaRPr lang="en-US" sz="1050" dirty="0"/>
          </a:p>
        </p:txBody>
      </p:sp>
      <p:sp>
        <p:nvSpPr>
          <p:cNvPr id="7" name="Text 5"/>
          <p:cNvSpPr/>
          <p:nvPr/>
        </p:nvSpPr>
        <p:spPr>
          <a:xfrm>
            <a:off x="691537" y="1675904"/>
            <a:ext cx="5852768" cy="141883"/>
          </a:xfrm>
          <a:prstGeom prst="rect">
            <a:avLst/>
          </a:prstGeom>
          <a:noFill/>
          <a:ln/>
        </p:spPr>
        <p:txBody>
          <a:bodyPr wrap="none" lIns="0" tIns="0" rIns="0" bIns="0" rtlCol="0" anchor="t"/>
          <a:lstStyle/>
          <a:p>
            <a:pPr algn="l" indent="0" marL="0">
              <a:lnSpc>
                <a:spcPct val="110000"/>
              </a:lnSpc>
              <a:buNone/>
            </a:pPr>
            <a:r>
              <a:rPr lang="en-US" sz="800" dirty="0">
                <a:solidFill>
                  <a:srgbClr val="FFFFFF"/>
                </a:solidFill>
                <a:latin typeface="Roboto" pitchFamily="34" charset="0"/>
                <a:ea typeface="Roboto" pitchFamily="34" charset="-122"/>
                <a:cs typeface="Roboto" pitchFamily="34" charset="-120"/>
              </a:rPr>
              <a:t>The system integrates the following independent variables from institutional records:</a:t>
            </a:r>
            <a:endParaRPr lang="en-US" sz="800" dirty="0"/>
          </a:p>
        </p:txBody>
      </p:sp>
      <p:sp>
        <p:nvSpPr>
          <p:cNvPr id="8" name="Text 6"/>
          <p:cNvSpPr/>
          <p:nvPr/>
        </p:nvSpPr>
        <p:spPr>
          <a:xfrm>
            <a:off x="691537" y="1880592"/>
            <a:ext cx="5243183" cy="1139627"/>
          </a:xfrm>
          <a:prstGeom prst="rect">
            <a:avLst/>
          </a:prstGeom>
          <a:noFill/>
          <a:ln/>
        </p:spPr>
        <p:txBody>
          <a:bodyPr wrap="square" lIns="0" tIns="43002" rIns="0" bIns="0" rtlCol="0" anchor="t">
            <a:normAutofit/>
          </a:bodyPr>
          <a:lstStyle/>
          <a:p>
            <a:pPr algn="l" marL="162560" indent="-162560">
              <a:lnSpc>
                <a:spcPct val="110000"/>
              </a:lnSpc>
              <a:buSzPct val="100000"/>
              <a:buChar char="•"/>
            </a:pPr>
            <a:r>
              <a:rPr lang="en-US" sz="800" b="1" dirty="0">
                <a:solidFill>
                  <a:srgbClr val="FFFFFF"/>
                </a:solidFill>
                <a:latin typeface="Roboto Bold" pitchFamily="34" charset="0"/>
                <a:ea typeface="Roboto Bold" pitchFamily="34" charset="-122"/>
                <a:cs typeface="Roboto Bold" pitchFamily="34" charset="-120"/>
              </a:rPr>
              <a:t>Attendance Records:</a:t>
            </a:r>
            <a:pPr algn="l" marL="162560" indent="-162560">
              <a:lnSpc>
                <a:spcPct val="110000"/>
              </a:lnSpc>
              <a:buSzPct val="100000"/>
              <a:buChar char="•"/>
            </a:pPr>
            <a:r>
              <a:rPr lang="en-US" sz="800" dirty="0">
                <a:solidFill>
                  <a:srgbClr val="FFFFFF"/>
                </a:solidFill>
                <a:latin typeface="Roboto" pitchFamily="34" charset="0"/>
                <a:ea typeface="Roboto" pitchFamily="34" charset="-122"/>
                <a:cs typeface="Roboto" pitchFamily="34" charset="-120"/>
              </a:rPr>
              <a:t> Class attendance percentage per subject and semester</a:t>
            </a:r>
            <a:endParaRPr lang="en-US" sz="800" dirty="0"/>
          </a:p>
          <a:p>
            <a:pPr algn="l" marL="162560" indent="-162560">
              <a:lnSpc>
                <a:spcPct val="110000"/>
              </a:lnSpc>
              <a:buSzPct val="100000"/>
              <a:buChar char="•"/>
            </a:pPr>
            <a:r>
              <a:rPr lang="en-US" sz="800" b="1" dirty="0">
                <a:solidFill>
                  <a:srgbClr val="FFFFFF"/>
                </a:solidFill>
                <a:latin typeface="Roboto Bold" pitchFamily="34" charset="0"/>
                <a:ea typeface="Roboto Bold" pitchFamily="34" charset="-122"/>
                <a:cs typeface="Roboto Bold" pitchFamily="34" charset="-120"/>
              </a:rPr>
              <a:t>Internal Assessment Marks:</a:t>
            </a:r>
            <a:pPr algn="l" marL="162560" indent="-162560">
              <a:lnSpc>
                <a:spcPct val="110000"/>
              </a:lnSpc>
              <a:buSzPct val="100000"/>
              <a:buChar char="•"/>
            </a:pPr>
            <a:r>
              <a:rPr lang="en-US" sz="800" dirty="0">
                <a:solidFill>
                  <a:srgbClr val="FFFFFF"/>
                </a:solidFill>
                <a:latin typeface="Roboto" pitchFamily="34" charset="0"/>
                <a:ea typeface="Roboto" pitchFamily="34" charset="-122"/>
                <a:cs typeface="Roboto" pitchFamily="34" charset="-120"/>
              </a:rPr>
              <a:t> Scores from quizzes, class tests, and mid-term examinations</a:t>
            </a:r>
            <a:endParaRPr lang="en-US" sz="800" dirty="0"/>
          </a:p>
          <a:p>
            <a:pPr algn="l" marL="162560" indent="-162560">
              <a:lnSpc>
                <a:spcPct val="110000"/>
              </a:lnSpc>
              <a:buSzPct val="100000"/>
              <a:buChar char="•"/>
            </a:pPr>
            <a:r>
              <a:rPr lang="en-US" sz="800" b="1" dirty="0">
                <a:solidFill>
                  <a:srgbClr val="FFFFFF"/>
                </a:solidFill>
                <a:latin typeface="Roboto Bold" pitchFamily="34" charset="0"/>
                <a:ea typeface="Roboto Bold" pitchFamily="34" charset="-122"/>
                <a:cs typeface="Roboto Bold" pitchFamily="34" charset="-120"/>
              </a:rPr>
              <a:t>Assignment Scores:</a:t>
            </a:r>
            <a:pPr algn="l" marL="162560" indent="-162560">
              <a:lnSpc>
                <a:spcPct val="110000"/>
              </a:lnSpc>
              <a:buSzPct val="100000"/>
              <a:buChar char="•"/>
            </a:pPr>
            <a:r>
              <a:rPr lang="en-US" sz="800" dirty="0">
                <a:solidFill>
                  <a:srgbClr val="FFFFFF"/>
                </a:solidFill>
                <a:latin typeface="Roboto" pitchFamily="34" charset="0"/>
                <a:ea typeface="Roboto" pitchFamily="34" charset="-122"/>
                <a:cs typeface="Roboto" pitchFamily="34" charset="-120"/>
              </a:rPr>
              <a:t> Marks and submission timeliness for coursework assignments</a:t>
            </a:r>
            <a:endParaRPr lang="en-US" sz="800" dirty="0"/>
          </a:p>
          <a:p>
            <a:pPr algn="l" marL="162560" indent="-162560">
              <a:lnSpc>
                <a:spcPct val="110000"/>
              </a:lnSpc>
              <a:buSzPct val="100000"/>
              <a:buChar char="•"/>
            </a:pPr>
            <a:r>
              <a:rPr lang="en-US" sz="800" b="1" dirty="0">
                <a:solidFill>
                  <a:srgbClr val="FFFFFF"/>
                </a:solidFill>
                <a:latin typeface="Roboto Bold" pitchFamily="34" charset="0"/>
                <a:ea typeface="Roboto Bold" pitchFamily="34" charset="-122"/>
                <a:cs typeface="Roboto Bold" pitchFamily="34" charset="-120"/>
              </a:rPr>
              <a:t>Study Hours:</a:t>
            </a:r>
            <a:pPr algn="l" marL="162560" indent="-162560">
              <a:lnSpc>
                <a:spcPct val="110000"/>
              </a:lnSpc>
              <a:buSzPct val="100000"/>
              <a:buChar char="•"/>
            </a:pPr>
            <a:r>
              <a:rPr lang="en-US" sz="800" dirty="0">
                <a:solidFill>
                  <a:srgbClr val="FFFFFF"/>
                </a:solidFill>
                <a:latin typeface="Roboto" pitchFamily="34" charset="0"/>
                <a:ea typeface="Roboto" pitchFamily="34" charset="-122"/>
                <a:cs typeface="Roboto" pitchFamily="34" charset="-120"/>
              </a:rPr>
              <a:t> Self-reported or system-tracked student engagement metrics</a:t>
            </a:r>
            <a:endParaRPr lang="en-US" sz="800" dirty="0"/>
          </a:p>
          <a:p>
            <a:pPr algn="l" marL="162560" indent="-162560">
              <a:lnSpc>
                <a:spcPct val="110000"/>
              </a:lnSpc>
              <a:buSzPct val="100000"/>
              <a:buChar char="•"/>
            </a:pPr>
            <a:r>
              <a:rPr lang="en-US" sz="800" b="1" dirty="0">
                <a:solidFill>
                  <a:srgbClr val="FFFFFF"/>
                </a:solidFill>
                <a:latin typeface="Roboto Bold" pitchFamily="34" charset="0"/>
                <a:ea typeface="Roboto Bold" pitchFamily="34" charset="-122"/>
                <a:cs typeface="Roboto Bold" pitchFamily="34" charset="-120"/>
              </a:rPr>
              <a:t>Classroom Participation:</a:t>
            </a:r>
            <a:pPr algn="l" marL="162560" indent="-162560">
              <a:lnSpc>
                <a:spcPct val="110000"/>
              </a:lnSpc>
              <a:buSzPct val="100000"/>
              <a:buChar char="•"/>
            </a:pPr>
            <a:r>
              <a:rPr lang="en-US" sz="800" dirty="0">
                <a:solidFill>
                  <a:srgbClr val="FFFFFF"/>
                </a:solidFill>
                <a:latin typeface="Roboto" pitchFamily="34" charset="0"/>
                <a:ea typeface="Roboto" pitchFamily="34" charset="-122"/>
                <a:cs typeface="Roboto" pitchFamily="34" charset="-120"/>
              </a:rPr>
              <a:t> Interaction and engagement records from lectures and seminars</a:t>
            </a:r>
            <a:endParaRPr lang="en-US" sz="800" dirty="0"/>
          </a:p>
          <a:p>
            <a:pPr algn="l" marL="162560" indent="-162560">
              <a:lnSpc>
                <a:spcPct val="110000"/>
              </a:lnSpc>
              <a:buSzPct val="100000"/>
              <a:buChar char="•"/>
            </a:pPr>
            <a:r>
              <a:rPr lang="en-US" sz="800" b="1" dirty="0">
                <a:solidFill>
                  <a:srgbClr val="FFFFFF"/>
                </a:solidFill>
                <a:latin typeface="Roboto Bold" pitchFamily="34" charset="0"/>
                <a:ea typeface="Roboto Bold" pitchFamily="34" charset="-122"/>
                <a:cs typeface="Roboto Bold" pitchFamily="34" charset="-120"/>
              </a:rPr>
              <a:t>Previous Academic Performance:</a:t>
            </a:r>
            <a:pPr algn="l" marL="162560" indent="-162560">
              <a:lnSpc>
                <a:spcPct val="110000"/>
              </a:lnSpc>
              <a:buSzPct val="100000"/>
              <a:buChar char="•"/>
            </a:pPr>
            <a:r>
              <a:rPr lang="en-US" sz="800" dirty="0">
                <a:solidFill>
                  <a:srgbClr val="FFFFFF"/>
                </a:solidFill>
                <a:latin typeface="Roboto" pitchFamily="34" charset="0"/>
                <a:ea typeface="Roboto" pitchFamily="34" charset="-122"/>
                <a:cs typeface="Roboto" pitchFamily="34" charset="-120"/>
              </a:rPr>
              <a:t> Prior semester GPA and cumulative marks history</a:t>
            </a:r>
            <a:endParaRPr lang="en-US" sz="800" dirty="0"/>
          </a:p>
          <a:p>
            <a:pPr algn="l" marL="162560" indent="-162560">
              <a:lnSpc>
                <a:spcPct val="110000"/>
              </a:lnSpc>
              <a:buSzPct val="100000"/>
              <a:buChar char="•"/>
            </a:pPr>
            <a:r>
              <a:rPr lang="en-US" sz="800" b="1" dirty="0">
                <a:solidFill>
                  <a:srgbClr val="FFFFFF"/>
                </a:solidFill>
                <a:latin typeface="Roboto Bold" pitchFamily="34" charset="0"/>
                <a:ea typeface="Roboto Bold" pitchFamily="34" charset="-122"/>
                <a:cs typeface="Roboto Bold" pitchFamily="34" charset="-120"/>
              </a:rPr>
              <a:t>Course-Specific Indicators:</a:t>
            </a:r>
            <a:pPr algn="l" marL="162560" indent="-162560">
              <a:lnSpc>
                <a:spcPct val="110000"/>
              </a:lnSpc>
              <a:buSzPct val="100000"/>
              <a:buChar char="•"/>
            </a:pPr>
            <a:r>
              <a:rPr lang="en-US" sz="800" dirty="0">
                <a:solidFill>
                  <a:srgbClr val="FFFFFF"/>
                </a:solidFill>
                <a:latin typeface="Roboto" pitchFamily="34" charset="0"/>
                <a:ea typeface="Roboto" pitchFamily="34" charset="-122"/>
                <a:cs typeface="Roboto" pitchFamily="34" charset="-120"/>
              </a:rPr>
              <a:t> Subject-level difficulty ratings and performance benchmarks</a:t>
            </a:r>
            <a:endParaRPr lang="en-US" sz="800" dirty="0"/>
          </a:p>
        </p:txBody>
      </p:sp>
      <p:sp>
        <p:nvSpPr>
          <p:cNvPr id="9" name="Text 7"/>
          <p:cNvSpPr/>
          <p:nvPr/>
        </p:nvSpPr>
        <p:spPr>
          <a:xfrm>
            <a:off x="6233262" y="1438176"/>
            <a:ext cx="5303308" cy="167878"/>
          </a:xfrm>
          <a:prstGeom prst="rect">
            <a:avLst/>
          </a:prstGeom>
          <a:noFill/>
          <a:ln/>
        </p:spPr>
        <p:txBody>
          <a:bodyPr wrap="none" lIns="0" tIns="0" rIns="0" bIns="0" rtlCol="0" anchor="t"/>
          <a:lstStyle/>
          <a:p>
            <a:pPr algn="l" indent="0" marL="0">
              <a:lnSpc>
                <a:spcPct val="104000"/>
              </a:lnSpc>
              <a:buNone/>
            </a:pPr>
            <a:r>
              <a:rPr lang="en-US" sz="1050" dirty="0">
                <a:solidFill>
                  <a:srgbClr val="1B1B27"/>
                </a:solidFill>
                <a:latin typeface="Raleway" pitchFamily="34" charset="0"/>
                <a:ea typeface="Raleway" pitchFamily="34" charset="-122"/>
                <a:cs typeface="Raleway" pitchFamily="34" charset="-120"/>
              </a:rPr>
              <a:t>Target Variable</a:t>
            </a:r>
            <a:endParaRPr lang="en-US" sz="1050" dirty="0"/>
          </a:p>
        </p:txBody>
      </p:sp>
      <p:sp>
        <p:nvSpPr>
          <p:cNvPr id="10" name="Text 8"/>
          <p:cNvSpPr/>
          <p:nvPr/>
        </p:nvSpPr>
        <p:spPr>
          <a:xfrm>
            <a:off x="6233262" y="1675904"/>
            <a:ext cx="5303308" cy="283766"/>
          </a:xfrm>
          <a:prstGeom prst="rect">
            <a:avLst/>
          </a:prstGeom>
          <a:noFill/>
          <a:ln/>
        </p:spPr>
        <p:txBody>
          <a:bodyPr wrap="square" lIns="0" tIns="0" rIns="0" bIns="0" rtlCol="0" anchor="t">
            <a:normAutofit/>
          </a:bodyPr>
          <a:lstStyle/>
          <a:p>
            <a:pPr algn="l" indent="0" marL="0">
              <a:lnSpc>
                <a:spcPct val="110000"/>
              </a:lnSpc>
              <a:buNone/>
            </a:pPr>
            <a:r>
              <a:rPr lang="en-US" sz="800" b="1" dirty="0">
                <a:solidFill>
                  <a:srgbClr val="3C3939"/>
                </a:solidFill>
                <a:latin typeface="Roboto Bold" pitchFamily="34" charset="0"/>
                <a:ea typeface="Roboto Bold" pitchFamily="34" charset="-122"/>
                <a:cs typeface="Roboto Bold" pitchFamily="34" charset="-120"/>
              </a:rPr>
              <a:t>Final Academic Performance</a:t>
            </a:r>
            <a:pPr algn="l" indent="0" marL="0">
              <a:lnSpc>
                <a:spcPct val="110000"/>
              </a:lnSpc>
              <a:buNone/>
            </a:pPr>
            <a:r>
              <a:rPr lang="en-US" sz="800" dirty="0">
                <a:solidFill>
                  <a:srgbClr val="3C3939"/>
                </a:solidFill>
                <a:latin typeface="Roboto" pitchFamily="34" charset="0"/>
                <a:ea typeface="Roboto" pitchFamily="34" charset="-122"/>
                <a:cs typeface="Roboto" pitchFamily="34" charset="-120"/>
              </a:rPr>
              <a:t> — expressed as semester marks, annual examination score, or cumulative GPA — serves as the dependent variable (Y) that the regression model is trained to predict.</a:t>
            </a:r>
            <a:endParaRPr lang="en-US" sz="800" dirty="0"/>
          </a:p>
        </p:txBody>
      </p:sp>
      <p:sp>
        <p:nvSpPr>
          <p:cNvPr id="11" name="Shape 9"/>
          <p:cNvSpPr/>
          <p:nvPr/>
        </p:nvSpPr>
        <p:spPr>
          <a:xfrm>
            <a:off x="6233262" y="2065040"/>
            <a:ext cx="5303308" cy="12700"/>
          </a:xfrm>
          <a:prstGeom prst="roundRect">
            <a:avLst>
              <a:gd name="adj" fmla="val 49999"/>
            </a:avLst>
          </a:prstGeom>
          <a:solidFill>
            <a:srgbClr val="3C3939">
              <a:alpha val="50000"/>
            </a:srgbClr>
          </a:solidFill>
          <a:ln/>
        </p:spPr>
      </p:sp>
      <p:sp>
        <p:nvSpPr>
          <p:cNvPr id="12" name="Text 10"/>
          <p:cNvSpPr/>
          <p:nvPr/>
        </p:nvSpPr>
        <p:spPr>
          <a:xfrm>
            <a:off x="6233262" y="2183110"/>
            <a:ext cx="5303308" cy="167878"/>
          </a:xfrm>
          <a:prstGeom prst="rect">
            <a:avLst/>
          </a:prstGeom>
          <a:noFill/>
          <a:ln/>
        </p:spPr>
        <p:txBody>
          <a:bodyPr wrap="none" lIns="0" tIns="0" rIns="0" bIns="0" rtlCol="0" anchor="t"/>
          <a:lstStyle/>
          <a:p>
            <a:pPr algn="l" indent="0" marL="0">
              <a:lnSpc>
                <a:spcPct val="104000"/>
              </a:lnSpc>
              <a:buNone/>
            </a:pPr>
            <a:r>
              <a:rPr lang="en-US" sz="1050" dirty="0">
                <a:solidFill>
                  <a:srgbClr val="1B1B27"/>
                </a:solidFill>
                <a:latin typeface="Raleway" pitchFamily="34" charset="0"/>
                <a:ea typeface="Raleway" pitchFamily="34" charset="-122"/>
                <a:cs typeface="Raleway" pitchFamily="34" charset="-120"/>
              </a:rPr>
              <a:t>Data Preprocessing Steps</a:t>
            </a:r>
            <a:endParaRPr lang="en-US" sz="1050" dirty="0"/>
          </a:p>
        </p:txBody>
      </p:sp>
      <p:sp>
        <p:nvSpPr>
          <p:cNvPr id="13" name="Text 11"/>
          <p:cNvSpPr/>
          <p:nvPr/>
        </p:nvSpPr>
        <p:spPr>
          <a:xfrm>
            <a:off x="6233262" y="2429570"/>
            <a:ext cx="215002" cy="134342"/>
          </a:xfrm>
          <a:prstGeom prst="rect">
            <a:avLst/>
          </a:prstGeom>
          <a:noFill/>
          <a:ln/>
        </p:spPr>
        <p:txBody>
          <a:bodyPr wrap="none" lIns="0" tIns="0" rIns="0" bIns="0" rtlCol="0" anchor="ctr"/>
          <a:lstStyle/>
          <a:p>
            <a:pPr algn="l" indent="0" marL="0">
              <a:lnSpc>
                <a:spcPct val="100000"/>
              </a:lnSpc>
              <a:buNone/>
            </a:pPr>
            <a:r>
              <a:rPr lang="en-US" sz="800" dirty="0">
                <a:solidFill>
                  <a:srgbClr val="3C3939"/>
                </a:solidFill>
                <a:latin typeface="Raleway Light" pitchFamily="34" charset="0"/>
                <a:ea typeface="Raleway Light" pitchFamily="34" charset="-122"/>
                <a:cs typeface="Raleway Light" pitchFamily="34" charset="-120"/>
              </a:rPr>
              <a:t>01</a:t>
            </a:r>
            <a:endParaRPr lang="en-US" sz="800" dirty="0"/>
          </a:p>
        </p:txBody>
      </p:sp>
      <p:sp>
        <p:nvSpPr>
          <p:cNvPr id="14" name="Shape 12"/>
          <p:cNvSpPr/>
          <p:nvPr/>
        </p:nvSpPr>
        <p:spPr>
          <a:xfrm>
            <a:off x="6233262" y="2599432"/>
            <a:ext cx="5303308" cy="12700"/>
          </a:xfrm>
          <a:prstGeom prst="rect">
            <a:avLst/>
          </a:prstGeom>
          <a:solidFill>
            <a:srgbClr val="1B1B27"/>
          </a:solidFill>
          <a:ln/>
        </p:spPr>
      </p:sp>
      <p:sp>
        <p:nvSpPr>
          <p:cNvPr id="15" name="Text 13"/>
          <p:cNvSpPr/>
          <p:nvPr/>
        </p:nvSpPr>
        <p:spPr>
          <a:xfrm>
            <a:off x="6233262" y="2678509"/>
            <a:ext cx="5303308" cy="167878"/>
          </a:xfrm>
          <a:prstGeom prst="rect">
            <a:avLst/>
          </a:prstGeom>
          <a:noFill/>
          <a:ln/>
        </p:spPr>
        <p:txBody>
          <a:bodyPr wrap="none" lIns="0" tIns="0" rIns="0" bIns="0" rtlCol="0" anchor="t"/>
          <a:lstStyle/>
          <a:p>
            <a:pPr algn="l" indent="0" marL="0">
              <a:lnSpc>
                <a:spcPct val="104000"/>
              </a:lnSpc>
              <a:buNone/>
            </a:pPr>
            <a:r>
              <a:rPr lang="en-US" sz="1050" dirty="0">
                <a:solidFill>
                  <a:srgbClr val="3C3939"/>
                </a:solidFill>
                <a:latin typeface="Raleway" pitchFamily="34" charset="0"/>
                <a:ea typeface="Raleway" pitchFamily="34" charset="-122"/>
                <a:cs typeface="Raleway" pitchFamily="34" charset="-120"/>
              </a:rPr>
              <a:t>Data Cleaning</a:t>
            </a:r>
            <a:endParaRPr lang="en-US" sz="1050" dirty="0"/>
          </a:p>
        </p:txBody>
      </p:sp>
      <p:sp>
        <p:nvSpPr>
          <p:cNvPr id="16" name="Text 14"/>
          <p:cNvSpPr/>
          <p:nvPr/>
        </p:nvSpPr>
        <p:spPr>
          <a:xfrm>
            <a:off x="6233262" y="2916237"/>
            <a:ext cx="5303308" cy="283766"/>
          </a:xfrm>
          <a:prstGeom prst="rect">
            <a:avLst/>
          </a:prstGeom>
          <a:noFill/>
          <a:ln/>
        </p:spPr>
        <p:txBody>
          <a:bodyPr wrap="square" lIns="0" tIns="0" rIns="0" bIns="0" rtlCol="0" anchor="t">
            <a:normAutofit/>
          </a:bodyPr>
          <a:lstStyle/>
          <a:p>
            <a:pPr algn="l" indent="0" marL="0">
              <a:lnSpc>
                <a:spcPct val="110000"/>
              </a:lnSpc>
              <a:buNone/>
            </a:pPr>
            <a:r>
              <a:rPr lang="en-US" sz="800" dirty="0">
                <a:solidFill>
                  <a:srgbClr val="3C3939"/>
                </a:solidFill>
                <a:latin typeface="Roboto" pitchFamily="34" charset="0"/>
                <a:ea typeface="Roboto" pitchFamily="34" charset="-122"/>
                <a:cs typeface="Roboto" pitchFamily="34" charset="-120"/>
              </a:rPr>
              <a:t>Handle missing values (imputation or removal), detect and treat outliers, resolve data entry inconsistencies across systems</a:t>
            </a:r>
            <a:endParaRPr lang="en-US" sz="800" dirty="0"/>
          </a:p>
        </p:txBody>
      </p:sp>
      <p:sp>
        <p:nvSpPr>
          <p:cNvPr id="17" name="Text 15"/>
          <p:cNvSpPr/>
          <p:nvPr/>
        </p:nvSpPr>
        <p:spPr>
          <a:xfrm>
            <a:off x="6233262" y="3350419"/>
            <a:ext cx="215002" cy="134342"/>
          </a:xfrm>
          <a:prstGeom prst="rect">
            <a:avLst/>
          </a:prstGeom>
          <a:noFill/>
          <a:ln/>
        </p:spPr>
        <p:txBody>
          <a:bodyPr wrap="none" lIns="0" tIns="0" rIns="0" bIns="0" rtlCol="0" anchor="ctr"/>
          <a:lstStyle/>
          <a:p>
            <a:pPr algn="l" indent="0" marL="0">
              <a:lnSpc>
                <a:spcPct val="100000"/>
              </a:lnSpc>
              <a:buNone/>
            </a:pPr>
            <a:r>
              <a:rPr lang="en-US" sz="800" dirty="0">
                <a:solidFill>
                  <a:srgbClr val="3C3939"/>
                </a:solidFill>
                <a:latin typeface="Raleway Light" pitchFamily="34" charset="0"/>
                <a:ea typeface="Raleway Light" pitchFamily="34" charset="-122"/>
                <a:cs typeface="Raleway Light" pitchFamily="34" charset="-120"/>
              </a:rPr>
              <a:t>02</a:t>
            </a:r>
            <a:endParaRPr lang="en-US" sz="800" dirty="0"/>
          </a:p>
        </p:txBody>
      </p:sp>
      <p:sp>
        <p:nvSpPr>
          <p:cNvPr id="18" name="Shape 16"/>
          <p:cNvSpPr/>
          <p:nvPr/>
        </p:nvSpPr>
        <p:spPr>
          <a:xfrm>
            <a:off x="6233262" y="3520281"/>
            <a:ext cx="5303308" cy="12700"/>
          </a:xfrm>
          <a:prstGeom prst="rect">
            <a:avLst/>
          </a:prstGeom>
          <a:solidFill>
            <a:srgbClr val="1B1B27"/>
          </a:solidFill>
          <a:ln/>
        </p:spPr>
      </p:sp>
      <p:sp>
        <p:nvSpPr>
          <p:cNvPr id="19" name="Text 17"/>
          <p:cNvSpPr/>
          <p:nvPr/>
        </p:nvSpPr>
        <p:spPr>
          <a:xfrm>
            <a:off x="6233262" y="3599359"/>
            <a:ext cx="5303308" cy="167878"/>
          </a:xfrm>
          <a:prstGeom prst="rect">
            <a:avLst/>
          </a:prstGeom>
          <a:noFill/>
          <a:ln/>
        </p:spPr>
        <p:txBody>
          <a:bodyPr wrap="none" lIns="0" tIns="0" rIns="0" bIns="0" rtlCol="0" anchor="t"/>
          <a:lstStyle/>
          <a:p>
            <a:pPr algn="l" indent="0" marL="0">
              <a:lnSpc>
                <a:spcPct val="104000"/>
              </a:lnSpc>
              <a:buNone/>
            </a:pPr>
            <a:r>
              <a:rPr lang="en-US" sz="1050" dirty="0">
                <a:solidFill>
                  <a:srgbClr val="3C3939"/>
                </a:solidFill>
                <a:latin typeface="Raleway" pitchFamily="34" charset="0"/>
                <a:ea typeface="Raleway" pitchFamily="34" charset="-122"/>
                <a:cs typeface="Raleway" pitchFamily="34" charset="-120"/>
              </a:rPr>
              <a:t>Normalization</a:t>
            </a:r>
            <a:endParaRPr lang="en-US" sz="1050" dirty="0"/>
          </a:p>
        </p:txBody>
      </p:sp>
      <p:sp>
        <p:nvSpPr>
          <p:cNvPr id="20" name="Text 18"/>
          <p:cNvSpPr/>
          <p:nvPr/>
        </p:nvSpPr>
        <p:spPr>
          <a:xfrm>
            <a:off x="6233262" y="3837087"/>
            <a:ext cx="5303308" cy="283766"/>
          </a:xfrm>
          <a:prstGeom prst="rect">
            <a:avLst/>
          </a:prstGeom>
          <a:noFill/>
          <a:ln/>
        </p:spPr>
        <p:txBody>
          <a:bodyPr wrap="square" lIns="0" tIns="0" rIns="0" bIns="0" rtlCol="0" anchor="t">
            <a:normAutofit/>
          </a:bodyPr>
          <a:lstStyle/>
          <a:p>
            <a:pPr algn="l" indent="0" marL="0">
              <a:lnSpc>
                <a:spcPct val="110000"/>
              </a:lnSpc>
              <a:buNone/>
            </a:pPr>
            <a:r>
              <a:rPr lang="en-US" sz="800" dirty="0">
                <a:solidFill>
                  <a:srgbClr val="3C3939"/>
                </a:solidFill>
                <a:latin typeface="Roboto" pitchFamily="34" charset="0"/>
                <a:ea typeface="Roboto" pitchFamily="34" charset="-122"/>
                <a:cs typeface="Roboto" pitchFamily="34" charset="-120"/>
              </a:rPr>
              <a:t>Scale all independent variables to comparable numeric ranges using min-max normalization or z-score standardization to prevent dominance by high-magnitude features</a:t>
            </a:r>
            <a:endParaRPr lang="en-US" sz="800" dirty="0"/>
          </a:p>
        </p:txBody>
      </p:sp>
      <p:sp>
        <p:nvSpPr>
          <p:cNvPr id="21" name="Text 19"/>
          <p:cNvSpPr/>
          <p:nvPr/>
        </p:nvSpPr>
        <p:spPr>
          <a:xfrm>
            <a:off x="6233262" y="4271268"/>
            <a:ext cx="215002" cy="134342"/>
          </a:xfrm>
          <a:prstGeom prst="rect">
            <a:avLst/>
          </a:prstGeom>
          <a:noFill/>
          <a:ln/>
        </p:spPr>
        <p:txBody>
          <a:bodyPr wrap="none" lIns="0" tIns="0" rIns="0" bIns="0" rtlCol="0" anchor="ctr"/>
          <a:lstStyle/>
          <a:p>
            <a:pPr algn="l" indent="0" marL="0">
              <a:lnSpc>
                <a:spcPct val="100000"/>
              </a:lnSpc>
              <a:buNone/>
            </a:pPr>
            <a:r>
              <a:rPr lang="en-US" sz="800" dirty="0">
                <a:solidFill>
                  <a:srgbClr val="3C3939"/>
                </a:solidFill>
                <a:latin typeface="Raleway Light" pitchFamily="34" charset="0"/>
                <a:ea typeface="Raleway Light" pitchFamily="34" charset="-122"/>
                <a:cs typeface="Raleway Light" pitchFamily="34" charset="-120"/>
              </a:rPr>
              <a:t>03</a:t>
            </a:r>
            <a:endParaRPr lang="en-US" sz="800" dirty="0"/>
          </a:p>
        </p:txBody>
      </p:sp>
      <p:sp>
        <p:nvSpPr>
          <p:cNvPr id="22" name="Shape 20"/>
          <p:cNvSpPr/>
          <p:nvPr/>
        </p:nvSpPr>
        <p:spPr>
          <a:xfrm>
            <a:off x="6233262" y="4441130"/>
            <a:ext cx="5303308" cy="12700"/>
          </a:xfrm>
          <a:prstGeom prst="rect">
            <a:avLst/>
          </a:prstGeom>
          <a:solidFill>
            <a:srgbClr val="1B1B27"/>
          </a:solidFill>
          <a:ln/>
        </p:spPr>
      </p:sp>
      <p:sp>
        <p:nvSpPr>
          <p:cNvPr id="23" name="Text 21"/>
          <p:cNvSpPr/>
          <p:nvPr/>
        </p:nvSpPr>
        <p:spPr>
          <a:xfrm>
            <a:off x="6233262" y="4520208"/>
            <a:ext cx="5303308" cy="167878"/>
          </a:xfrm>
          <a:prstGeom prst="rect">
            <a:avLst/>
          </a:prstGeom>
          <a:noFill/>
          <a:ln/>
        </p:spPr>
        <p:txBody>
          <a:bodyPr wrap="none" lIns="0" tIns="0" rIns="0" bIns="0" rtlCol="0" anchor="t"/>
          <a:lstStyle/>
          <a:p>
            <a:pPr algn="l" indent="0" marL="0">
              <a:lnSpc>
                <a:spcPct val="104000"/>
              </a:lnSpc>
              <a:buNone/>
            </a:pPr>
            <a:r>
              <a:rPr lang="en-US" sz="1050" dirty="0">
                <a:solidFill>
                  <a:srgbClr val="3C3939"/>
                </a:solidFill>
                <a:latin typeface="Raleway" pitchFamily="34" charset="0"/>
                <a:ea typeface="Raleway" pitchFamily="34" charset="-122"/>
                <a:cs typeface="Raleway" pitchFamily="34" charset="-120"/>
              </a:rPr>
              <a:t>Feature Selection</a:t>
            </a:r>
            <a:endParaRPr lang="en-US" sz="1050" dirty="0"/>
          </a:p>
        </p:txBody>
      </p:sp>
      <p:sp>
        <p:nvSpPr>
          <p:cNvPr id="24" name="Text 22"/>
          <p:cNvSpPr/>
          <p:nvPr/>
        </p:nvSpPr>
        <p:spPr>
          <a:xfrm>
            <a:off x="6233262" y="4757936"/>
            <a:ext cx="5303308" cy="283766"/>
          </a:xfrm>
          <a:prstGeom prst="rect">
            <a:avLst/>
          </a:prstGeom>
          <a:noFill/>
          <a:ln/>
        </p:spPr>
        <p:txBody>
          <a:bodyPr wrap="square" lIns="0" tIns="0" rIns="0" bIns="0" rtlCol="0" anchor="t">
            <a:normAutofit/>
          </a:bodyPr>
          <a:lstStyle/>
          <a:p>
            <a:pPr algn="l" indent="0" marL="0">
              <a:lnSpc>
                <a:spcPct val="110000"/>
              </a:lnSpc>
              <a:buNone/>
            </a:pPr>
            <a:r>
              <a:rPr lang="en-US" sz="800" dirty="0">
                <a:solidFill>
                  <a:srgbClr val="3C3939"/>
                </a:solidFill>
                <a:latin typeface="Roboto" pitchFamily="34" charset="0"/>
                <a:ea typeface="Roboto" pitchFamily="34" charset="-122"/>
                <a:cs typeface="Roboto" pitchFamily="34" charset="-120"/>
              </a:rPr>
              <a:t>Apply correlation analysis and statistical significance testing to identify the most predictive academic variables and eliminate redundant or low-information features</a:t>
            </a:r>
            <a:endParaRPr lang="en-US" sz="800" dirty="0"/>
          </a:p>
        </p:txBody>
      </p:sp>
      <p:sp>
        <p:nvSpPr>
          <p:cNvPr id="25" name="Text 23"/>
          <p:cNvSpPr/>
          <p:nvPr/>
        </p:nvSpPr>
        <p:spPr>
          <a:xfrm>
            <a:off x="6233262" y="5192117"/>
            <a:ext cx="215002" cy="134342"/>
          </a:xfrm>
          <a:prstGeom prst="rect">
            <a:avLst/>
          </a:prstGeom>
          <a:noFill/>
          <a:ln/>
        </p:spPr>
        <p:txBody>
          <a:bodyPr wrap="none" lIns="0" tIns="0" rIns="0" bIns="0" rtlCol="0" anchor="ctr"/>
          <a:lstStyle/>
          <a:p>
            <a:pPr algn="l" indent="0" marL="0">
              <a:lnSpc>
                <a:spcPct val="100000"/>
              </a:lnSpc>
              <a:buNone/>
            </a:pPr>
            <a:r>
              <a:rPr lang="en-US" sz="800" dirty="0">
                <a:solidFill>
                  <a:srgbClr val="3C3939"/>
                </a:solidFill>
                <a:latin typeface="Raleway Light" pitchFamily="34" charset="0"/>
                <a:ea typeface="Raleway Light" pitchFamily="34" charset="-122"/>
                <a:cs typeface="Raleway Light" pitchFamily="34" charset="-120"/>
              </a:rPr>
              <a:t>04</a:t>
            </a:r>
            <a:endParaRPr lang="en-US" sz="800" dirty="0"/>
          </a:p>
        </p:txBody>
      </p:sp>
      <p:sp>
        <p:nvSpPr>
          <p:cNvPr id="26" name="Shape 24"/>
          <p:cNvSpPr/>
          <p:nvPr/>
        </p:nvSpPr>
        <p:spPr>
          <a:xfrm>
            <a:off x="6233262" y="5361980"/>
            <a:ext cx="5303308" cy="12700"/>
          </a:xfrm>
          <a:prstGeom prst="rect">
            <a:avLst/>
          </a:prstGeom>
          <a:solidFill>
            <a:srgbClr val="1B1B27"/>
          </a:solidFill>
          <a:ln/>
        </p:spPr>
      </p:sp>
      <p:sp>
        <p:nvSpPr>
          <p:cNvPr id="27" name="Text 25"/>
          <p:cNvSpPr/>
          <p:nvPr/>
        </p:nvSpPr>
        <p:spPr>
          <a:xfrm>
            <a:off x="6233262" y="5441057"/>
            <a:ext cx="5303308" cy="167878"/>
          </a:xfrm>
          <a:prstGeom prst="rect">
            <a:avLst/>
          </a:prstGeom>
          <a:noFill/>
          <a:ln/>
        </p:spPr>
        <p:txBody>
          <a:bodyPr wrap="none" lIns="0" tIns="0" rIns="0" bIns="0" rtlCol="0" anchor="t"/>
          <a:lstStyle/>
          <a:p>
            <a:pPr algn="l" indent="0" marL="0">
              <a:lnSpc>
                <a:spcPct val="104000"/>
              </a:lnSpc>
              <a:buNone/>
            </a:pPr>
            <a:r>
              <a:rPr lang="en-US" sz="1050" dirty="0">
                <a:solidFill>
                  <a:srgbClr val="3C3939"/>
                </a:solidFill>
                <a:latin typeface="Raleway" pitchFamily="34" charset="0"/>
                <a:ea typeface="Raleway" pitchFamily="34" charset="-122"/>
                <a:cs typeface="Raleway" pitchFamily="34" charset="-120"/>
              </a:rPr>
              <a:t>Feature Engineering</a:t>
            </a:r>
            <a:endParaRPr lang="en-US" sz="1050" dirty="0"/>
          </a:p>
        </p:txBody>
      </p:sp>
      <p:sp>
        <p:nvSpPr>
          <p:cNvPr id="28" name="Text 26"/>
          <p:cNvSpPr/>
          <p:nvPr/>
        </p:nvSpPr>
        <p:spPr>
          <a:xfrm>
            <a:off x="6233262" y="5678785"/>
            <a:ext cx="5303308" cy="283766"/>
          </a:xfrm>
          <a:prstGeom prst="rect">
            <a:avLst/>
          </a:prstGeom>
          <a:noFill/>
          <a:ln/>
        </p:spPr>
        <p:txBody>
          <a:bodyPr wrap="square" lIns="0" tIns="0" rIns="0" bIns="0" rtlCol="0" anchor="t">
            <a:normAutofit/>
          </a:bodyPr>
          <a:lstStyle/>
          <a:p>
            <a:pPr algn="l" indent="0" marL="0">
              <a:lnSpc>
                <a:spcPct val="110000"/>
              </a:lnSpc>
              <a:buNone/>
            </a:pPr>
            <a:r>
              <a:rPr lang="en-US" sz="800" dirty="0">
                <a:solidFill>
                  <a:srgbClr val="3C3939"/>
                </a:solidFill>
                <a:latin typeface="Roboto" pitchFamily="34" charset="0"/>
                <a:ea typeface="Roboto" pitchFamily="34" charset="-122"/>
                <a:cs typeface="Roboto" pitchFamily="34" charset="-120"/>
              </a:rPr>
              <a:t>Construct composite indicators (e.g., weighted assessment scores, engagement indices) and encode categorical variables for inclusion in the regression model</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61475" y="1046163"/>
            <a:ext cx="624666" cy="176014"/>
          </a:xfrm>
          <a:prstGeom prst="roundRect">
            <a:avLst>
              <a:gd name="adj" fmla="val 22101"/>
            </a:avLst>
          </a:prstGeom>
          <a:solidFill>
            <a:srgbClr val="E1E1EA"/>
          </a:solidFill>
          <a:ln/>
        </p:spPr>
      </p:sp>
      <p:sp>
        <p:nvSpPr>
          <p:cNvPr id="3" name="Text 1"/>
          <p:cNvSpPr/>
          <p:nvPr/>
        </p:nvSpPr>
        <p:spPr>
          <a:xfrm>
            <a:off x="730926" y="1080889"/>
            <a:ext cx="1095348" cy="106561"/>
          </a:xfrm>
          <a:prstGeom prst="rect">
            <a:avLst/>
          </a:prstGeom>
          <a:noFill/>
          <a:ln/>
        </p:spPr>
        <p:txBody>
          <a:bodyPr wrap="none" lIns="0" tIns="0" rIns="0" bIns="0" rtlCol="0" anchor="t"/>
          <a:lstStyle/>
          <a:p>
            <a:pPr algn="l" indent="0" marL="0">
              <a:lnSpc>
                <a:spcPct val="96000"/>
              </a:lnSpc>
              <a:buNone/>
            </a:pPr>
            <a:r>
              <a:rPr lang="en-US" sz="700" dirty="0">
                <a:solidFill>
                  <a:srgbClr val="3C3939"/>
                </a:solidFill>
                <a:latin typeface="Roboto" pitchFamily="34" charset="0"/>
                <a:ea typeface="Roboto" pitchFamily="34" charset="-122"/>
                <a:cs typeface="Roboto" pitchFamily="34" charset="-120"/>
              </a:rPr>
              <a:t>CHAPTER 5</a:t>
            </a:r>
            <a:endParaRPr lang="en-US" sz="700" dirty="0"/>
          </a:p>
        </p:txBody>
      </p:sp>
      <p:sp>
        <p:nvSpPr>
          <p:cNvPr id="4" name="Text 2"/>
          <p:cNvSpPr/>
          <p:nvPr/>
        </p:nvSpPr>
        <p:spPr>
          <a:xfrm>
            <a:off x="661475" y="1254522"/>
            <a:ext cx="10868745" cy="361752"/>
          </a:xfrm>
          <a:prstGeom prst="rect">
            <a:avLst/>
          </a:prstGeom>
          <a:noFill/>
          <a:ln/>
        </p:spPr>
        <p:txBody>
          <a:bodyPr wrap="none" lIns="0" tIns="0" rIns="0" bIns="0" rtlCol="0" anchor="t"/>
          <a:lstStyle/>
          <a:p>
            <a:pPr algn="l" indent="0" marL="0">
              <a:lnSpc>
                <a:spcPct val="104000"/>
              </a:lnSpc>
              <a:buNone/>
            </a:pPr>
            <a:r>
              <a:rPr lang="en-US" sz="2250" dirty="0">
                <a:solidFill>
                  <a:srgbClr val="1B1B27"/>
                </a:solidFill>
                <a:latin typeface="Raleway" pitchFamily="34" charset="0"/>
                <a:ea typeface="Raleway" pitchFamily="34" charset="-122"/>
                <a:cs typeface="Raleway" pitchFamily="34" charset="-120"/>
              </a:rPr>
              <a:t>Multi-Variable Regression Methodology</a:t>
            </a:r>
            <a:endParaRPr lang="en-US" sz="2250" dirty="0"/>
          </a:p>
        </p:txBody>
      </p:sp>
      <p:sp>
        <p:nvSpPr>
          <p:cNvPr id="5" name="Text 3"/>
          <p:cNvSpPr/>
          <p:nvPr/>
        </p:nvSpPr>
        <p:spPr>
          <a:xfrm>
            <a:off x="661475" y="1737816"/>
            <a:ext cx="10868745" cy="31492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3C3939"/>
                </a:solidFill>
                <a:latin typeface="Roboto" pitchFamily="34" charset="0"/>
                <a:ea typeface="Roboto" pitchFamily="34" charset="-122"/>
                <a:cs typeface="Roboto" pitchFamily="34" charset="-120"/>
              </a:rPr>
              <a:t>The analytical core of the system is a </a:t>
            </a:r>
            <a:pPr algn="l" indent="0" marL="0">
              <a:lnSpc>
                <a:spcPct val="113000"/>
              </a:lnSpc>
              <a:buNone/>
            </a:pPr>
            <a:r>
              <a:rPr lang="en-US" sz="900" b="1" dirty="0">
                <a:solidFill>
                  <a:srgbClr val="3C3939"/>
                </a:solidFill>
                <a:latin typeface="Roboto Bold" pitchFamily="34" charset="0"/>
                <a:ea typeface="Roboto Bold" pitchFamily="34" charset="-122"/>
                <a:cs typeface="Roboto Bold" pitchFamily="34" charset="-120"/>
              </a:rPr>
              <a:t>multi-variable regression model</a:t>
            </a:r>
            <a:pPr algn="l" indent="0" marL="0">
              <a:lnSpc>
                <a:spcPct val="113000"/>
              </a:lnSpc>
              <a:buNone/>
            </a:pPr>
            <a:r>
              <a:rPr lang="en-US" sz="900" dirty="0">
                <a:solidFill>
                  <a:srgbClr val="3C3939"/>
                </a:solidFill>
                <a:latin typeface="Roboto" pitchFamily="34" charset="0"/>
                <a:ea typeface="Roboto" pitchFamily="34" charset="-122"/>
                <a:cs typeface="Roboto" pitchFamily="34" charset="-120"/>
              </a:rPr>
              <a:t> that maps measurable academic inputs to a predicted final performance score. The model is trained on historical student data, learns the statistical weight of each contributing factor, and applies those weights to predict outcomes for current students.</a:t>
            </a:r>
            <a:endParaRPr lang="en-US" sz="900" dirty="0"/>
          </a:p>
        </p:txBody>
      </p:sp>
      <p:sp>
        <p:nvSpPr>
          <p:cNvPr id="6" name="Text 4"/>
          <p:cNvSpPr/>
          <p:nvPr/>
        </p:nvSpPr>
        <p:spPr>
          <a:xfrm>
            <a:off x="835103" y="2265363"/>
            <a:ext cx="10695117" cy="180876"/>
          </a:xfrm>
          <a:prstGeom prst="rect">
            <a:avLst/>
          </a:prstGeom>
          <a:noFill/>
          <a:ln/>
        </p:spPr>
        <p:txBody>
          <a:bodyPr wrap="none" lIns="0" tIns="0" rIns="0" bIns="0" rtlCol="0" anchor="t"/>
          <a:lstStyle/>
          <a:p>
            <a:pPr algn="l" indent="0" marL="0">
              <a:lnSpc>
                <a:spcPct val="104000"/>
              </a:lnSpc>
              <a:buNone/>
            </a:pPr>
            <a:r>
              <a:rPr lang="en-US" sz="1100" dirty="0">
                <a:solidFill>
                  <a:srgbClr val="1B1B27"/>
                </a:solidFill>
                <a:latin typeface="Raleway" pitchFamily="34" charset="0"/>
                <a:ea typeface="Raleway" pitchFamily="34" charset="-122"/>
                <a:cs typeface="Raleway" pitchFamily="34" charset="-120"/>
              </a:rPr>
              <a:t>Core Regression Equation</a:t>
            </a:r>
            <a:endParaRPr lang="en-US" sz="1100" dirty="0"/>
          </a:p>
        </p:txBody>
      </p:sp>
      <p:sp>
        <p:nvSpPr>
          <p:cNvPr id="7" name="Text 5"/>
          <p:cNvSpPr/>
          <p:nvPr/>
        </p:nvSpPr>
        <p:spPr>
          <a:xfrm>
            <a:off x="835103" y="2567781"/>
            <a:ext cx="10695117" cy="406003"/>
          </a:xfrm>
          <a:prstGeom prst="rect">
            <a:avLst/>
          </a:prstGeom>
          <a:noFill/>
          <a:ln/>
        </p:spPr>
        <p:txBody>
          <a:bodyPr wrap="square" lIns="0" tIns="0" rIns="0" bIns="0" rtlCol="0" anchor="t"/>
          <a:lstStyle/>
          <a:p>
            <a:pPr algn="l" indent="0" marL="0">
              <a:lnSpc>
                <a:spcPct val="113000"/>
              </a:lnSpc>
              <a:spcAft>
                <a:spcPts val="700"/>
              </a:spcAft>
              <a:buNone/>
            </a:pPr>
            <a:r>
              <a:rPr lang="en-US" sz="900" b="1" dirty="0">
                <a:solidFill>
                  <a:srgbClr val="3C3939"/>
                </a:solidFill>
                <a:latin typeface="Roboto Bold" pitchFamily="34" charset="0"/>
                <a:ea typeface="Roboto Bold" pitchFamily="34" charset="-122"/>
                <a:cs typeface="Roboto Bold" pitchFamily="34" charset="-120"/>
              </a:rPr>
              <a:t>Final Performance = β₀ + β₁(Attendance) + β₂(Internal Marks) + β₃(Assignments) + β₄(Study Hours) + β₅(Participation) + β₆(Previous Performance) + ε</a:t>
            </a:r>
            <a:endParaRPr lang="en-US" sz="900" dirty="0"/>
          </a:p>
          <a:p>
            <a:pPr algn="l" indent="0" marL="0">
              <a:lnSpc>
                <a:spcPct val="113000"/>
              </a:lnSpc>
              <a:buNone/>
            </a:pPr>
            <a:r>
              <a:rPr lang="en-US" sz="900" dirty="0">
                <a:solidFill>
                  <a:srgbClr val="3C3939"/>
                </a:solidFill>
                <a:latin typeface="Roboto" pitchFamily="34" charset="0"/>
                <a:ea typeface="Roboto" pitchFamily="34" charset="-122"/>
                <a:cs typeface="Roboto" pitchFamily="34" charset="-120"/>
              </a:rPr>
              <a:t>Where β₀ is the intercept, β₁–β₆ are learned regression coefficients representing the marginal influence of each academic factor, and ε is the residual error term capturing unexplained variance.</a:t>
            </a:r>
            <a:endParaRPr lang="en-US" sz="900" dirty="0"/>
          </a:p>
        </p:txBody>
      </p:sp>
      <p:sp>
        <p:nvSpPr>
          <p:cNvPr id="8" name="Shape 6"/>
          <p:cNvSpPr/>
          <p:nvPr/>
        </p:nvSpPr>
        <p:spPr>
          <a:xfrm>
            <a:off x="661475" y="2143820"/>
            <a:ext cx="12700" cy="921048"/>
          </a:xfrm>
          <a:prstGeom prst="roundRect">
            <a:avLst>
              <a:gd name="adj" fmla="val 49999"/>
            </a:avLst>
          </a:prstGeom>
          <a:solidFill>
            <a:srgbClr val="1B1B27"/>
          </a:solidFill>
          <a:ln/>
        </p:spPr>
      </p:sp>
      <p:sp>
        <p:nvSpPr>
          <p:cNvPr id="9" name="Text 7"/>
          <p:cNvSpPr/>
          <p:nvPr/>
        </p:nvSpPr>
        <p:spPr>
          <a:xfrm>
            <a:off x="661475" y="3236913"/>
            <a:ext cx="5293188" cy="180876"/>
          </a:xfrm>
          <a:prstGeom prst="rect">
            <a:avLst/>
          </a:prstGeom>
          <a:noFill/>
          <a:ln/>
        </p:spPr>
        <p:txBody>
          <a:bodyPr wrap="none" lIns="0" tIns="0" rIns="0" bIns="0" rtlCol="0" anchor="t"/>
          <a:lstStyle/>
          <a:p>
            <a:pPr algn="l" indent="0" marL="0">
              <a:lnSpc>
                <a:spcPct val="104000"/>
              </a:lnSpc>
              <a:buNone/>
            </a:pPr>
            <a:r>
              <a:rPr lang="en-US" sz="1100" dirty="0">
                <a:solidFill>
                  <a:srgbClr val="1B1B27"/>
                </a:solidFill>
                <a:latin typeface="Raleway" pitchFamily="34" charset="0"/>
                <a:ea typeface="Raleway" pitchFamily="34" charset="-122"/>
                <a:cs typeface="Raleway" pitchFamily="34" charset="-120"/>
              </a:rPr>
              <a:t>Model Training</a:t>
            </a:r>
            <a:endParaRPr lang="en-US" sz="1100" dirty="0"/>
          </a:p>
        </p:txBody>
      </p:sp>
      <p:sp>
        <p:nvSpPr>
          <p:cNvPr id="10" name="Text 8"/>
          <p:cNvSpPr/>
          <p:nvPr/>
        </p:nvSpPr>
        <p:spPr>
          <a:xfrm>
            <a:off x="661475" y="3498751"/>
            <a:ext cx="5293188" cy="629841"/>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3C3939"/>
                </a:solidFill>
                <a:latin typeface="Roboto" pitchFamily="34" charset="0"/>
                <a:ea typeface="Roboto" pitchFamily="34" charset="-122"/>
                <a:cs typeface="Roboto" pitchFamily="34" charset="-120"/>
              </a:rPr>
              <a:t>The regression model is fit on a historical academic dataset using </a:t>
            </a:r>
            <a:pPr algn="l" indent="0" marL="0">
              <a:lnSpc>
                <a:spcPct val="113000"/>
              </a:lnSpc>
              <a:buNone/>
            </a:pPr>
            <a:r>
              <a:rPr lang="en-US" sz="900" b="1" dirty="0">
                <a:solidFill>
                  <a:srgbClr val="3C3939"/>
                </a:solidFill>
                <a:latin typeface="Roboto Bold" pitchFamily="34" charset="0"/>
                <a:ea typeface="Roboto Bold" pitchFamily="34" charset="-122"/>
                <a:cs typeface="Roboto Bold" pitchFamily="34" charset="-120"/>
              </a:rPr>
              <a:t>Ordinary Least Squares (OLS)</a:t>
            </a:r>
            <a:pPr algn="l" indent="0" marL="0">
              <a:lnSpc>
                <a:spcPct val="113000"/>
              </a:lnSpc>
              <a:buNone/>
            </a:pPr>
            <a:r>
              <a:rPr lang="en-US" sz="900" dirty="0">
                <a:solidFill>
                  <a:srgbClr val="3C3939"/>
                </a:solidFill>
                <a:latin typeface="Roboto" pitchFamily="34" charset="0"/>
                <a:ea typeface="Roboto" pitchFamily="34" charset="-122"/>
                <a:cs typeface="Roboto" pitchFamily="34" charset="-120"/>
              </a:rPr>
              <a:t> estimation, which minimizes the sum of squared residuals between predicted and actual performance values. The resulting β coefficients quantify how much final performance changes with each unit change in a given academic factor, holding all others constant.</a:t>
            </a:r>
            <a:endParaRPr lang="en-US" sz="900" dirty="0"/>
          </a:p>
        </p:txBody>
      </p:sp>
      <p:sp>
        <p:nvSpPr>
          <p:cNvPr id="11" name="Text 9"/>
          <p:cNvSpPr/>
          <p:nvPr/>
        </p:nvSpPr>
        <p:spPr>
          <a:xfrm>
            <a:off x="661475" y="4209554"/>
            <a:ext cx="5293188" cy="180876"/>
          </a:xfrm>
          <a:prstGeom prst="rect">
            <a:avLst/>
          </a:prstGeom>
          <a:noFill/>
          <a:ln/>
        </p:spPr>
        <p:txBody>
          <a:bodyPr wrap="none" lIns="0" tIns="0" rIns="0" bIns="0" rtlCol="0" anchor="t"/>
          <a:lstStyle/>
          <a:p>
            <a:pPr algn="l" indent="0" marL="0">
              <a:lnSpc>
                <a:spcPct val="104000"/>
              </a:lnSpc>
              <a:buNone/>
            </a:pPr>
            <a:r>
              <a:rPr lang="en-US" sz="1100" dirty="0">
                <a:solidFill>
                  <a:srgbClr val="1B1B27"/>
                </a:solidFill>
                <a:latin typeface="Raleway" pitchFamily="34" charset="0"/>
                <a:ea typeface="Raleway" pitchFamily="34" charset="-122"/>
                <a:cs typeface="Raleway" pitchFamily="34" charset="-120"/>
              </a:rPr>
              <a:t>Relationship Analysis</a:t>
            </a:r>
            <a:endParaRPr lang="en-US" sz="1100" dirty="0"/>
          </a:p>
        </p:txBody>
      </p:sp>
      <p:sp>
        <p:nvSpPr>
          <p:cNvPr id="12" name="Text 10"/>
          <p:cNvSpPr/>
          <p:nvPr/>
        </p:nvSpPr>
        <p:spPr>
          <a:xfrm>
            <a:off x="661475" y="4471392"/>
            <a:ext cx="5293188" cy="47238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3C3939"/>
                </a:solidFill>
                <a:latin typeface="Roboto" pitchFamily="34" charset="0"/>
                <a:ea typeface="Roboto" pitchFamily="34" charset="-122"/>
                <a:cs typeface="Roboto" pitchFamily="34" charset="-120"/>
              </a:rPr>
              <a:t>Regression coefficients provide direct interpretability: a high positive β for </a:t>
            </a:r>
            <a:pPr algn="l" indent="0" marL="0">
              <a:lnSpc>
                <a:spcPct val="113000"/>
              </a:lnSpc>
              <a:buNone/>
            </a:pPr>
            <a:r>
              <a:rPr lang="en-US" sz="900" i="1" dirty="0">
                <a:solidFill>
                  <a:srgbClr val="3C3939"/>
                </a:solidFill>
                <a:latin typeface="Roboto" pitchFamily="34" charset="0"/>
                <a:ea typeface="Roboto" pitchFamily="34" charset="-122"/>
                <a:cs typeface="Roboto" pitchFamily="34" charset="-120"/>
              </a:rPr>
              <a:t>Internal Marks</a:t>
            </a:r>
            <a:pPr algn="l" indent="0" marL="0">
              <a:lnSpc>
                <a:spcPct val="113000"/>
              </a:lnSpc>
              <a:buNone/>
            </a:pPr>
            <a:r>
              <a:rPr lang="en-US" sz="900" dirty="0">
                <a:solidFill>
                  <a:srgbClr val="3C3939"/>
                </a:solidFill>
                <a:latin typeface="Roboto" pitchFamily="34" charset="0"/>
                <a:ea typeface="Roboto" pitchFamily="34" charset="-122"/>
                <a:cs typeface="Roboto" pitchFamily="34" charset="-120"/>
              </a:rPr>
              <a:t> confirms a strong association with final outcomes, while a near-zero coefficient for a variable may indicate low predictive value. This helps institutions prioritize which academic behaviors to monitor and reinforce.</a:t>
            </a:r>
            <a:endParaRPr lang="en-US" sz="900" dirty="0"/>
          </a:p>
        </p:txBody>
      </p:sp>
      <p:sp>
        <p:nvSpPr>
          <p:cNvPr id="13" name="Shape 11"/>
          <p:cNvSpPr/>
          <p:nvPr/>
        </p:nvSpPr>
        <p:spPr>
          <a:xfrm>
            <a:off x="6160040" y="3155950"/>
            <a:ext cx="5459871" cy="2655788"/>
          </a:xfrm>
          <a:prstGeom prst="roundRect">
            <a:avLst>
              <a:gd name="adj" fmla="val 3139"/>
            </a:avLst>
          </a:prstGeom>
          <a:solidFill>
            <a:srgbClr val="1B1B27">
              <a:alpha val="95000"/>
            </a:srgbClr>
          </a:solidFill>
          <a:ln/>
        </p:spPr>
      </p:sp>
      <p:sp>
        <p:nvSpPr>
          <p:cNvPr id="14" name="Text 12"/>
          <p:cNvSpPr/>
          <p:nvPr/>
        </p:nvSpPr>
        <p:spPr>
          <a:xfrm>
            <a:off x="6275727" y="3236913"/>
            <a:ext cx="5228499" cy="180876"/>
          </a:xfrm>
          <a:prstGeom prst="rect">
            <a:avLst/>
          </a:prstGeom>
          <a:noFill/>
          <a:ln/>
        </p:spPr>
        <p:txBody>
          <a:bodyPr wrap="none" lIns="0" tIns="0" rIns="0" bIns="0" rtlCol="0" anchor="t"/>
          <a:lstStyle/>
          <a:p>
            <a:pPr algn="l" indent="0" marL="0">
              <a:lnSpc>
                <a:spcPct val="104000"/>
              </a:lnSpc>
              <a:buNone/>
            </a:pPr>
            <a:r>
              <a:rPr lang="en-US" sz="1100" dirty="0">
                <a:solidFill>
                  <a:srgbClr val="FFFFFF"/>
                </a:solidFill>
                <a:latin typeface="Raleway" pitchFamily="34" charset="0"/>
                <a:ea typeface="Raleway" pitchFamily="34" charset="-122"/>
                <a:cs typeface="Raleway" pitchFamily="34" charset="-120"/>
              </a:rPr>
              <a:t>Advanced Regression Approaches</a:t>
            </a:r>
            <a:endParaRPr lang="en-US" sz="1100" dirty="0"/>
          </a:p>
        </p:txBody>
      </p:sp>
      <p:pic>
        <p:nvPicPr>
          <p:cNvPr id="1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319084" y="3512393"/>
            <a:ext cx="173628" cy="173633"/>
          </a:xfrm>
          <a:prstGeom prst="rect">
            <a:avLst/>
          </a:prstGeom>
        </p:spPr>
      </p:pic>
      <p:sp>
        <p:nvSpPr>
          <p:cNvPr id="16" name="Text 13"/>
          <p:cNvSpPr/>
          <p:nvPr/>
        </p:nvSpPr>
        <p:spPr>
          <a:xfrm>
            <a:off x="6651855" y="3508871"/>
            <a:ext cx="4852370" cy="180876"/>
          </a:xfrm>
          <a:prstGeom prst="rect">
            <a:avLst/>
          </a:prstGeom>
          <a:noFill/>
          <a:ln/>
        </p:spPr>
        <p:txBody>
          <a:bodyPr wrap="none" lIns="0" tIns="0" rIns="0" bIns="0" rtlCol="0" anchor="t"/>
          <a:lstStyle/>
          <a:p>
            <a:pPr algn="l" indent="0" marL="0">
              <a:lnSpc>
                <a:spcPct val="104000"/>
              </a:lnSpc>
              <a:buNone/>
            </a:pPr>
            <a:r>
              <a:rPr lang="en-US" sz="1100" dirty="0">
                <a:solidFill>
                  <a:srgbClr val="FFFFFF"/>
                </a:solidFill>
                <a:latin typeface="Raleway" pitchFamily="34" charset="0"/>
                <a:ea typeface="Raleway" pitchFamily="34" charset="-122"/>
                <a:cs typeface="Raleway" pitchFamily="34" charset="-120"/>
              </a:rPr>
              <a:t>Polynomial Regression</a:t>
            </a:r>
            <a:endParaRPr lang="en-US" sz="1100" dirty="0"/>
          </a:p>
        </p:txBody>
      </p:sp>
      <p:sp>
        <p:nvSpPr>
          <p:cNvPr id="17" name="Text 14"/>
          <p:cNvSpPr/>
          <p:nvPr/>
        </p:nvSpPr>
        <p:spPr>
          <a:xfrm>
            <a:off x="6651855" y="3770709"/>
            <a:ext cx="4852370" cy="47238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FFFFFF"/>
                </a:solidFill>
                <a:latin typeface="Roboto" pitchFamily="34" charset="0"/>
                <a:ea typeface="Roboto" pitchFamily="34" charset="-122"/>
                <a:cs typeface="Roboto" pitchFamily="34" charset="-120"/>
              </a:rPr>
              <a:t>Captures non-linear relationships between academic factors and performance, accommodating diminishing returns or threshold effects (e.g., attendance beyond a point yielding marginal gains)</a:t>
            </a:r>
            <a:endParaRPr lang="en-US" sz="900" dirty="0"/>
          </a:p>
        </p:txBody>
      </p:sp>
      <p:pic>
        <p:nvPicPr>
          <p:cNvPr id="1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19084" y="4408636"/>
            <a:ext cx="173628" cy="173633"/>
          </a:xfrm>
          <a:prstGeom prst="rect">
            <a:avLst/>
          </a:prstGeom>
        </p:spPr>
      </p:pic>
      <p:sp>
        <p:nvSpPr>
          <p:cNvPr id="19" name="Text 15"/>
          <p:cNvSpPr/>
          <p:nvPr/>
        </p:nvSpPr>
        <p:spPr>
          <a:xfrm>
            <a:off x="6651855" y="4405114"/>
            <a:ext cx="4852370" cy="180876"/>
          </a:xfrm>
          <a:prstGeom prst="rect">
            <a:avLst/>
          </a:prstGeom>
          <a:noFill/>
          <a:ln/>
        </p:spPr>
        <p:txBody>
          <a:bodyPr wrap="none" lIns="0" tIns="0" rIns="0" bIns="0" rtlCol="0" anchor="t"/>
          <a:lstStyle/>
          <a:p>
            <a:pPr algn="l" indent="0" marL="0">
              <a:lnSpc>
                <a:spcPct val="104000"/>
              </a:lnSpc>
              <a:buNone/>
            </a:pPr>
            <a:r>
              <a:rPr lang="en-US" sz="1100" dirty="0">
                <a:solidFill>
                  <a:srgbClr val="FFFFFF"/>
                </a:solidFill>
                <a:latin typeface="Raleway" pitchFamily="34" charset="0"/>
                <a:ea typeface="Raleway" pitchFamily="34" charset="-122"/>
                <a:cs typeface="Raleway" pitchFamily="34" charset="-120"/>
              </a:rPr>
              <a:t>Ridge Regression (L2 Regularization)</a:t>
            </a:r>
            <a:endParaRPr lang="en-US" sz="1100" dirty="0"/>
          </a:p>
        </p:txBody>
      </p:sp>
      <p:sp>
        <p:nvSpPr>
          <p:cNvPr id="20" name="Text 16"/>
          <p:cNvSpPr/>
          <p:nvPr/>
        </p:nvSpPr>
        <p:spPr>
          <a:xfrm>
            <a:off x="6651855" y="4666952"/>
            <a:ext cx="4852370" cy="31492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FFFFFF"/>
                </a:solidFill>
                <a:latin typeface="Roboto" pitchFamily="34" charset="0"/>
                <a:ea typeface="Roboto" pitchFamily="34" charset="-122"/>
                <a:cs typeface="Roboto" pitchFamily="34" charset="-120"/>
              </a:rPr>
              <a:t>Adds a penalty on large coefficients to reduce overfitting — particularly useful when academic features exhibit multicollinearity (e.g., study hours and internal marks are correlated)</a:t>
            </a:r>
            <a:endParaRPr lang="en-US" sz="900" dirty="0"/>
          </a:p>
        </p:txBody>
      </p:sp>
      <p:pic>
        <p:nvPicPr>
          <p:cNvPr id="2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19084" y="5147419"/>
            <a:ext cx="173628" cy="173633"/>
          </a:xfrm>
          <a:prstGeom prst="rect">
            <a:avLst/>
          </a:prstGeom>
        </p:spPr>
      </p:pic>
      <p:sp>
        <p:nvSpPr>
          <p:cNvPr id="22" name="Text 17"/>
          <p:cNvSpPr/>
          <p:nvPr/>
        </p:nvSpPr>
        <p:spPr>
          <a:xfrm>
            <a:off x="6651855" y="5143897"/>
            <a:ext cx="4852370" cy="180876"/>
          </a:xfrm>
          <a:prstGeom prst="rect">
            <a:avLst/>
          </a:prstGeom>
          <a:noFill/>
          <a:ln/>
        </p:spPr>
        <p:txBody>
          <a:bodyPr wrap="none" lIns="0" tIns="0" rIns="0" bIns="0" rtlCol="0" anchor="t"/>
          <a:lstStyle/>
          <a:p>
            <a:pPr algn="l" indent="0" marL="0">
              <a:lnSpc>
                <a:spcPct val="104000"/>
              </a:lnSpc>
              <a:buNone/>
            </a:pPr>
            <a:r>
              <a:rPr lang="en-US" sz="1100" dirty="0">
                <a:solidFill>
                  <a:srgbClr val="FFFFFF"/>
                </a:solidFill>
                <a:latin typeface="Raleway" pitchFamily="34" charset="0"/>
                <a:ea typeface="Raleway" pitchFamily="34" charset="-122"/>
                <a:cs typeface="Raleway" pitchFamily="34" charset="-120"/>
              </a:rPr>
              <a:t>Lasso Regression (L1 Regularization)</a:t>
            </a:r>
            <a:endParaRPr lang="en-US" sz="1100" dirty="0"/>
          </a:p>
        </p:txBody>
      </p:sp>
      <p:sp>
        <p:nvSpPr>
          <p:cNvPr id="23" name="Text 18"/>
          <p:cNvSpPr/>
          <p:nvPr/>
        </p:nvSpPr>
        <p:spPr>
          <a:xfrm>
            <a:off x="6651855" y="5405735"/>
            <a:ext cx="4852370" cy="31492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FFFFFF"/>
                </a:solidFill>
                <a:latin typeface="Roboto" pitchFamily="34" charset="0"/>
                <a:ea typeface="Roboto" pitchFamily="34" charset="-122"/>
                <a:cs typeface="Roboto" pitchFamily="34" charset="-120"/>
              </a:rPr>
              <a:t>Performs automatic feature selection by shrinking irrelevant coefficients to zero, producing a sparse model that highlights only the most influential academic predictors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61475" y="484088"/>
            <a:ext cx="362239" cy="102096"/>
          </a:xfrm>
          <a:prstGeom prst="roundRect">
            <a:avLst>
              <a:gd name="adj" fmla="val 22112"/>
            </a:avLst>
          </a:prstGeom>
          <a:solidFill>
            <a:srgbClr val="E1E1EA"/>
          </a:solidFill>
          <a:ln/>
        </p:spPr>
      </p:sp>
      <p:sp>
        <p:nvSpPr>
          <p:cNvPr id="3" name="Text 1"/>
          <p:cNvSpPr/>
          <p:nvPr/>
        </p:nvSpPr>
        <p:spPr>
          <a:xfrm>
            <a:off x="701757" y="504230"/>
            <a:ext cx="891260" cy="61813"/>
          </a:xfrm>
          <a:prstGeom prst="rect">
            <a:avLst/>
          </a:prstGeom>
          <a:noFill/>
          <a:ln/>
        </p:spPr>
        <p:txBody>
          <a:bodyPr wrap="none" lIns="0" tIns="0" rIns="0" bIns="0" rtlCol="0" anchor="t"/>
          <a:lstStyle/>
          <a:p>
            <a:pPr algn="l" indent="0" marL="0">
              <a:lnSpc>
                <a:spcPct val="96000"/>
              </a:lnSpc>
              <a:buNone/>
            </a:pPr>
            <a:r>
              <a:rPr lang="en-US" sz="400" dirty="0">
                <a:solidFill>
                  <a:srgbClr val="3C3939"/>
                </a:solidFill>
                <a:latin typeface="Roboto" pitchFamily="34" charset="0"/>
                <a:ea typeface="Roboto" pitchFamily="34" charset="-122"/>
                <a:cs typeface="Roboto" pitchFamily="34" charset="-120"/>
              </a:rPr>
              <a:t>CHAPTER 6</a:t>
            </a:r>
            <a:endParaRPr lang="en-US" sz="400" dirty="0"/>
          </a:p>
        </p:txBody>
      </p:sp>
      <p:sp>
        <p:nvSpPr>
          <p:cNvPr id="4" name="Text 2"/>
          <p:cNvSpPr/>
          <p:nvPr/>
        </p:nvSpPr>
        <p:spPr>
          <a:xfrm>
            <a:off x="661475" y="597098"/>
            <a:ext cx="10868745" cy="209947"/>
          </a:xfrm>
          <a:prstGeom prst="rect">
            <a:avLst/>
          </a:prstGeom>
          <a:noFill/>
          <a:ln/>
        </p:spPr>
        <p:txBody>
          <a:bodyPr wrap="none" lIns="0" tIns="0" rIns="0" bIns="0" rtlCol="0" anchor="t"/>
          <a:lstStyle/>
          <a:p>
            <a:pPr algn="l" indent="0" marL="0">
              <a:lnSpc>
                <a:spcPct val="104000"/>
              </a:lnSpc>
              <a:buNone/>
            </a:pPr>
            <a:r>
              <a:rPr lang="en-US" sz="1300" dirty="0">
                <a:solidFill>
                  <a:srgbClr val="1B1B27"/>
                </a:solidFill>
                <a:latin typeface="Raleway" pitchFamily="34" charset="0"/>
                <a:ea typeface="Raleway" pitchFamily="34" charset="-122"/>
                <a:cs typeface="Raleway" pitchFamily="34" charset="-120"/>
              </a:rPr>
              <a:t>System Architecture &amp; Workflow</a:t>
            </a:r>
            <a:endParaRPr lang="en-US" sz="1300" dirty="0"/>
          </a:p>
        </p:txBody>
      </p:sp>
      <p:sp>
        <p:nvSpPr>
          <p:cNvPr id="5" name="Text 3"/>
          <p:cNvSpPr/>
          <p:nvPr/>
        </p:nvSpPr>
        <p:spPr>
          <a:xfrm>
            <a:off x="661475" y="847923"/>
            <a:ext cx="11478330" cy="75505"/>
          </a:xfrm>
          <a:prstGeom prst="rect">
            <a:avLst/>
          </a:prstGeom>
          <a:noFill/>
          <a:ln/>
        </p:spPr>
        <p:txBody>
          <a:bodyPr wrap="none" lIns="0" tIns="0" rIns="0" bIns="0" rtlCol="0" anchor="t"/>
          <a:lstStyle/>
          <a:p>
            <a:pPr algn="l" indent="0" marL="0">
              <a:lnSpc>
                <a:spcPct val="94000"/>
              </a:lnSpc>
              <a:buNone/>
            </a:pPr>
            <a:r>
              <a:rPr lang="en-US" sz="500" dirty="0">
                <a:solidFill>
                  <a:srgbClr val="3C3939"/>
                </a:solidFill>
                <a:latin typeface="Roboto" pitchFamily="34" charset="0"/>
                <a:ea typeface="Roboto" pitchFamily="34" charset="-122"/>
                <a:cs typeface="Roboto" pitchFamily="34" charset="-120"/>
              </a:rPr>
              <a:t>The proposed system is organized into four functional layers, each responsible for a distinct phase of the data-to-insight pipeline. Together, they enable continuous, automated academic performance analysis from raw institutional data to faculty-facing dashboards and alerts.</a:t>
            </a:r>
            <a:endParaRPr lang="en-US" sz="500" dirty="0"/>
          </a:p>
        </p:txBody>
      </p:sp>
      <p:pic>
        <p:nvPicPr>
          <p:cNvPr id="6" name="Image 0" descr="preencoded.png">    </p:cNvPr>
          <p:cNvPicPr>
            <a:picLocks noChangeAspect="1"/>
          </p:cNvPicPr>
          <p:nvPr/>
        </p:nvPicPr>
        <p:blipFill>
          <a:blip r:embed="rId1"/>
          <a:stretch>
            <a:fillRect/>
          </a:stretch>
        </p:blipFill>
        <p:spPr>
          <a:xfrm>
            <a:off x="2563550" y="954088"/>
            <a:ext cx="7064595" cy="3233142"/>
          </a:xfrm>
          <a:prstGeom prst="rect">
            <a:avLst/>
          </a:prstGeom>
        </p:spPr>
      </p:pic>
      <p:sp>
        <p:nvSpPr>
          <p:cNvPr id="7" name="Text 4"/>
          <p:cNvSpPr/>
          <p:nvPr/>
        </p:nvSpPr>
        <p:spPr>
          <a:xfrm>
            <a:off x="7738387" y="1410319"/>
            <a:ext cx="1562752" cy="195349"/>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Analytics &amp; Delivery</a:t>
            </a:r>
            <a:endParaRPr lang="en-US" sz="1200" dirty="0"/>
          </a:p>
        </p:txBody>
      </p:sp>
      <p:sp>
        <p:nvSpPr>
          <p:cNvPr id="8" name="Text 5"/>
          <p:cNvSpPr/>
          <p:nvPr/>
        </p:nvSpPr>
        <p:spPr>
          <a:xfrm>
            <a:off x="7738387" y="1661233"/>
            <a:ext cx="1722501" cy="219659"/>
          </a:xfrm>
          <a:prstGeom prst="rect">
            <a:avLst/>
          </a:prstGeom>
          <a:noFill/>
          <a:ln/>
        </p:spPr>
        <p:txBody>
          <a:bodyPr wrap="square" lIns="0" tIns="0" rIns="0" bIns="0" rtlCol="0" anchor="t">
            <a:normAutofit/>
          </a:bodyPr>
          <a:lstStyle/>
          <a:p>
            <a:pPr algn="l" indent="0" marL="0">
              <a:lnSpc>
                <a:spcPct val="73000"/>
              </a:lnSpc>
              <a:buNone/>
            </a:pPr>
            <a:r>
              <a:rPr lang="en-US" sz="950" dirty="0">
                <a:solidFill>
                  <a:srgbClr val="3C3939"/>
                </a:solidFill>
                <a:latin typeface="Roboto" pitchFamily="34" charset="0"/>
                <a:ea typeface="Roboto" pitchFamily="34" charset="-122"/>
                <a:cs typeface="Roboto" pitchFamily="34" charset="-120"/>
              </a:rPr>
              <a:t>Modeling, validation, dashboards, alerts</a:t>
            </a:r>
            <a:endParaRPr lang="en-US" sz="950" dirty="0"/>
          </a:p>
        </p:txBody>
      </p:sp>
      <p:sp>
        <p:nvSpPr>
          <p:cNvPr id="9" name="Text 6"/>
          <p:cNvSpPr/>
          <p:nvPr/>
        </p:nvSpPr>
        <p:spPr>
          <a:xfrm>
            <a:off x="2751468" y="2473017"/>
            <a:ext cx="1562753" cy="195349"/>
          </a:xfrm>
          <a:prstGeom prst="rect">
            <a:avLst/>
          </a:prstGeom>
          <a:noFill/>
          <a:ln/>
        </p:spPr>
        <p:txBody>
          <a:bodyPr wrap="none" lIns="0" tIns="0" rIns="0" bIns="0" rtlCol="0" anchor="t"/>
          <a:lstStyle/>
          <a:p>
            <a:pPr algn="r" indent="0" marL="0">
              <a:lnSpc>
                <a:spcPct val="104000"/>
              </a:lnSpc>
              <a:buNone/>
            </a:pPr>
            <a:r>
              <a:rPr lang="en-US" sz="1200" dirty="0">
                <a:solidFill>
                  <a:srgbClr val="3C3939"/>
                </a:solidFill>
                <a:latin typeface="Raleway" pitchFamily="34" charset="0"/>
                <a:ea typeface="Raleway" pitchFamily="34" charset="-122"/>
                <a:cs typeface="Raleway" pitchFamily="34" charset="-120"/>
              </a:rPr>
              <a:t>Processing</a:t>
            </a:r>
            <a:endParaRPr lang="en-US" sz="1200" dirty="0"/>
          </a:p>
        </p:txBody>
      </p:sp>
      <p:sp>
        <p:nvSpPr>
          <p:cNvPr id="10" name="Text 7"/>
          <p:cNvSpPr/>
          <p:nvPr/>
        </p:nvSpPr>
        <p:spPr>
          <a:xfrm>
            <a:off x="2730631" y="2723932"/>
            <a:ext cx="1583589" cy="219659"/>
          </a:xfrm>
          <a:prstGeom prst="rect">
            <a:avLst/>
          </a:prstGeom>
          <a:noFill/>
          <a:ln/>
        </p:spPr>
        <p:txBody>
          <a:bodyPr wrap="square" lIns="0" tIns="0" rIns="0" bIns="0" rtlCol="0" anchor="t">
            <a:normAutofit/>
          </a:bodyPr>
          <a:lstStyle/>
          <a:p>
            <a:pPr algn="r" indent="0" marL="0">
              <a:lnSpc>
                <a:spcPct val="73000"/>
              </a:lnSpc>
              <a:buNone/>
            </a:pPr>
            <a:r>
              <a:rPr lang="en-US" sz="950" dirty="0">
                <a:solidFill>
                  <a:srgbClr val="3C3939"/>
                </a:solidFill>
                <a:latin typeface="Roboto" pitchFamily="34" charset="0"/>
                <a:ea typeface="Roboto" pitchFamily="34" charset="-122"/>
                <a:cs typeface="Roboto" pitchFamily="34" charset="-120"/>
              </a:rPr>
              <a:t>Cleaning, normalization, feature engineering</a:t>
            </a:r>
            <a:endParaRPr lang="en-US" sz="950" dirty="0"/>
          </a:p>
        </p:txBody>
      </p:sp>
      <p:sp>
        <p:nvSpPr>
          <p:cNvPr id="11" name="Text 8"/>
          <p:cNvSpPr/>
          <p:nvPr/>
        </p:nvSpPr>
        <p:spPr>
          <a:xfrm>
            <a:off x="7738387" y="3021731"/>
            <a:ext cx="1562752" cy="195349"/>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Core Data</a:t>
            </a:r>
            <a:endParaRPr lang="en-US" sz="1200" dirty="0"/>
          </a:p>
        </p:txBody>
      </p:sp>
      <p:sp>
        <p:nvSpPr>
          <p:cNvPr id="12" name="Text 9"/>
          <p:cNvSpPr/>
          <p:nvPr/>
        </p:nvSpPr>
        <p:spPr>
          <a:xfrm>
            <a:off x="7738387" y="3272646"/>
            <a:ext cx="1722501" cy="219659"/>
          </a:xfrm>
          <a:prstGeom prst="rect">
            <a:avLst/>
          </a:prstGeom>
          <a:noFill/>
          <a:ln/>
        </p:spPr>
        <p:txBody>
          <a:bodyPr wrap="square" lIns="0" tIns="0" rIns="0" bIns="0" rtlCol="0" anchor="t">
            <a:normAutofit/>
          </a:bodyPr>
          <a:lstStyle/>
          <a:p>
            <a:pPr algn="l" indent="0" marL="0">
              <a:lnSpc>
                <a:spcPct val="73000"/>
              </a:lnSpc>
              <a:buNone/>
            </a:pPr>
            <a:r>
              <a:rPr lang="en-US" sz="950" dirty="0">
                <a:solidFill>
                  <a:srgbClr val="3C3939"/>
                </a:solidFill>
                <a:latin typeface="Roboto" pitchFamily="34" charset="0"/>
                <a:ea typeface="Roboto" pitchFamily="34" charset="-122"/>
                <a:cs typeface="Roboto" pitchFamily="34" charset="-120"/>
              </a:rPr>
              <a:t>Institutional database integration</a:t>
            </a:r>
            <a:endParaRPr lang="en-US" sz="950" dirty="0"/>
          </a:p>
        </p:txBody>
      </p:sp>
      <p:sp>
        <p:nvSpPr>
          <p:cNvPr id="13" name="Text 10"/>
          <p:cNvSpPr/>
          <p:nvPr/>
        </p:nvSpPr>
        <p:spPr>
          <a:xfrm>
            <a:off x="661475" y="4245173"/>
            <a:ext cx="5352420" cy="104973"/>
          </a:xfrm>
          <a:prstGeom prst="rect">
            <a:avLst/>
          </a:prstGeom>
          <a:noFill/>
          <a:ln/>
        </p:spPr>
        <p:txBody>
          <a:bodyPr wrap="none" lIns="0" tIns="0" rIns="0" bIns="0" rtlCol="0" anchor="t"/>
          <a:lstStyle/>
          <a:p>
            <a:pPr algn="l" indent="0" marL="0">
              <a:lnSpc>
                <a:spcPct val="104000"/>
              </a:lnSpc>
              <a:buNone/>
            </a:pPr>
            <a:r>
              <a:rPr lang="en-US" sz="650" dirty="0">
                <a:solidFill>
                  <a:srgbClr val="1B1B27"/>
                </a:solidFill>
                <a:latin typeface="Raleway" pitchFamily="34" charset="0"/>
                <a:ea typeface="Raleway" pitchFamily="34" charset="-122"/>
                <a:cs typeface="Raleway" pitchFamily="34" charset="-120"/>
              </a:rPr>
              <a:t>Layer-by-Layer Breakdown</a:t>
            </a:r>
            <a:endParaRPr lang="en-US" sz="650" dirty="0"/>
          </a:p>
        </p:txBody>
      </p:sp>
      <p:sp>
        <p:nvSpPr>
          <p:cNvPr id="14" name="Shape 11"/>
          <p:cNvSpPr/>
          <p:nvPr/>
        </p:nvSpPr>
        <p:spPr>
          <a:xfrm>
            <a:off x="661475" y="4380805"/>
            <a:ext cx="2662568" cy="505817"/>
          </a:xfrm>
          <a:prstGeom prst="roundRect">
            <a:avLst>
              <a:gd name="adj" fmla="val 5579"/>
            </a:avLst>
          </a:prstGeom>
          <a:solidFill>
            <a:srgbClr val="FFFFFF">
              <a:alpha val="95000"/>
            </a:srgbClr>
          </a:solidFill>
          <a:ln w="6350">
            <a:solidFill>
              <a:srgbClr val="C7C7D0"/>
            </a:solidFill>
            <a:prstDash val="solid"/>
          </a:ln>
        </p:spPr>
      </p:sp>
      <p:sp>
        <p:nvSpPr>
          <p:cNvPr id="15" name="Text 12"/>
          <p:cNvSpPr/>
          <p:nvPr/>
        </p:nvSpPr>
        <p:spPr>
          <a:xfrm>
            <a:off x="734994" y="4454327"/>
            <a:ext cx="2515529" cy="104973"/>
          </a:xfrm>
          <a:prstGeom prst="rect">
            <a:avLst/>
          </a:prstGeom>
          <a:noFill/>
          <a:ln/>
        </p:spPr>
        <p:txBody>
          <a:bodyPr wrap="none" lIns="0" tIns="0" rIns="0" bIns="0" rtlCol="0" anchor="t"/>
          <a:lstStyle/>
          <a:p>
            <a:pPr algn="l" indent="0" marL="0">
              <a:lnSpc>
                <a:spcPct val="104000"/>
              </a:lnSpc>
              <a:buNone/>
            </a:pPr>
            <a:r>
              <a:rPr lang="en-US" sz="650" dirty="0">
                <a:solidFill>
                  <a:srgbClr val="3C3939"/>
                </a:solidFill>
                <a:latin typeface="Raleway" pitchFamily="34" charset="0"/>
                <a:ea typeface="Raleway" pitchFamily="34" charset="-122"/>
                <a:cs typeface="Raleway" pitchFamily="34" charset="-120"/>
              </a:rPr>
              <a:t>Data Layer</a:t>
            </a:r>
            <a:endParaRPr lang="en-US" sz="650" dirty="0"/>
          </a:p>
        </p:txBody>
      </p:sp>
      <p:sp>
        <p:nvSpPr>
          <p:cNvPr id="16" name="Text 13"/>
          <p:cNvSpPr/>
          <p:nvPr/>
        </p:nvSpPr>
        <p:spPr>
          <a:xfrm>
            <a:off x="734994" y="4586585"/>
            <a:ext cx="2515529" cy="226516"/>
          </a:xfrm>
          <a:prstGeom prst="rect">
            <a:avLst/>
          </a:prstGeom>
          <a:noFill/>
          <a:ln/>
        </p:spPr>
        <p:txBody>
          <a:bodyPr wrap="square" lIns="0" tIns="0" rIns="0" bIns="0" rtlCol="0" anchor="t">
            <a:normAutofit/>
          </a:bodyPr>
          <a:lstStyle/>
          <a:p>
            <a:pPr algn="l" indent="0" marL="0">
              <a:lnSpc>
                <a:spcPct val="94000"/>
              </a:lnSpc>
              <a:buNone/>
            </a:pPr>
            <a:r>
              <a:rPr lang="en-US" sz="500" dirty="0">
                <a:solidFill>
                  <a:srgbClr val="3C3939"/>
                </a:solidFill>
                <a:latin typeface="Roboto" pitchFamily="34" charset="0"/>
                <a:ea typeface="Roboto" pitchFamily="34" charset="-122"/>
                <a:cs typeface="Roboto" pitchFamily="34" charset="-120"/>
              </a:rPr>
              <a:t>Integration with student information systems (SIS), learning management systems (LMS), and assessment platforms. Automated data ingestion from institutional databases via APIs or scheduled batch extracts.</a:t>
            </a:r>
            <a:endParaRPr lang="en-US" sz="500" dirty="0"/>
          </a:p>
        </p:txBody>
      </p:sp>
      <p:sp>
        <p:nvSpPr>
          <p:cNvPr id="17" name="Shape 14"/>
          <p:cNvSpPr/>
          <p:nvPr/>
        </p:nvSpPr>
        <p:spPr>
          <a:xfrm>
            <a:off x="3351327" y="4380805"/>
            <a:ext cx="2662568" cy="505817"/>
          </a:xfrm>
          <a:prstGeom prst="roundRect">
            <a:avLst>
              <a:gd name="adj" fmla="val 5579"/>
            </a:avLst>
          </a:prstGeom>
          <a:solidFill>
            <a:srgbClr val="FFFFFF">
              <a:alpha val="95000"/>
            </a:srgbClr>
          </a:solidFill>
          <a:ln w="6350">
            <a:solidFill>
              <a:srgbClr val="C7C7D0"/>
            </a:solidFill>
            <a:prstDash val="solid"/>
          </a:ln>
        </p:spPr>
      </p:sp>
      <p:sp>
        <p:nvSpPr>
          <p:cNvPr id="18" name="Text 15"/>
          <p:cNvSpPr/>
          <p:nvPr/>
        </p:nvSpPr>
        <p:spPr>
          <a:xfrm>
            <a:off x="3424846" y="4454327"/>
            <a:ext cx="2515529" cy="104973"/>
          </a:xfrm>
          <a:prstGeom prst="rect">
            <a:avLst/>
          </a:prstGeom>
          <a:noFill/>
          <a:ln/>
        </p:spPr>
        <p:txBody>
          <a:bodyPr wrap="none" lIns="0" tIns="0" rIns="0" bIns="0" rtlCol="0" anchor="t"/>
          <a:lstStyle/>
          <a:p>
            <a:pPr algn="l" indent="0" marL="0">
              <a:lnSpc>
                <a:spcPct val="104000"/>
              </a:lnSpc>
              <a:buNone/>
            </a:pPr>
            <a:r>
              <a:rPr lang="en-US" sz="650" dirty="0">
                <a:solidFill>
                  <a:srgbClr val="3C3939"/>
                </a:solidFill>
                <a:latin typeface="Raleway" pitchFamily="34" charset="0"/>
                <a:ea typeface="Raleway" pitchFamily="34" charset="-122"/>
                <a:cs typeface="Raleway" pitchFamily="34" charset="-120"/>
              </a:rPr>
              <a:t>Processing Layer</a:t>
            </a:r>
            <a:endParaRPr lang="en-US" sz="650" dirty="0"/>
          </a:p>
        </p:txBody>
      </p:sp>
      <p:sp>
        <p:nvSpPr>
          <p:cNvPr id="19" name="Text 16"/>
          <p:cNvSpPr/>
          <p:nvPr/>
        </p:nvSpPr>
        <p:spPr>
          <a:xfrm>
            <a:off x="3424846" y="4586585"/>
            <a:ext cx="2515529" cy="151011"/>
          </a:xfrm>
          <a:prstGeom prst="rect">
            <a:avLst/>
          </a:prstGeom>
          <a:noFill/>
          <a:ln/>
        </p:spPr>
        <p:txBody>
          <a:bodyPr wrap="square" lIns="0" tIns="0" rIns="0" bIns="0" rtlCol="0" anchor="t">
            <a:normAutofit/>
          </a:bodyPr>
          <a:lstStyle/>
          <a:p>
            <a:pPr algn="l" indent="0" marL="0">
              <a:lnSpc>
                <a:spcPct val="94000"/>
              </a:lnSpc>
              <a:buNone/>
            </a:pPr>
            <a:r>
              <a:rPr lang="en-US" sz="500" dirty="0">
                <a:solidFill>
                  <a:srgbClr val="3C3939"/>
                </a:solidFill>
                <a:latin typeface="Roboto" pitchFamily="34" charset="0"/>
                <a:ea typeface="Roboto" pitchFamily="34" charset="-122"/>
                <a:cs typeface="Roboto" pitchFamily="34" charset="-120"/>
              </a:rPr>
              <a:t>ETL (Extract, Transform, Load) pipeline for data cleaning, normalization, and feature construction. Ensures data quality and consistency before model input.</a:t>
            </a:r>
            <a:endParaRPr lang="en-US" sz="500" dirty="0"/>
          </a:p>
        </p:txBody>
      </p:sp>
      <p:sp>
        <p:nvSpPr>
          <p:cNvPr id="20" name="Shape 17"/>
          <p:cNvSpPr/>
          <p:nvPr/>
        </p:nvSpPr>
        <p:spPr>
          <a:xfrm>
            <a:off x="661475" y="4913908"/>
            <a:ext cx="2662568" cy="505817"/>
          </a:xfrm>
          <a:prstGeom prst="roundRect">
            <a:avLst>
              <a:gd name="adj" fmla="val 5579"/>
            </a:avLst>
          </a:prstGeom>
          <a:solidFill>
            <a:srgbClr val="FFFFFF">
              <a:alpha val="95000"/>
            </a:srgbClr>
          </a:solidFill>
          <a:ln w="6350">
            <a:solidFill>
              <a:srgbClr val="C7C7D0"/>
            </a:solidFill>
            <a:prstDash val="solid"/>
          </a:ln>
        </p:spPr>
      </p:sp>
      <p:sp>
        <p:nvSpPr>
          <p:cNvPr id="21" name="Text 18"/>
          <p:cNvSpPr/>
          <p:nvPr/>
        </p:nvSpPr>
        <p:spPr>
          <a:xfrm>
            <a:off x="734994" y="4987429"/>
            <a:ext cx="2515529" cy="104973"/>
          </a:xfrm>
          <a:prstGeom prst="rect">
            <a:avLst/>
          </a:prstGeom>
          <a:noFill/>
          <a:ln/>
        </p:spPr>
        <p:txBody>
          <a:bodyPr wrap="none" lIns="0" tIns="0" rIns="0" bIns="0" rtlCol="0" anchor="t"/>
          <a:lstStyle/>
          <a:p>
            <a:pPr algn="l" indent="0" marL="0">
              <a:lnSpc>
                <a:spcPct val="104000"/>
              </a:lnSpc>
              <a:buNone/>
            </a:pPr>
            <a:r>
              <a:rPr lang="en-US" sz="650" dirty="0">
                <a:solidFill>
                  <a:srgbClr val="3C3939"/>
                </a:solidFill>
                <a:latin typeface="Raleway" pitchFamily="34" charset="0"/>
                <a:ea typeface="Raleway" pitchFamily="34" charset="-122"/>
                <a:cs typeface="Raleway" pitchFamily="34" charset="-120"/>
              </a:rPr>
              <a:t>Analytics Layer</a:t>
            </a:r>
            <a:endParaRPr lang="en-US" sz="650" dirty="0"/>
          </a:p>
        </p:txBody>
      </p:sp>
      <p:sp>
        <p:nvSpPr>
          <p:cNvPr id="22" name="Text 19"/>
          <p:cNvSpPr/>
          <p:nvPr/>
        </p:nvSpPr>
        <p:spPr>
          <a:xfrm>
            <a:off x="734994" y="5119687"/>
            <a:ext cx="2515529" cy="226516"/>
          </a:xfrm>
          <a:prstGeom prst="rect">
            <a:avLst/>
          </a:prstGeom>
          <a:noFill/>
          <a:ln/>
        </p:spPr>
        <p:txBody>
          <a:bodyPr wrap="square" lIns="0" tIns="0" rIns="0" bIns="0" rtlCol="0" anchor="t">
            <a:normAutofit/>
          </a:bodyPr>
          <a:lstStyle/>
          <a:p>
            <a:pPr algn="l" indent="0" marL="0">
              <a:lnSpc>
                <a:spcPct val="94000"/>
              </a:lnSpc>
              <a:buNone/>
            </a:pPr>
            <a:r>
              <a:rPr lang="en-US" sz="500" dirty="0">
                <a:solidFill>
                  <a:srgbClr val="3C3939"/>
                </a:solidFill>
                <a:latin typeface="Roboto" pitchFamily="34" charset="0"/>
                <a:ea typeface="Roboto" pitchFamily="34" charset="-122"/>
                <a:cs typeface="Roboto" pitchFamily="34" charset="-120"/>
              </a:rPr>
              <a:t>Multi-variable regression engine for model training, hyperparameter tuning, cross-validation, and real-time inference. Generates predicted performance scores and risk classifications.</a:t>
            </a:r>
            <a:endParaRPr lang="en-US" sz="500" dirty="0"/>
          </a:p>
        </p:txBody>
      </p:sp>
      <p:sp>
        <p:nvSpPr>
          <p:cNvPr id="23" name="Shape 20"/>
          <p:cNvSpPr/>
          <p:nvPr/>
        </p:nvSpPr>
        <p:spPr>
          <a:xfrm>
            <a:off x="3351327" y="4913908"/>
            <a:ext cx="2662568" cy="505817"/>
          </a:xfrm>
          <a:prstGeom prst="roundRect">
            <a:avLst>
              <a:gd name="adj" fmla="val 5579"/>
            </a:avLst>
          </a:prstGeom>
          <a:solidFill>
            <a:srgbClr val="FFFFFF">
              <a:alpha val="95000"/>
            </a:srgbClr>
          </a:solidFill>
          <a:ln w="6350">
            <a:solidFill>
              <a:srgbClr val="C7C7D0"/>
            </a:solidFill>
            <a:prstDash val="solid"/>
          </a:ln>
        </p:spPr>
      </p:sp>
      <p:sp>
        <p:nvSpPr>
          <p:cNvPr id="24" name="Text 21"/>
          <p:cNvSpPr/>
          <p:nvPr/>
        </p:nvSpPr>
        <p:spPr>
          <a:xfrm>
            <a:off x="3424846" y="4987429"/>
            <a:ext cx="2515529" cy="104973"/>
          </a:xfrm>
          <a:prstGeom prst="rect">
            <a:avLst/>
          </a:prstGeom>
          <a:noFill/>
          <a:ln/>
        </p:spPr>
        <p:txBody>
          <a:bodyPr wrap="none" lIns="0" tIns="0" rIns="0" bIns="0" rtlCol="0" anchor="t"/>
          <a:lstStyle/>
          <a:p>
            <a:pPr algn="l" indent="0" marL="0">
              <a:lnSpc>
                <a:spcPct val="104000"/>
              </a:lnSpc>
              <a:buNone/>
            </a:pPr>
            <a:r>
              <a:rPr lang="en-US" sz="650" dirty="0">
                <a:solidFill>
                  <a:srgbClr val="3C3939"/>
                </a:solidFill>
                <a:latin typeface="Raleway" pitchFamily="34" charset="0"/>
                <a:ea typeface="Raleway" pitchFamily="34" charset="-122"/>
                <a:cs typeface="Raleway" pitchFamily="34" charset="-120"/>
              </a:rPr>
              <a:t>Visualization Layer</a:t>
            </a:r>
            <a:endParaRPr lang="en-US" sz="650" dirty="0"/>
          </a:p>
        </p:txBody>
      </p:sp>
      <p:sp>
        <p:nvSpPr>
          <p:cNvPr id="25" name="Text 22"/>
          <p:cNvSpPr/>
          <p:nvPr/>
        </p:nvSpPr>
        <p:spPr>
          <a:xfrm>
            <a:off x="3424846" y="5119687"/>
            <a:ext cx="2515529" cy="226516"/>
          </a:xfrm>
          <a:prstGeom prst="rect">
            <a:avLst/>
          </a:prstGeom>
          <a:noFill/>
          <a:ln/>
        </p:spPr>
        <p:txBody>
          <a:bodyPr wrap="square" lIns="0" tIns="0" rIns="0" bIns="0" rtlCol="0" anchor="t">
            <a:normAutofit/>
          </a:bodyPr>
          <a:lstStyle/>
          <a:p>
            <a:pPr algn="l" indent="0" marL="0">
              <a:lnSpc>
                <a:spcPct val="94000"/>
              </a:lnSpc>
              <a:buNone/>
            </a:pPr>
            <a:r>
              <a:rPr lang="en-US" sz="500" dirty="0">
                <a:solidFill>
                  <a:srgbClr val="3C3939"/>
                </a:solidFill>
                <a:latin typeface="Roboto" pitchFamily="34" charset="0"/>
                <a:ea typeface="Roboto" pitchFamily="34" charset="-122"/>
                <a:cs typeface="Roboto" pitchFamily="34" charset="-120"/>
              </a:rPr>
              <a:t>Interactive dashboards with performance trend charts, correlation heatmaps, subject-wise analysis, cohort comparisons, and automated at-risk student alerts for faculty.</a:t>
            </a:r>
            <a:endParaRPr lang="en-US" sz="500" dirty="0"/>
          </a:p>
        </p:txBody>
      </p:sp>
      <p:sp>
        <p:nvSpPr>
          <p:cNvPr id="26" name="Shape 23"/>
          <p:cNvSpPr/>
          <p:nvPr/>
        </p:nvSpPr>
        <p:spPr>
          <a:xfrm>
            <a:off x="6135732" y="4217888"/>
            <a:ext cx="5449255" cy="2155924"/>
          </a:xfrm>
          <a:prstGeom prst="roundRect">
            <a:avLst>
              <a:gd name="adj" fmla="val 2244"/>
            </a:avLst>
          </a:prstGeom>
          <a:solidFill>
            <a:srgbClr val="1B1B27">
              <a:alpha val="95000"/>
            </a:srgbClr>
          </a:solidFill>
          <a:ln/>
        </p:spPr>
      </p:sp>
      <p:sp>
        <p:nvSpPr>
          <p:cNvPr id="27" name="Text 24"/>
          <p:cNvSpPr/>
          <p:nvPr/>
        </p:nvSpPr>
        <p:spPr>
          <a:xfrm>
            <a:off x="6202902" y="4245173"/>
            <a:ext cx="5314916" cy="104973"/>
          </a:xfrm>
          <a:prstGeom prst="rect">
            <a:avLst/>
          </a:prstGeom>
          <a:noFill/>
          <a:ln/>
        </p:spPr>
        <p:txBody>
          <a:bodyPr wrap="none" lIns="0" tIns="0" rIns="0" bIns="0" rtlCol="0" anchor="t"/>
          <a:lstStyle/>
          <a:p>
            <a:pPr algn="l" indent="0" marL="0">
              <a:lnSpc>
                <a:spcPct val="104000"/>
              </a:lnSpc>
              <a:buNone/>
            </a:pPr>
            <a:r>
              <a:rPr lang="en-US" sz="650" dirty="0">
                <a:solidFill>
                  <a:srgbClr val="FFFFFF"/>
                </a:solidFill>
                <a:latin typeface="Raleway" pitchFamily="34" charset="0"/>
                <a:ea typeface="Raleway" pitchFamily="34" charset="-122"/>
                <a:cs typeface="Raleway" pitchFamily="34" charset="-120"/>
              </a:rPr>
              <a:t>End-to-End Workflow</a:t>
            </a:r>
            <a:endParaRPr lang="en-US" sz="650" dirty="0"/>
          </a:p>
        </p:txBody>
      </p:sp>
      <p:sp>
        <p:nvSpPr>
          <p:cNvPr id="28" name="Text 25"/>
          <p:cNvSpPr/>
          <p:nvPr/>
        </p:nvSpPr>
        <p:spPr>
          <a:xfrm>
            <a:off x="6202902" y="4380805"/>
            <a:ext cx="134339" cy="83939"/>
          </a:xfrm>
          <a:prstGeom prst="rect">
            <a:avLst/>
          </a:prstGeom>
          <a:noFill/>
          <a:ln/>
        </p:spPr>
        <p:txBody>
          <a:bodyPr wrap="none" lIns="0" tIns="0" rIns="0" bIns="0" rtlCol="0" anchor="ctr"/>
          <a:lstStyle/>
          <a:p>
            <a:pPr algn="l" indent="0" marL="0">
              <a:lnSpc>
                <a:spcPct val="100000"/>
              </a:lnSpc>
              <a:buNone/>
            </a:pPr>
            <a:r>
              <a:rPr lang="en-US" sz="500" dirty="0">
                <a:solidFill>
                  <a:srgbClr val="FFFFFF"/>
                </a:solidFill>
                <a:latin typeface="Raleway Light" pitchFamily="34" charset="0"/>
                <a:ea typeface="Raleway Light" pitchFamily="34" charset="-122"/>
                <a:cs typeface="Raleway Light" pitchFamily="34" charset="-120"/>
              </a:rPr>
              <a:t>01</a:t>
            </a:r>
            <a:endParaRPr lang="en-US" sz="500" dirty="0"/>
          </a:p>
        </p:txBody>
      </p:sp>
      <p:sp>
        <p:nvSpPr>
          <p:cNvPr id="29" name="Shape 26"/>
          <p:cNvSpPr/>
          <p:nvPr/>
        </p:nvSpPr>
        <p:spPr>
          <a:xfrm>
            <a:off x="6202902" y="4488557"/>
            <a:ext cx="5314916" cy="6350"/>
          </a:xfrm>
          <a:prstGeom prst="rect">
            <a:avLst/>
          </a:prstGeom>
          <a:solidFill>
            <a:srgbClr val="1B1B27"/>
          </a:solidFill>
          <a:ln/>
        </p:spPr>
      </p:sp>
      <p:sp>
        <p:nvSpPr>
          <p:cNvPr id="30" name="Text 27"/>
          <p:cNvSpPr/>
          <p:nvPr/>
        </p:nvSpPr>
        <p:spPr>
          <a:xfrm>
            <a:off x="6202902" y="4534793"/>
            <a:ext cx="5314916" cy="104973"/>
          </a:xfrm>
          <a:prstGeom prst="rect">
            <a:avLst/>
          </a:prstGeom>
          <a:noFill/>
          <a:ln/>
        </p:spPr>
        <p:txBody>
          <a:bodyPr wrap="none" lIns="0" tIns="0" rIns="0" bIns="0" rtlCol="0" anchor="t"/>
          <a:lstStyle/>
          <a:p>
            <a:pPr algn="l" indent="0" marL="0">
              <a:lnSpc>
                <a:spcPct val="104000"/>
              </a:lnSpc>
              <a:buNone/>
            </a:pPr>
            <a:r>
              <a:rPr lang="en-US" sz="650" dirty="0">
                <a:solidFill>
                  <a:srgbClr val="FFFFFF"/>
                </a:solidFill>
                <a:latin typeface="Raleway" pitchFamily="34" charset="0"/>
                <a:ea typeface="Raleway" pitchFamily="34" charset="-122"/>
                <a:cs typeface="Raleway" pitchFamily="34" charset="-120"/>
              </a:rPr>
              <a:t>Continuous Data Collection</a:t>
            </a:r>
            <a:endParaRPr lang="en-US" sz="650" dirty="0"/>
          </a:p>
        </p:txBody>
      </p:sp>
      <p:sp>
        <p:nvSpPr>
          <p:cNvPr id="31" name="Text 28"/>
          <p:cNvSpPr/>
          <p:nvPr/>
        </p:nvSpPr>
        <p:spPr>
          <a:xfrm>
            <a:off x="6202902" y="4667052"/>
            <a:ext cx="5314916" cy="75505"/>
          </a:xfrm>
          <a:prstGeom prst="rect">
            <a:avLst/>
          </a:prstGeom>
          <a:noFill/>
          <a:ln/>
        </p:spPr>
        <p:txBody>
          <a:bodyPr wrap="none" lIns="0" tIns="0" rIns="0" bIns="0" rtlCol="0" anchor="t"/>
          <a:lstStyle/>
          <a:p>
            <a:pPr algn="l" indent="0" marL="0">
              <a:lnSpc>
                <a:spcPct val="94000"/>
              </a:lnSpc>
              <a:buNone/>
            </a:pPr>
            <a:r>
              <a:rPr lang="en-US" sz="500" dirty="0">
                <a:solidFill>
                  <a:srgbClr val="FFFFFF"/>
                </a:solidFill>
                <a:latin typeface="Roboto" pitchFamily="34" charset="0"/>
                <a:ea typeface="Roboto" pitchFamily="34" charset="-122"/>
                <a:cs typeface="Roboto" pitchFamily="34" charset="-120"/>
              </a:rPr>
              <a:t>Academic records updated as events occur (attendance logged, marks entered, assignments submitted)</a:t>
            </a:r>
            <a:endParaRPr lang="en-US" sz="500" dirty="0"/>
          </a:p>
        </p:txBody>
      </p:sp>
      <p:sp>
        <p:nvSpPr>
          <p:cNvPr id="32" name="Text 29"/>
          <p:cNvSpPr/>
          <p:nvPr/>
        </p:nvSpPr>
        <p:spPr>
          <a:xfrm>
            <a:off x="6202902" y="4820146"/>
            <a:ext cx="134339" cy="83939"/>
          </a:xfrm>
          <a:prstGeom prst="rect">
            <a:avLst/>
          </a:prstGeom>
          <a:noFill/>
          <a:ln/>
        </p:spPr>
        <p:txBody>
          <a:bodyPr wrap="none" lIns="0" tIns="0" rIns="0" bIns="0" rtlCol="0" anchor="ctr"/>
          <a:lstStyle/>
          <a:p>
            <a:pPr algn="l" indent="0" marL="0">
              <a:lnSpc>
                <a:spcPct val="100000"/>
              </a:lnSpc>
              <a:buNone/>
            </a:pPr>
            <a:r>
              <a:rPr lang="en-US" sz="500" dirty="0">
                <a:solidFill>
                  <a:srgbClr val="FFFFFF"/>
                </a:solidFill>
                <a:latin typeface="Raleway Light" pitchFamily="34" charset="0"/>
                <a:ea typeface="Raleway Light" pitchFamily="34" charset="-122"/>
                <a:cs typeface="Raleway Light" pitchFamily="34" charset="-120"/>
              </a:rPr>
              <a:t>02</a:t>
            </a:r>
            <a:endParaRPr lang="en-US" sz="500" dirty="0"/>
          </a:p>
        </p:txBody>
      </p:sp>
      <p:sp>
        <p:nvSpPr>
          <p:cNvPr id="33" name="Shape 30"/>
          <p:cNvSpPr/>
          <p:nvPr/>
        </p:nvSpPr>
        <p:spPr>
          <a:xfrm>
            <a:off x="6202902" y="4927898"/>
            <a:ext cx="5314916" cy="6350"/>
          </a:xfrm>
          <a:prstGeom prst="rect">
            <a:avLst/>
          </a:prstGeom>
          <a:solidFill>
            <a:srgbClr val="1B1B27"/>
          </a:solidFill>
          <a:ln/>
        </p:spPr>
      </p:sp>
      <p:sp>
        <p:nvSpPr>
          <p:cNvPr id="34" name="Text 31"/>
          <p:cNvSpPr/>
          <p:nvPr/>
        </p:nvSpPr>
        <p:spPr>
          <a:xfrm>
            <a:off x="6202902" y="4974134"/>
            <a:ext cx="5314916" cy="104973"/>
          </a:xfrm>
          <a:prstGeom prst="rect">
            <a:avLst/>
          </a:prstGeom>
          <a:noFill/>
          <a:ln/>
        </p:spPr>
        <p:txBody>
          <a:bodyPr wrap="none" lIns="0" tIns="0" rIns="0" bIns="0" rtlCol="0" anchor="t"/>
          <a:lstStyle/>
          <a:p>
            <a:pPr algn="l" indent="0" marL="0">
              <a:lnSpc>
                <a:spcPct val="104000"/>
              </a:lnSpc>
              <a:buNone/>
            </a:pPr>
            <a:r>
              <a:rPr lang="en-US" sz="650" dirty="0">
                <a:solidFill>
                  <a:srgbClr val="FFFFFF"/>
                </a:solidFill>
                <a:latin typeface="Raleway" pitchFamily="34" charset="0"/>
                <a:ea typeface="Raleway" pitchFamily="34" charset="-122"/>
                <a:cs typeface="Raleway" pitchFamily="34" charset="-120"/>
              </a:rPr>
              <a:t>Preprocessing Pipeline Execution</a:t>
            </a:r>
            <a:endParaRPr lang="en-US" sz="650" dirty="0"/>
          </a:p>
        </p:txBody>
      </p:sp>
      <p:sp>
        <p:nvSpPr>
          <p:cNvPr id="35" name="Text 32"/>
          <p:cNvSpPr/>
          <p:nvPr/>
        </p:nvSpPr>
        <p:spPr>
          <a:xfrm>
            <a:off x="6202902" y="5106392"/>
            <a:ext cx="5314916" cy="75505"/>
          </a:xfrm>
          <a:prstGeom prst="rect">
            <a:avLst/>
          </a:prstGeom>
          <a:noFill/>
          <a:ln/>
        </p:spPr>
        <p:txBody>
          <a:bodyPr wrap="none" lIns="0" tIns="0" rIns="0" bIns="0" rtlCol="0" anchor="t"/>
          <a:lstStyle/>
          <a:p>
            <a:pPr algn="l" indent="0" marL="0">
              <a:lnSpc>
                <a:spcPct val="94000"/>
              </a:lnSpc>
              <a:buNone/>
            </a:pPr>
            <a:r>
              <a:rPr lang="en-US" sz="500" dirty="0">
                <a:solidFill>
                  <a:srgbClr val="FFFFFF"/>
                </a:solidFill>
                <a:latin typeface="Roboto" pitchFamily="34" charset="0"/>
                <a:ea typeface="Roboto" pitchFamily="34" charset="-122"/>
                <a:cs typeface="Roboto" pitchFamily="34" charset="-120"/>
              </a:rPr>
              <a:t>Automated cleaning, normalization, and feature engineering applied to incoming data batches</a:t>
            </a:r>
            <a:endParaRPr lang="en-US" sz="500" dirty="0"/>
          </a:p>
        </p:txBody>
      </p:sp>
      <p:sp>
        <p:nvSpPr>
          <p:cNvPr id="36" name="Text 33"/>
          <p:cNvSpPr/>
          <p:nvPr/>
        </p:nvSpPr>
        <p:spPr>
          <a:xfrm>
            <a:off x="6202902" y="5259487"/>
            <a:ext cx="134339" cy="83939"/>
          </a:xfrm>
          <a:prstGeom prst="rect">
            <a:avLst/>
          </a:prstGeom>
          <a:noFill/>
          <a:ln/>
        </p:spPr>
        <p:txBody>
          <a:bodyPr wrap="none" lIns="0" tIns="0" rIns="0" bIns="0" rtlCol="0" anchor="ctr"/>
          <a:lstStyle/>
          <a:p>
            <a:pPr algn="l" indent="0" marL="0">
              <a:lnSpc>
                <a:spcPct val="100000"/>
              </a:lnSpc>
              <a:buNone/>
            </a:pPr>
            <a:r>
              <a:rPr lang="en-US" sz="500" dirty="0">
                <a:solidFill>
                  <a:srgbClr val="FFFFFF"/>
                </a:solidFill>
                <a:latin typeface="Raleway Light" pitchFamily="34" charset="0"/>
                <a:ea typeface="Raleway Light" pitchFamily="34" charset="-122"/>
                <a:cs typeface="Raleway Light" pitchFamily="34" charset="-120"/>
              </a:rPr>
              <a:t>03</a:t>
            </a:r>
            <a:endParaRPr lang="en-US" sz="500" dirty="0"/>
          </a:p>
        </p:txBody>
      </p:sp>
      <p:sp>
        <p:nvSpPr>
          <p:cNvPr id="37" name="Shape 34"/>
          <p:cNvSpPr/>
          <p:nvPr/>
        </p:nvSpPr>
        <p:spPr>
          <a:xfrm>
            <a:off x="6202902" y="5367238"/>
            <a:ext cx="5314916" cy="6350"/>
          </a:xfrm>
          <a:prstGeom prst="rect">
            <a:avLst/>
          </a:prstGeom>
          <a:solidFill>
            <a:srgbClr val="1B1B27"/>
          </a:solidFill>
          <a:ln/>
        </p:spPr>
      </p:sp>
      <p:sp>
        <p:nvSpPr>
          <p:cNvPr id="38" name="Text 35"/>
          <p:cNvSpPr/>
          <p:nvPr/>
        </p:nvSpPr>
        <p:spPr>
          <a:xfrm>
            <a:off x="6202902" y="5413474"/>
            <a:ext cx="5314916" cy="104973"/>
          </a:xfrm>
          <a:prstGeom prst="rect">
            <a:avLst/>
          </a:prstGeom>
          <a:noFill/>
          <a:ln/>
        </p:spPr>
        <p:txBody>
          <a:bodyPr wrap="none" lIns="0" tIns="0" rIns="0" bIns="0" rtlCol="0" anchor="t"/>
          <a:lstStyle/>
          <a:p>
            <a:pPr algn="l" indent="0" marL="0">
              <a:lnSpc>
                <a:spcPct val="104000"/>
              </a:lnSpc>
              <a:buNone/>
            </a:pPr>
            <a:r>
              <a:rPr lang="en-US" sz="650" dirty="0">
                <a:solidFill>
                  <a:srgbClr val="FFFFFF"/>
                </a:solidFill>
                <a:latin typeface="Raleway" pitchFamily="34" charset="0"/>
                <a:ea typeface="Raleway" pitchFamily="34" charset="-122"/>
                <a:cs typeface="Raleway" pitchFamily="34" charset="-120"/>
              </a:rPr>
              <a:t>Model Inference</a:t>
            </a:r>
            <a:endParaRPr lang="en-US" sz="650" dirty="0"/>
          </a:p>
        </p:txBody>
      </p:sp>
      <p:sp>
        <p:nvSpPr>
          <p:cNvPr id="39" name="Text 36"/>
          <p:cNvSpPr/>
          <p:nvPr/>
        </p:nvSpPr>
        <p:spPr>
          <a:xfrm>
            <a:off x="6202902" y="5545733"/>
            <a:ext cx="5314916" cy="75505"/>
          </a:xfrm>
          <a:prstGeom prst="rect">
            <a:avLst/>
          </a:prstGeom>
          <a:noFill/>
          <a:ln/>
        </p:spPr>
        <p:txBody>
          <a:bodyPr wrap="none" lIns="0" tIns="0" rIns="0" bIns="0" rtlCol="0" anchor="t"/>
          <a:lstStyle/>
          <a:p>
            <a:pPr algn="l" indent="0" marL="0">
              <a:lnSpc>
                <a:spcPct val="94000"/>
              </a:lnSpc>
              <a:buNone/>
            </a:pPr>
            <a:r>
              <a:rPr lang="en-US" sz="500" dirty="0">
                <a:solidFill>
                  <a:srgbClr val="FFFFFF"/>
                </a:solidFill>
                <a:latin typeface="Roboto" pitchFamily="34" charset="0"/>
                <a:ea typeface="Roboto" pitchFamily="34" charset="-122"/>
                <a:cs typeface="Roboto" pitchFamily="34" charset="-120"/>
              </a:rPr>
              <a:t>Trained regression model scores each student, generating predicted final performance with confidence bounds</a:t>
            </a:r>
            <a:endParaRPr lang="en-US" sz="500" dirty="0"/>
          </a:p>
        </p:txBody>
      </p:sp>
      <p:sp>
        <p:nvSpPr>
          <p:cNvPr id="40" name="Text 37"/>
          <p:cNvSpPr/>
          <p:nvPr/>
        </p:nvSpPr>
        <p:spPr>
          <a:xfrm>
            <a:off x="6202902" y="5698827"/>
            <a:ext cx="134339" cy="83939"/>
          </a:xfrm>
          <a:prstGeom prst="rect">
            <a:avLst/>
          </a:prstGeom>
          <a:noFill/>
          <a:ln/>
        </p:spPr>
        <p:txBody>
          <a:bodyPr wrap="none" lIns="0" tIns="0" rIns="0" bIns="0" rtlCol="0" anchor="ctr"/>
          <a:lstStyle/>
          <a:p>
            <a:pPr algn="l" indent="0" marL="0">
              <a:lnSpc>
                <a:spcPct val="100000"/>
              </a:lnSpc>
              <a:buNone/>
            </a:pPr>
            <a:r>
              <a:rPr lang="en-US" sz="500" dirty="0">
                <a:solidFill>
                  <a:srgbClr val="FFFFFF"/>
                </a:solidFill>
                <a:latin typeface="Raleway Light" pitchFamily="34" charset="0"/>
                <a:ea typeface="Raleway Light" pitchFamily="34" charset="-122"/>
                <a:cs typeface="Raleway Light" pitchFamily="34" charset="-120"/>
              </a:rPr>
              <a:t>04</a:t>
            </a:r>
            <a:endParaRPr lang="en-US" sz="500" dirty="0"/>
          </a:p>
        </p:txBody>
      </p:sp>
      <p:sp>
        <p:nvSpPr>
          <p:cNvPr id="41" name="Shape 38"/>
          <p:cNvSpPr/>
          <p:nvPr/>
        </p:nvSpPr>
        <p:spPr>
          <a:xfrm>
            <a:off x="6202902" y="5806579"/>
            <a:ext cx="5314916" cy="6350"/>
          </a:xfrm>
          <a:prstGeom prst="rect">
            <a:avLst/>
          </a:prstGeom>
          <a:solidFill>
            <a:srgbClr val="1B1B27"/>
          </a:solidFill>
          <a:ln/>
        </p:spPr>
      </p:sp>
      <p:sp>
        <p:nvSpPr>
          <p:cNvPr id="42" name="Text 39"/>
          <p:cNvSpPr/>
          <p:nvPr/>
        </p:nvSpPr>
        <p:spPr>
          <a:xfrm>
            <a:off x="6202902" y="5852815"/>
            <a:ext cx="5314916" cy="104973"/>
          </a:xfrm>
          <a:prstGeom prst="rect">
            <a:avLst/>
          </a:prstGeom>
          <a:noFill/>
          <a:ln/>
        </p:spPr>
        <p:txBody>
          <a:bodyPr wrap="none" lIns="0" tIns="0" rIns="0" bIns="0" rtlCol="0" anchor="t"/>
          <a:lstStyle/>
          <a:p>
            <a:pPr algn="l" indent="0" marL="0">
              <a:lnSpc>
                <a:spcPct val="104000"/>
              </a:lnSpc>
              <a:buNone/>
            </a:pPr>
            <a:r>
              <a:rPr lang="en-US" sz="650" dirty="0">
                <a:solidFill>
                  <a:srgbClr val="FFFFFF"/>
                </a:solidFill>
                <a:latin typeface="Raleway" pitchFamily="34" charset="0"/>
                <a:ea typeface="Raleway" pitchFamily="34" charset="-122"/>
                <a:cs typeface="Raleway" pitchFamily="34" charset="-120"/>
              </a:rPr>
              <a:t>Dashboard Refresh &amp; Faculty Alerts</a:t>
            </a:r>
            <a:endParaRPr lang="en-US" sz="650" dirty="0"/>
          </a:p>
        </p:txBody>
      </p:sp>
      <p:sp>
        <p:nvSpPr>
          <p:cNvPr id="43" name="Text 40"/>
          <p:cNvSpPr/>
          <p:nvPr/>
        </p:nvSpPr>
        <p:spPr>
          <a:xfrm>
            <a:off x="6202902" y="5985073"/>
            <a:ext cx="5314916" cy="75505"/>
          </a:xfrm>
          <a:prstGeom prst="rect">
            <a:avLst/>
          </a:prstGeom>
          <a:noFill/>
          <a:ln/>
        </p:spPr>
        <p:txBody>
          <a:bodyPr wrap="none" lIns="0" tIns="0" rIns="0" bIns="0" rtlCol="0" anchor="t"/>
          <a:lstStyle/>
          <a:p>
            <a:pPr algn="l" indent="0" marL="0">
              <a:lnSpc>
                <a:spcPct val="94000"/>
              </a:lnSpc>
              <a:buNone/>
            </a:pPr>
            <a:r>
              <a:rPr lang="en-US" sz="500" dirty="0">
                <a:solidFill>
                  <a:srgbClr val="FFFFFF"/>
                </a:solidFill>
                <a:latin typeface="Roboto" pitchFamily="34" charset="0"/>
                <a:ea typeface="Roboto" pitchFamily="34" charset="-122"/>
                <a:cs typeface="Roboto" pitchFamily="34" charset="-120"/>
              </a:rPr>
              <a:t>Visualization layer updates in real time; at-risk students are flagged and educators notified automatically</a:t>
            </a:r>
            <a:endParaRPr lang="en-US" sz="500" dirty="0"/>
          </a:p>
        </p:txBody>
      </p:sp>
      <p:sp>
        <p:nvSpPr>
          <p:cNvPr id="44" name="Text 41"/>
          <p:cNvSpPr/>
          <p:nvPr/>
        </p:nvSpPr>
        <p:spPr>
          <a:xfrm>
            <a:off x="6202902" y="6141541"/>
            <a:ext cx="5314916" cy="104973"/>
          </a:xfrm>
          <a:prstGeom prst="rect">
            <a:avLst/>
          </a:prstGeom>
          <a:noFill/>
          <a:ln/>
        </p:spPr>
        <p:txBody>
          <a:bodyPr wrap="none" lIns="0" tIns="0" rIns="0" bIns="0" rtlCol="0" anchor="t"/>
          <a:lstStyle/>
          <a:p>
            <a:pPr algn="l" indent="0" marL="0">
              <a:lnSpc>
                <a:spcPct val="104000"/>
              </a:lnSpc>
              <a:buNone/>
            </a:pPr>
            <a:r>
              <a:rPr lang="en-US" sz="650" dirty="0">
                <a:solidFill>
                  <a:srgbClr val="FFFFFF"/>
                </a:solidFill>
                <a:latin typeface="Raleway" pitchFamily="34" charset="0"/>
                <a:ea typeface="Raleway" pitchFamily="34" charset="-122"/>
                <a:cs typeface="Raleway" pitchFamily="34" charset="-120"/>
              </a:rPr>
              <a:t>System Outputs</a:t>
            </a:r>
            <a:endParaRPr lang="en-US" sz="650" dirty="0"/>
          </a:p>
        </p:txBody>
      </p:sp>
      <p:sp>
        <p:nvSpPr>
          <p:cNvPr id="45" name="Text 42"/>
          <p:cNvSpPr/>
          <p:nvPr/>
        </p:nvSpPr>
        <p:spPr>
          <a:xfrm>
            <a:off x="6202902" y="6273800"/>
            <a:ext cx="5924501" cy="75505"/>
          </a:xfrm>
          <a:prstGeom prst="rect">
            <a:avLst/>
          </a:prstGeom>
          <a:noFill/>
          <a:ln/>
        </p:spPr>
        <p:txBody>
          <a:bodyPr wrap="none" lIns="0" tIns="0" rIns="0" bIns="0" rtlCol="0" anchor="t"/>
          <a:lstStyle/>
          <a:p>
            <a:pPr algn="l" indent="0" marL="0">
              <a:lnSpc>
                <a:spcPct val="94000"/>
              </a:lnSpc>
              <a:buNone/>
            </a:pPr>
            <a:r>
              <a:rPr lang="en-US" sz="500" dirty="0">
                <a:solidFill>
                  <a:srgbClr val="FFFFFF"/>
                </a:solidFill>
                <a:latin typeface="Roboto" pitchFamily="34" charset="0"/>
                <a:ea typeface="Roboto" pitchFamily="34" charset="-122"/>
                <a:cs typeface="Roboto" pitchFamily="34" charset="-120"/>
              </a:rPr>
              <a:t>Predictive performance scores · Risk classifications (low / medium / high) · Subject-wise analysis reports · Cohort comparison summaries · Academic progress documentation</a:t>
            </a:r>
            <a:endParaRPr lang="en-US" sz="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61475" y="770434"/>
            <a:ext cx="624666" cy="176014"/>
          </a:xfrm>
          <a:prstGeom prst="roundRect">
            <a:avLst>
              <a:gd name="adj" fmla="val 22101"/>
            </a:avLst>
          </a:prstGeom>
          <a:solidFill>
            <a:srgbClr val="E1E1EA"/>
          </a:solidFill>
          <a:ln/>
        </p:spPr>
      </p:sp>
      <p:sp>
        <p:nvSpPr>
          <p:cNvPr id="3" name="Text 1"/>
          <p:cNvSpPr/>
          <p:nvPr/>
        </p:nvSpPr>
        <p:spPr>
          <a:xfrm>
            <a:off x="730926" y="805160"/>
            <a:ext cx="1095348" cy="106561"/>
          </a:xfrm>
          <a:prstGeom prst="rect">
            <a:avLst/>
          </a:prstGeom>
          <a:noFill/>
          <a:ln/>
        </p:spPr>
        <p:txBody>
          <a:bodyPr wrap="none" lIns="0" tIns="0" rIns="0" bIns="0" rtlCol="0" anchor="t"/>
          <a:lstStyle/>
          <a:p>
            <a:pPr algn="l" indent="0" marL="0">
              <a:lnSpc>
                <a:spcPct val="96000"/>
              </a:lnSpc>
              <a:buNone/>
            </a:pPr>
            <a:r>
              <a:rPr lang="en-US" sz="700" dirty="0">
                <a:solidFill>
                  <a:srgbClr val="3C3939"/>
                </a:solidFill>
                <a:latin typeface="Roboto" pitchFamily="34" charset="0"/>
                <a:ea typeface="Roboto" pitchFamily="34" charset="-122"/>
                <a:cs typeface="Roboto" pitchFamily="34" charset="-120"/>
              </a:rPr>
              <a:t>CHAPTER 7</a:t>
            </a:r>
            <a:endParaRPr lang="en-US" sz="700" dirty="0"/>
          </a:p>
        </p:txBody>
      </p:sp>
      <p:sp>
        <p:nvSpPr>
          <p:cNvPr id="4" name="Text 2"/>
          <p:cNvSpPr/>
          <p:nvPr/>
        </p:nvSpPr>
        <p:spPr>
          <a:xfrm>
            <a:off x="661475" y="978793"/>
            <a:ext cx="10868745" cy="361752"/>
          </a:xfrm>
          <a:prstGeom prst="rect">
            <a:avLst/>
          </a:prstGeom>
          <a:noFill/>
          <a:ln/>
        </p:spPr>
        <p:txBody>
          <a:bodyPr wrap="none" lIns="0" tIns="0" rIns="0" bIns="0" rtlCol="0" anchor="t"/>
          <a:lstStyle/>
          <a:p>
            <a:pPr algn="l" indent="0" marL="0">
              <a:lnSpc>
                <a:spcPct val="104000"/>
              </a:lnSpc>
              <a:buNone/>
            </a:pPr>
            <a:r>
              <a:rPr lang="en-US" sz="2250" dirty="0">
                <a:solidFill>
                  <a:srgbClr val="1B1B27"/>
                </a:solidFill>
                <a:latin typeface="Raleway" pitchFamily="34" charset="0"/>
                <a:ea typeface="Raleway" pitchFamily="34" charset="-122"/>
                <a:cs typeface="Raleway" pitchFamily="34" charset="-120"/>
              </a:rPr>
              <a:t>Performance Analysis &amp; Insights</a:t>
            </a:r>
            <a:endParaRPr lang="en-US" sz="2250" dirty="0"/>
          </a:p>
        </p:txBody>
      </p:sp>
      <p:sp>
        <p:nvSpPr>
          <p:cNvPr id="5" name="Text 3"/>
          <p:cNvSpPr/>
          <p:nvPr/>
        </p:nvSpPr>
        <p:spPr>
          <a:xfrm>
            <a:off x="661475" y="1462088"/>
            <a:ext cx="10868745" cy="31492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3C3939"/>
                </a:solidFill>
                <a:latin typeface="Roboto" pitchFamily="34" charset="0"/>
                <a:ea typeface="Roboto" pitchFamily="34" charset="-122"/>
                <a:cs typeface="Roboto" pitchFamily="34" charset="-120"/>
              </a:rPr>
              <a:t>Beyond raw predictions, the system is designed to generate a rich layer of interpretive analytics — transforming numerical outputs into actionable intelligence that informs both student-level support and institution-wide strategy.</a:t>
            </a:r>
            <a:endParaRPr lang="en-US" sz="9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868091"/>
            <a:ext cx="289414" cy="289421"/>
          </a:xfrm>
          <a:prstGeom prst="rect">
            <a:avLst/>
          </a:prstGeom>
        </p:spPr>
      </p:pic>
      <p:sp>
        <p:nvSpPr>
          <p:cNvPr id="7" name="Text 4"/>
          <p:cNvSpPr/>
          <p:nvPr/>
        </p:nvSpPr>
        <p:spPr>
          <a:xfrm>
            <a:off x="661475" y="2258814"/>
            <a:ext cx="5383673" cy="180876"/>
          </a:xfrm>
          <a:prstGeom prst="rect">
            <a:avLst/>
          </a:prstGeom>
          <a:noFill/>
          <a:ln/>
        </p:spPr>
        <p:txBody>
          <a:bodyPr wrap="none" lIns="0" tIns="0" rIns="0" bIns="0" rtlCol="0" anchor="t"/>
          <a:lstStyle/>
          <a:p>
            <a:pPr algn="l" indent="0" marL="0">
              <a:lnSpc>
                <a:spcPct val="104000"/>
              </a:lnSpc>
              <a:buNone/>
            </a:pPr>
            <a:r>
              <a:rPr lang="en-US" sz="1100" dirty="0">
                <a:solidFill>
                  <a:srgbClr val="3C3939"/>
                </a:solidFill>
                <a:latin typeface="Raleway" pitchFamily="34" charset="0"/>
                <a:ea typeface="Raleway" pitchFamily="34" charset="-122"/>
                <a:cs typeface="Raleway" pitchFamily="34" charset="-120"/>
              </a:rPr>
              <a:t>Predictive Performance Scores</a:t>
            </a:r>
            <a:endParaRPr lang="en-US" sz="1100" dirty="0"/>
          </a:p>
        </p:txBody>
      </p:sp>
      <p:sp>
        <p:nvSpPr>
          <p:cNvPr id="8" name="Text 5"/>
          <p:cNvSpPr/>
          <p:nvPr/>
        </p:nvSpPr>
        <p:spPr>
          <a:xfrm>
            <a:off x="661475" y="2488307"/>
            <a:ext cx="5383673" cy="47238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3C3939"/>
                </a:solidFill>
                <a:latin typeface="Roboto" pitchFamily="34" charset="0"/>
                <a:ea typeface="Roboto" pitchFamily="34" charset="-122"/>
                <a:cs typeface="Roboto" pitchFamily="34" charset="-120"/>
              </a:rPr>
              <a:t>Each student receives a model-generated predicted final performance score accompanied by confidence intervals, enabling faculty to assess both expected outcome and prediction uncertainty before end-of-semester examinations.</a:t>
            </a:r>
            <a:endParaRPr lang="en-US" sz="90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46448" y="1868091"/>
            <a:ext cx="289414" cy="289421"/>
          </a:xfrm>
          <a:prstGeom prst="rect">
            <a:avLst/>
          </a:prstGeom>
        </p:spPr>
      </p:pic>
      <p:sp>
        <p:nvSpPr>
          <p:cNvPr id="10" name="Text 6"/>
          <p:cNvSpPr/>
          <p:nvPr/>
        </p:nvSpPr>
        <p:spPr>
          <a:xfrm>
            <a:off x="6146448" y="2258814"/>
            <a:ext cx="5383772" cy="180876"/>
          </a:xfrm>
          <a:prstGeom prst="rect">
            <a:avLst/>
          </a:prstGeom>
          <a:noFill/>
          <a:ln/>
        </p:spPr>
        <p:txBody>
          <a:bodyPr wrap="none" lIns="0" tIns="0" rIns="0" bIns="0" rtlCol="0" anchor="t"/>
          <a:lstStyle/>
          <a:p>
            <a:pPr algn="l" indent="0" marL="0">
              <a:lnSpc>
                <a:spcPct val="104000"/>
              </a:lnSpc>
              <a:buNone/>
            </a:pPr>
            <a:r>
              <a:rPr lang="en-US" sz="1100" dirty="0">
                <a:solidFill>
                  <a:srgbClr val="3C3939"/>
                </a:solidFill>
                <a:latin typeface="Raleway" pitchFamily="34" charset="0"/>
                <a:ea typeface="Raleway" pitchFamily="34" charset="-122"/>
                <a:cs typeface="Raleway" pitchFamily="34" charset="-120"/>
              </a:rPr>
              <a:t>At-Risk Student Identification</a:t>
            </a:r>
            <a:endParaRPr lang="en-US" sz="1100" dirty="0"/>
          </a:p>
        </p:txBody>
      </p:sp>
      <p:sp>
        <p:nvSpPr>
          <p:cNvPr id="11" name="Text 7"/>
          <p:cNvSpPr/>
          <p:nvPr/>
        </p:nvSpPr>
        <p:spPr>
          <a:xfrm>
            <a:off x="6146448" y="2488307"/>
            <a:ext cx="5383772" cy="47238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3C3939"/>
                </a:solidFill>
                <a:latin typeface="Roboto" pitchFamily="34" charset="0"/>
                <a:ea typeface="Roboto" pitchFamily="34" charset="-122"/>
                <a:cs typeface="Roboto" pitchFamily="34" charset="-120"/>
              </a:rPr>
              <a:t>Students whose predicted performance falls below a defined institutional threshold are automatically flagged. Risk classifications (low / medium / high) allow counselors and faculty to prioritize intervention efforts efficiently.</a:t>
            </a:r>
            <a:endParaRPr lang="en-US" sz="90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122712"/>
            <a:ext cx="289414" cy="289421"/>
          </a:xfrm>
          <a:prstGeom prst="rect">
            <a:avLst/>
          </a:prstGeom>
        </p:spPr>
      </p:pic>
      <p:sp>
        <p:nvSpPr>
          <p:cNvPr id="13" name="Text 8"/>
          <p:cNvSpPr/>
          <p:nvPr/>
        </p:nvSpPr>
        <p:spPr>
          <a:xfrm>
            <a:off x="661475" y="3513435"/>
            <a:ext cx="5383673" cy="180876"/>
          </a:xfrm>
          <a:prstGeom prst="rect">
            <a:avLst/>
          </a:prstGeom>
          <a:noFill/>
          <a:ln/>
        </p:spPr>
        <p:txBody>
          <a:bodyPr wrap="none" lIns="0" tIns="0" rIns="0" bIns="0" rtlCol="0" anchor="t"/>
          <a:lstStyle/>
          <a:p>
            <a:pPr algn="l" indent="0" marL="0">
              <a:lnSpc>
                <a:spcPct val="104000"/>
              </a:lnSpc>
              <a:buNone/>
            </a:pPr>
            <a:r>
              <a:rPr lang="en-US" sz="1100" dirty="0">
                <a:solidFill>
                  <a:srgbClr val="3C3939"/>
                </a:solidFill>
                <a:latin typeface="Raleway" pitchFamily="34" charset="0"/>
                <a:ea typeface="Raleway" pitchFamily="34" charset="-122"/>
                <a:cs typeface="Raleway" pitchFamily="34" charset="-120"/>
              </a:rPr>
              <a:t>Subject-Wise Analysis</a:t>
            </a:r>
            <a:endParaRPr lang="en-US" sz="1100" dirty="0"/>
          </a:p>
        </p:txBody>
      </p:sp>
      <p:sp>
        <p:nvSpPr>
          <p:cNvPr id="14" name="Text 9"/>
          <p:cNvSpPr/>
          <p:nvPr/>
        </p:nvSpPr>
        <p:spPr>
          <a:xfrm>
            <a:off x="661475" y="3742928"/>
            <a:ext cx="5383673" cy="47238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3C3939"/>
                </a:solidFill>
                <a:latin typeface="Roboto" pitchFamily="34" charset="0"/>
                <a:ea typeface="Roboto" pitchFamily="34" charset="-122"/>
                <a:cs typeface="Roboto" pitchFamily="34" charset="-120"/>
              </a:rPr>
              <a:t>Performance predictions and factor-level analysis are generated at the individual course and subject level — allowing identification of specific academic areas where a student is struggling or excelling independently.</a:t>
            </a:r>
            <a:endParaRPr lang="en-US" sz="90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46448" y="3122712"/>
            <a:ext cx="289414" cy="289421"/>
          </a:xfrm>
          <a:prstGeom prst="rect">
            <a:avLst/>
          </a:prstGeom>
        </p:spPr>
      </p:pic>
      <p:sp>
        <p:nvSpPr>
          <p:cNvPr id="16" name="Text 10"/>
          <p:cNvSpPr/>
          <p:nvPr/>
        </p:nvSpPr>
        <p:spPr>
          <a:xfrm>
            <a:off x="6146448" y="3513435"/>
            <a:ext cx="5383772" cy="180876"/>
          </a:xfrm>
          <a:prstGeom prst="rect">
            <a:avLst/>
          </a:prstGeom>
          <a:noFill/>
          <a:ln/>
        </p:spPr>
        <p:txBody>
          <a:bodyPr wrap="none" lIns="0" tIns="0" rIns="0" bIns="0" rtlCol="0" anchor="t"/>
          <a:lstStyle/>
          <a:p>
            <a:pPr algn="l" indent="0" marL="0">
              <a:lnSpc>
                <a:spcPct val="104000"/>
              </a:lnSpc>
              <a:buNone/>
            </a:pPr>
            <a:r>
              <a:rPr lang="en-US" sz="1100" dirty="0">
                <a:solidFill>
                  <a:srgbClr val="3C3939"/>
                </a:solidFill>
                <a:latin typeface="Raleway" pitchFamily="34" charset="0"/>
                <a:ea typeface="Raleway" pitchFamily="34" charset="-122"/>
                <a:cs typeface="Raleway" pitchFamily="34" charset="-120"/>
              </a:rPr>
              <a:t>Correlation Analysis</a:t>
            </a:r>
            <a:endParaRPr lang="en-US" sz="1100" dirty="0"/>
          </a:p>
        </p:txBody>
      </p:sp>
      <p:sp>
        <p:nvSpPr>
          <p:cNvPr id="17" name="Text 11"/>
          <p:cNvSpPr/>
          <p:nvPr/>
        </p:nvSpPr>
        <p:spPr>
          <a:xfrm>
            <a:off x="6146448" y="3742928"/>
            <a:ext cx="5383772" cy="47238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3C3939"/>
                </a:solidFill>
                <a:latin typeface="Roboto" pitchFamily="34" charset="0"/>
                <a:ea typeface="Roboto" pitchFamily="34" charset="-122"/>
                <a:cs typeface="Roboto" pitchFamily="34" charset="-120"/>
              </a:rPr>
              <a:t>The system visualizes pairwise relationships between academic variables — attendance versus final marks, study hours versus assessment scores — using scatter plots and correlation heatmaps to reveal structural patterns in the data.</a:t>
            </a:r>
            <a:endParaRPr lang="en-US" sz="900" dirty="0"/>
          </a:p>
        </p:txBody>
      </p:sp>
      <p:pic>
        <p:nvPicPr>
          <p:cNvPr id="18"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1475" y="4377333"/>
            <a:ext cx="289414" cy="289421"/>
          </a:xfrm>
          <a:prstGeom prst="rect">
            <a:avLst/>
          </a:prstGeom>
        </p:spPr>
      </p:pic>
      <p:sp>
        <p:nvSpPr>
          <p:cNvPr id="19" name="Text 12"/>
          <p:cNvSpPr/>
          <p:nvPr/>
        </p:nvSpPr>
        <p:spPr>
          <a:xfrm>
            <a:off x="661475" y="4768056"/>
            <a:ext cx="5383673" cy="180876"/>
          </a:xfrm>
          <a:prstGeom prst="rect">
            <a:avLst/>
          </a:prstGeom>
          <a:noFill/>
          <a:ln/>
        </p:spPr>
        <p:txBody>
          <a:bodyPr wrap="none" lIns="0" tIns="0" rIns="0" bIns="0" rtlCol="0" anchor="t"/>
          <a:lstStyle/>
          <a:p>
            <a:pPr algn="l" indent="0" marL="0">
              <a:lnSpc>
                <a:spcPct val="104000"/>
              </a:lnSpc>
              <a:buNone/>
            </a:pPr>
            <a:r>
              <a:rPr lang="en-US" sz="1100" dirty="0">
                <a:solidFill>
                  <a:srgbClr val="3C3939"/>
                </a:solidFill>
                <a:latin typeface="Raleway" pitchFamily="34" charset="0"/>
                <a:ea typeface="Raleway" pitchFamily="34" charset="-122"/>
                <a:cs typeface="Raleway" pitchFamily="34" charset="-120"/>
              </a:rPr>
              <a:t>Temporal Performance Trends</a:t>
            </a:r>
            <a:endParaRPr lang="en-US" sz="1100" dirty="0"/>
          </a:p>
        </p:txBody>
      </p:sp>
      <p:sp>
        <p:nvSpPr>
          <p:cNvPr id="20" name="Text 13"/>
          <p:cNvSpPr/>
          <p:nvPr/>
        </p:nvSpPr>
        <p:spPr>
          <a:xfrm>
            <a:off x="661475" y="4997549"/>
            <a:ext cx="5383673" cy="47238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3C3939"/>
                </a:solidFill>
                <a:latin typeface="Roboto" pitchFamily="34" charset="0"/>
                <a:ea typeface="Roboto" pitchFamily="34" charset="-122"/>
                <a:cs typeface="Roboto" pitchFamily="34" charset="-120"/>
              </a:rPr>
              <a:t>Longitudinal analysis tracks each student's academic trajectory across multiple semesters, surfacing improvement and decline patterns that inform cumulative risk assessments and long-term academic planning.</a:t>
            </a:r>
            <a:endParaRPr lang="en-US" sz="900" dirty="0"/>
          </a:p>
        </p:txBody>
      </p:sp>
      <p:pic>
        <p:nvPicPr>
          <p:cNvPr id="21"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146448" y="4377333"/>
            <a:ext cx="289414" cy="289421"/>
          </a:xfrm>
          <a:prstGeom prst="rect">
            <a:avLst/>
          </a:prstGeom>
        </p:spPr>
      </p:pic>
      <p:sp>
        <p:nvSpPr>
          <p:cNvPr id="22" name="Text 14"/>
          <p:cNvSpPr/>
          <p:nvPr/>
        </p:nvSpPr>
        <p:spPr>
          <a:xfrm>
            <a:off x="6146448" y="4768056"/>
            <a:ext cx="5383772" cy="180876"/>
          </a:xfrm>
          <a:prstGeom prst="rect">
            <a:avLst/>
          </a:prstGeom>
          <a:noFill/>
          <a:ln/>
        </p:spPr>
        <p:txBody>
          <a:bodyPr wrap="none" lIns="0" tIns="0" rIns="0" bIns="0" rtlCol="0" anchor="t"/>
          <a:lstStyle/>
          <a:p>
            <a:pPr algn="l" indent="0" marL="0">
              <a:lnSpc>
                <a:spcPct val="104000"/>
              </a:lnSpc>
              <a:buNone/>
            </a:pPr>
            <a:r>
              <a:rPr lang="en-US" sz="1100" dirty="0">
                <a:solidFill>
                  <a:srgbClr val="3C3939"/>
                </a:solidFill>
                <a:latin typeface="Raleway" pitchFamily="34" charset="0"/>
                <a:ea typeface="Raleway" pitchFamily="34" charset="-122"/>
                <a:cs typeface="Raleway" pitchFamily="34" charset="-120"/>
              </a:rPr>
              <a:t>Comparative Insights</a:t>
            </a:r>
            <a:endParaRPr lang="en-US" sz="1100" dirty="0"/>
          </a:p>
        </p:txBody>
      </p:sp>
      <p:sp>
        <p:nvSpPr>
          <p:cNvPr id="23" name="Text 15"/>
          <p:cNvSpPr/>
          <p:nvPr/>
        </p:nvSpPr>
        <p:spPr>
          <a:xfrm>
            <a:off x="6146448" y="4997549"/>
            <a:ext cx="5383772" cy="47238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3C3939"/>
                </a:solidFill>
                <a:latin typeface="Roboto" pitchFamily="34" charset="0"/>
                <a:ea typeface="Roboto" pitchFamily="34" charset="-122"/>
                <a:cs typeface="Roboto" pitchFamily="34" charset="-120"/>
              </a:rPr>
              <a:t>Performance benchmarking at multiple levels — individual student, class section, department cohort — enables both micro-level student counseling and macro-level curriculum and teaching strategy evaluation.</a:t>
            </a:r>
            <a:endParaRPr lang="en-US" sz="900" dirty="0"/>
          </a:p>
        </p:txBody>
      </p:sp>
      <p:sp>
        <p:nvSpPr>
          <p:cNvPr id="24" name="Shape 16"/>
          <p:cNvSpPr/>
          <p:nvPr/>
        </p:nvSpPr>
        <p:spPr>
          <a:xfrm>
            <a:off x="661475" y="5561013"/>
            <a:ext cx="10868745" cy="526554"/>
          </a:xfrm>
          <a:prstGeom prst="roundRect">
            <a:avLst>
              <a:gd name="adj" fmla="val 9235"/>
            </a:avLst>
          </a:prstGeom>
          <a:solidFill>
            <a:srgbClr val="E1E1EA"/>
          </a:solidFill>
          <a:ln/>
        </p:spPr>
      </p:sp>
      <p:pic>
        <p:nvPicPr>
          <p:cNvPr id="25" name="Image 6" descr="preencoded.png">    </p:cNvPr>
          <p:cNvPicPr>
            <a:picLocks noChangeAspect="1"/>
          </p:cNvPicPr>
          <p:nvPr/>
        </p:nvPicPr>
        <p:blipFill>
          <a:blip r:embed="rId13"/>
          <a:stretch>
            <a:fillRect/>
          </a:stretch>
        </p:blipFill>
        <p:spPr>
          <a:xfrm>
            <a:off x="777161" y="5677495"/>
            <a:ext cx="144657" cy="115689"/>
          </a:xfrm>
          <a:prstGeom prst="rect">
            <a:avLst/>
          </a:prstGeom>
        </p:spPr>
      </p:pic>
      <p:sp>
        <p:nvSpPr>
          <p:cNvPr id="26" name="Text 17"/>
          <p:cNvSpPr/>
          <p:nvPr/>
        </p:nvSpPr>
        <p:spPr>
          <a:xfrm>
            <a:off x="1037505" y="5670848"/>
            <a:ext cx="10377029" cy="314920"/>
          </a:xfrm>
          <a:prstGeom prst="rect">
            <a:avLst/>
          </a:prstGeom>
          <a:noFill/>
          <a:ln/>
        </p:spPr>
        <p:txBody>
          <a:bodyPr wrap="square" lIns="0" tIns="0" rIns="0" bIns="0" rtlCol="0" anchor="t">
            <a:normAutofit/>
          </a:bodyPr>
          <a:lstStyle/>
          <a:p>
            <a:pPr algn="l" indent="0" marL="0">
              <a:lnSpc>
                <a:spcPct val="113000"/>
              </a:lnSpc>
              <a:buNone/>
            </a:pPr>
            <a:r>
              <a:rPr lang="en-US" sz="900" b="1" dirty="0">
                <a:solidFill>
                  <a:srgbClr val="000000"/>
                </a:solidFill>
                <a:latin typeface="Roboto Bold" pitchFamily="34" charset="0"/>
                <a:ea typeface="Roboto Bold" pitchFamily="34" charset="-122"/>
                <a:cs typeface="Roboto Bold" pitchFamily="34" charset="-120"/>
              </a:rPr>
              <a:t>Factor Importance:</a:t>
            </a:r>
            <a:pPr algn="l" indent="0" marL="0">
              <a:lnSpc>
                <a:spcPct val="113000"/>
              </a:lnSpc>
              <a:buNone/>
            </a:pPr>
            <a:r>
              <a:rPr lang="en-US" sz="900" dirty="0">
                <a:solidFill>
                  <a:srgbClr val="000000"/>
                </a:solidFill>
                <a:latin typeface="Roboto" pitchFamily="34" charset="0"/>
                <a:ea typeface="Roboto" pitchFamily="34" charset="-122"/>
                <a:cs typeface="Roboto" pitchFamily="34" charset="-120"/>
              </a:rPr>
              <a:t> Regression coefficient analysis explicitly identifies which academic variables (e.g., internal marks vs. attendance) carry the greatest statistical weight in determining final performance — guiding institutional emphasis and resource allocation.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61475" y="1175147"/>
            <a:ext cx="579919" cy="163413"/>
          </a:xfrm>
          <a:prstGeom prst="roundRect">
            <a:avLst>
              <a:gd name="adj" fmla="val 22104"/>
            </a:avLst>
          </a:prstGeom>
          <a:solidFill>
            <a:srgbClr val="E1E1EA"/>
          </a:solidFill>
          <a:ln/>
        </p:spPr>
      </p:sp>
      <p:sp>
        <p:nvSpPr>
          <p:cNvPr id="3" name="Text 1"/>
          <p:cNvSpPr/>
          <p:nvPr/>
        </p:nvSpPr>
        <p:spPr>
          <a:xfrm>
            <a:off x="725965" y="1207393"/>
            <a:ext cx="1060523" cy="98921"/>
          </a:xfrm>
          <a:prstGeom prst="rect">
            <a:avLst/>
          </a:prstGeom>
          <a:noFill/>
          <a:ln/>
        </p:spPr>
        <p:txBody>
          <a:bodyPr wrap="none" lIns="0" tIns="0" rIns="0" bIns="0" rtlCol="0" anchor="t"/>
          <a:lstStyle/>
          <a:p>
            <a:pPr algn="l" indent="0" marL="0">
              <a:lnSpc>
                <a:spcPct val="96000"/>
              </a:lnSpc>
              <a:buNone/>
            </a:pPr>
            <a:r>
              <a:rPr lang="en-US" sz="650" dirty="0">
                <a:solidFill>
                  <a:srgbClr val="3C3939"/>
                </a:solidFill>
                <a:latin typeface="Roboto" pitchFamily="34" charset="0"/>
                <a:ea typeface="Roboto" pitchFamily="34" charset="-122"/>
                <a:cs typeface="Roboto" pitchFamily="34" charset="-120"/>
              </a:rPr>
              <a:t>CHAPTER 8</a:t>
            </a:r>
            <a:endParaRPr lang="en-US" sz="650" dirty="0"/>
          </a:p>
        </p:txBody>
      </p:sp>
      <p:sp>
        <p:nvSpPr>
          <p:cNvPr id="4" name="Text 2"/>
          <p:cNvSpPr/>
          <p:nvPr/>
        </p:nvSpPr>
        <p:spPr>
          <a:xfrm>
            <a:off x="661475" y="1366441"/>
            <a:ext cx="10868745" cy="335955"/>
          </a:xfrm>
          <a:prstGeom prst="rect">
            <a:avLst/>
          </a:prstGeom>
          <a:noFill/>
          <a:ln/>
        </p:spPr>
        <p:txBody>
          <a:bodyPr wrap="none" lIns="0" tIns="0" rIns="0" bIns="0" rtlCol="0" anchor="t"/>
          <a:lstStyle/>
          <a:p>
            <a:pPr algn="l" indent="0" marL="0">
              <a:lnSpc>
                <a:spcPct val="104000"/>
              </a:lnSpc>
              <a:buNone/>
            </a:pPr>
            <a:r>
              <a:rPr lang="en-US" sz="2100" dirty="0">
                <a:solidFill>
                  <a:srgbClr val="1B1B27"/>
                </a:solidFill>
                <a:latin typeface="Raleway" pitchFamily="34" charset="0"/>
                <a:ea typeface="Raleway" pitchFamily="34" charset="-122"/>
                <a:cs typeface="Raleway" pitchFamily="34" charset="-120"/>
              </a:rPr>
              <a:t>Model Evaluation &amp; Regression Metrics</a:t>
            </a:r>
            <a:endParaRPr lang="en-US" sz="2100" dirty="0"/>
          </a:p>
        </p:txBody>
      </p:sp>
      <p:sp>
        <p:nvSpPr>
          <p:cNvPr id="5" name="Text 3"/>
          <p:cNvSpPr/>
          <p:nvPr/>
        </p:nvSpPr>
        <p:spPr>
          <a:xfrm>
            <a:off x="661475" y="1807170"/>
            <a:ext cx="10868745" cy="283766"/>
          </a:xfrm>
          <a:prstGeom prst="rect">
            <a:avLst/>
          </a:prstGeom>
          <a:noFill/>
          <a:ln/>
        </p:spPr>
        <p:txBody>
          <a:bodyPr wrap="square" lIns="0" tIns="0" rIns="0" bIns="0" rtlCol="0" anchor="t">
            <a:normAutofit/>
          </a:bodyPr>
          <a:lstStyle/>
          <a:p>
            <a:pPr algn="l" indent="0" marL="0">
              <a:lnSpc>
                <a:spcPct val="110000"/>
              </a:lnSpc>
              <a:buNone/>
            </a:pPr>
            <a:r>
              <a:rPr lang="en-US" sz="800" dirty="0">
                <a:solidFill>
                  <a:srgbClr val="3C3939"/>
                </a:solidFill>
                <a:latin typeface="Roboto" pitchFamily="34" charset="0"/>
                <a:ea typeface="Roboto" pitchFamily="34" charset="-122"/>
                <a:cs typeface="Roboto" pitchFamily="34" charset="-120"/>
              </a:rPr>
              <a:t>Rigorous evaluation ensures that the regression model is accurate, generalizable, and reliable across diverse student cohorts. The system employs a structured validation methodology using standard regression performance metrics.</a:t>
            </a:r>
            <a:endParaRPr lang="en-US" sz="800" dirty="0"/>
          </a:p>
        </p:txBody>
      </p:sp>
      <p:sp>
        <p:nvSpPr>
          <p:cNvPr id="6" name="Shape 4"/>
          <p:cNvSpPr/>
          <p:nvPr/>
        </p:nvSpPr>
        <p:spPr>
          <a:xfrm>
            <a:off x="584086" y="2169517"/>
            <a:ext cx="5458085" cy="3513237"/>
          </a:xfrm>
          <a:prstGeom prst="roundRect">
            <a:avLst>
              <a:gd name="adj" fmla="val 2203"/>
            </a:avLst>
          </a:prstGeom>
          <a:solidFill>
            <a:srgbClr val="1B1B27">
              <a:alpha val="95000"/>
            </a:srgbClr>
          </a:solidFill>
          <a:ln/>
        </p:spPr>
      </p:sp>
      <p:sp>
        <p:nvSpPr>
          <p:cNvPr id="7" name="Text 5"/>
          <p:cNvSpPr/>
          <p:nvPr/>
        </p:nvSpPr>
        <p:spPr>
          <a:xfrm>
            <a:off x="691537" y="2239367"/>
            <a:ext cx="5243183" cy="167878"/>
          </a:xfrm>
          <a:prstGeom prst="rect">
            <a:avLst/>
          </a:prstGeom>
          <a:noFill/>
          <a:ln/>
        </p:spPr>
        <p:txBody>
          <a:bodyPr wrap="none" lIns="0" tIns="0" rIns="0" bIns="0" rtlCol="0" anchor="t"/>
          <a:lstStyle/>
          <a:p>
            <a:pPr algn="l" indent="0" marL="0">
              <a:lnSpc>
                <a:spcPct val="104000"/>
              </a:lnSpc>
              <a:buNone/>
            </a:pPr>
            <a:r>
              <a:rPr lang="en-US" sz="1050" dirty="0">
                <a:solidFill>
                  <a:srgbClr val="FFFFFF"/>
                </a:solidFill>
                <a:latin typeface="Raleway" pitchFamily="34" charset="0"/>
                <a:ea typeface="Raleway" pitchFamily="34" charset="-122"/>
                <a:cs typeface="Raleway" pitchFamily="34" charset="-120"/>
              </a:rPr>
              <a:t>Evaluation Methodology</a:t>
            </a:r>
            <a:endParaRPr lang="en-US" sz="1050" dirty="0"/>
          </a:p>
        </p:txBody>
      </p:sp>
      <p:sp>
        <p:nvSpPr>
          <p:cNvPr id="8" name="Text 6"/>
          <p:cNvSpPr/>
          <p:nvPr/>
        </p:nvSpPr>
        <p:spPr>
          <a:xfrm>
            <a:off x="691537" y="2485827"/>
            <a:ext cx="215002" cy="134342"/>
          </a:xfrm>
          <a:prstGeom prst="rect">
            <a:avLst/>
          </a:prstGeom>
          <a:noFill/>
          <a:ln/>
        </p:spPr>
        <p:txBody>
          <a:bodyPr wrap="none" lIns="0" tIns="0" rIns="0" bIns="0" rtlCol="0" anchor="ctr"/>
          <a:lstStyle/>
          <a:p>
            <a:pPr algn="l" indent="0" marL="0">
              <a:lnSpc>
                <a:spcPct val="100000"/>
              </a:lnSpc>
              <a:buNone/>
            </a:pPr>
            <a:r>
              <a:rPr lang="en-US" sz="800" dirty="0">
                <a:solidFill>
                  <a:srgbClr val="FFFFFF"/>
                </a:solidFill>
                <a:latin typeface="Raleway Light" pitchFamily="34" charset="0"/>
                <a:ea typeface="Raleway Light" pitchFamily="34" charset="-122"/>
                <a:cs typeface="Raleway Light" pitchFamily="34" charset="-120"/>
              </a:rPr>
              <a:t>01</a:t>
            </a:r>
            <a:endParaRPr lang="en-US" sz="800" dirty="0"/>
          </a:p>
        </p:txBody>
      </p:sp>
      <p:sp>
        <p:nvSpPr>
          <p:cNvPr id="9" name="Shape 7"/>
          <p:cNvSpPr/>
          <p:nvPr/>
        </p:nvSpPr>
        <p:spPr>
          <a:xfrm>
            <a:off x="691537" y="2655689"/>
            <a:ext cx="5243183" cy="12700"/>
          </a:xfrm>
          <a:prstGeom prst="rect">
            <a:avLst/>
          </a:prstGeom>
          <a:solidFill>
            <a:srgbClr val="1B1B27"/>
          </a:solidFill>
          <a:ln/>
        </p:spPr>
      </p:sp>
      <p:sp>
        <p:nvSpPr>
          <p:cNvPr id="10" name="Text 8"/>
          <p:cNvSpPr/>
          <p:nvPr/>
        </p:nvSpPr>
        <p:spPr>
          <a:xfrm>
            <a:off x="691537" y="2734766"/>
            <a:ext cx="5243183" cy="167878"/>
          </a:xfrm>
          <a:prstGeom prst="rect">
            <a:avLst/>
          </a:prstGeom>
          <a:noFill/>
          <a:ln/>
        </p:spPr>
        <p:txBody>
          <a:bodyPr wrap="none" lIns="0" tIns="0" rIns="0" bIns="0" rtlCol="0" anchor="t"/>
          <a:lstStyle/>
          <a:p>
            <a:pPr algn="l" indent="0" marL="0">
              <a:lnSpc>
                <a:spcPct val="104000"/>
              </a:lnSpc>
              <a:buNone/>
            </a:pPr>
            <a:r>
              <a:rPr lang="en-US" sz="1050" dirty="0">
                <a:solidFill>
                  <a:srgbClr val="FFFFFF"/>
                </a:solidFill>
                <a:latin typeface="Raleway" pitchFamily="34" charset="0"/>
                <a:ea typeface="Raleway" pitchFamily="34" charset="-122"/>
                <a:cs typeface="Raleway" pitchFamily="34" charset="-120"/>
              </a:rPr>
              <a:t>Train-Test Split</a:t>
            </a:r>
            <a:endParaRPr lang="en-US" sz="1050" dirty="0"/>
          </a:p>
        </p:txBody>
      </p:sp>
      <p:sp>
        <p:nvSpPr>
          <p:cNvPr id="11" name="Text 9"/>
          <p:cNvSpPr/>
          <p:nvPr/>
        </p:nvSpPr>
        <p:spPr>
          <a:xfrm>
            <a:off x="691537" y="2972495"/>
            <a:ext cx="5243183" cy="425648"/>
          </a:xfrm>
          <a:prstGeom prst="rect">
            <a:avLst/>
          </a:prstGeom>
          <a:noFill/>
          <a:ln/>
        </p:spPr>
        <p:txBody>
          <a:bodyPr wrap="square" lIns="0" tIns="0" rIns="0" bIns="0" rtlCol="0" anchor="t">
            <a:normAutofit/>
          </a:bodyPr>
          <a:lstStyle/>
          <a:p>
            <a:pPr algn="l" indent="0" marL="0">
              <a:lnSpc>
                <a:spcPct val="110000"/>
              </a:lnSpc>
              <a:buNone/>
            </a:pPr>
            <a:r>
              <a:rPr lang="en-US" sz="800" dirty="0">
                <a:solidFill>
                  <a:srgbClr val="FFFFFF"/>
                </a:solidFill>
                <a:latin typeface="Roboto" pitchFamily="34" charset="0"/>
                <a:ea typeface="Roboto" pitchFamily="34" charset="-122"/>
                <a:cs typeface="Roboto" pitchFamily="34" charset="-120"/>
              </a:rPr>
              <a:t>Historical academic dataset partitioned into training (typically 70–80%) and held-out test sets (20–30%). Model is trained exclusively on the training partition and evaluated on unseen test data to simulate real deployment conditions.</a:t>
            </a:r>
            <a:endParaRPr lang="en-US" sz="800" dirty="0"/>
          </a:p>
        </p:txBody>
      </p:sp>
      <p:sp>
        <p:nvSpPr>
          <p:cNvPr id="12" name="Text 10"/>
          <p:cNvSpPr/>
          <p:nvPr/>
        </p:nvSpPr>
        <p:spPr>
          <a:xfrm>
            <a:off x="691537" y="3548559"/>
            <a:ext cx="215002" cy="134342"/>
          </a:xfrm>
          <a:prstGeom prst="rect">
            <a:avLst/>
          </a:prstGeom>
          <a:noFill/>
          <a:ln/>
        </p:spPr>
        <p:txBody>
          <a:bodyPr wrap="none" lIns="0" tIns="0" rIns="0" bIns="0" rtlCol="0" anchor="ctr"/>
          <a:lstStyle/>
          <a:p>
            <a:pPr algn="l" indent="0" marL="0">
              <a:lnSpc>
                <a:spcPct val="100000"/>
              </a:lnSpc>
              <a:buNone/>
            </a:pPr>
            <a:r>
              <a:rPr lang="en-US" sz="800" dirty="0">
                <a:solidFill>
                  <a:srgbClr val="FFFFFF"/>
                </a:solidFill>
                <a:latin typeface="Raleway Light" pitchFamily="34" charset="0"/>
                <a:ea typeface="Raleway Light" pitchFamily="34" charset="-122"/>
                <a:cs typeface="Raleway Light" pitchFamily="34" charset="-120"/>
              </a:rPr>
              <a:t>02</a:t>
            </a:r>
            <a:endParaRPr lang="en-US" sz="800" dirty="0"/>
          </a:p>
        </p:txBody>
      </p:sp>
      <p:sp>
        <p:nvSpPr>
          <p:cNvPr id="13" name="Shape 11"/>
          <p:cNvSpPr/>
          <p:nvPr/>
        </p:nvSpPr>
        <p:spPr>
          <a:xfrm>
            <a:off x="691537" y="3718421"/>
            <a:ext cx="5243183" cy="12700"/>
          </a:xfrm>
          <a:prstGeom prst="rect">
            <a:avLst/>
          </a:prstGeom>
          <a:solidFill>
            <a:srgbClr val="1B1B27"/>
          </a:solidFill>
          <a:ln/>
        </p:spPr>
      </p:sp>
      <p:sp>
        <p:nvSpPr>
          <p:cNvPr id="14" name="Text 12"/>
          <p:cNvSpPr/>
          <p:nvPr/>
        </p:nvSpPr>
        <p:spPr>
          <a:xfrm>
            <a:off x="691537" y="3797498"/>
            <a:ext cx="5243183" cy="167878"/>
          </a:xfrm>
          <a:prstGeom prst="rect">
            <a:avLst/>
          </a:prstGeom>
          <a:noFill/>
          <a:ln/>
        </p:spPr>
        <p:txBody>
          <a:bodyPr wrap="none" lIns="0" tIns="0" rIns="0" bIns="0" rtlCol="0" anchor="t"/>
          <a:lstStyle/>
          <a:p>
            <a:pPr algn="l" indent="0" marL="0">
              <a:lnSpc>
                <a:spcPct val="104000"/>
              </a:lnSpc>
              <a:buNone/>
            </a:pPr>
            <a:r>
              <a:rPr lang="en-US" sz="1050" dirty="0">
                <a:solidFill>
                  <a:srgbClr val="FFFFFF"/>
                </a:solidFill>
                <a:latin typeface="Raleway" pitchFamily="34" charset="0"/>
                <a:ea typeface="Raleway" pitchFamily="34" charset="-122"/>
                <a:cs typeface="Raleway" pitchFamily="34" charset="-120"/>
              </a:rPr>
              <a:t>K-Fold Cross-Validation</a:t>
            </a:r>
            <a:endParaRPr lang="en-US" sz="1050" dirty="0"/>
          </a:p>
        </p:txBody>
      </p:sp>
      <p:sp>
        <p:nvSpPr>
          <p:cNvPr id="15" name="Text 13"/>
          <p:cNvSpPr/>
          <p:nvPr/>
        </p:nvSpPr>
        <p:spPr>
          <a:xfrm>
            <a:off x="691537" y="4035227"/>
            <a:ext cx="5243183" cy="425648"/>
          </a:xfrm>
          <a:prstGeom prst="rect">
            <a:avLst/>
          </a:prstGeom>
          <a:noFill/>
          <a:ln/>
        </p:spPr>
        <p:txBody>
          <a:bodyPr wrap="square" lIns="0" tIns="0" rIns="0" bIns="0" rtlCol="0" anchor="t">
            <a:normAutofit/>
          </a:bodyPr>
          <a:lstStyle/>
          <a:p>
            <a:pPr algn="l" indent="0" marL="0">
              <a:lnSpc>
                <a:spcPct val="110000"/>
              </a:lnSpc>
              <a:buNone/>
            </a:pPr>
            <a:r>
              <a:rPr lang="en-US" sz="800" dirty="0">
                <a:solidFill>
                  <a:srgbClr val="FFFFFF"/>
                </a:solidFill>
                <a:latin typeface="Roboto" pitchFamily="34" charset="0"/>
                <a:ea typeface="Roboto" pitchFamily="34" charset="-122"/>
                <a:cs typeface="Roboto" pitchFamily="34" charset="-120"/>
              </a:rPr>
              <a:t>The dataset is divided into K equal folds; the model is trained on K-1 folds and validated on the remaining fold, repeated K times. This technique ensures evaluation stability and reduces sensitivity to any single train-test split, confirming generalization across different student cohorts.</a:t>
            </a:r>
            <a:endParaRPr lang="en-US" sz="800" dirty="0"/>
          </a:p>
        </p:txBody>
      </p:sp>
      <p:sp>
        <p:nvSpPr>
          <p:cNvPr id="16" name="Text 14"/>
          <p:cNvSpPr/>
          <p:nvPr/>
        </p:nvSpPr>
        <p:spPr>
          <a:xfrm>
            <a:off x="691537" y="4611291"/>
            <a:ext cx="215002" cy="134342"/>
          </a:xfrm>
          <a:prstGeom prst="rect">
            <a:avLst/>
          </a:prstGeom>
          <a:noFill/>
          <a:ln/>
        </p:spPr>
        <p:txBody>
          <a:bodyPr wrap="none" lIns="0" tIns="0" rIns="0" bIns="0" rtlCol="0" anchor="ctr"/>
          <a:lstStyle/>
          <a:p>
            <a:pPr algn="l" indent="0" marL="0">
              <a:lnSpc>
                <a:spcPct val="100000"/>
              </a:lnSpc>
              <a:buNone/>
            </a:pPr>
            <a:r>
              <a:rPr lang="en-US" sz="800" dirty="0">
                <a:solidFill>
                  <a:srgbClr val="FFFFFF"/>
                </a:solidFill>
                <a:latin typeface="Raleway Light" pitchFamily="34" charset="0"/>
                <a:ea typeface="Raleway Light" pitchFamily="34" charset="-122"/>
                <a:cs typeface="Raleway Light" pitchFamily="34" charset="-120"/>
              </a:rPr>
              <a:t>03</a:t>
            </a:r>
            <a:endParaRPr lang="en-US" sz="800" dirty="0"/>
          </a:p>
        </p:txBody>
      </p:sp>
      <p:sp>
        <p:nvSpPr>
          <p:cNvPr id="17" name="Shape 15"/>
          <p:cNvSpPr/>
          <p:nvPr/>
        </p:nvSpPr>
        <p:spPr>
          <a:xfrm>
            <a:off x="691537" y="4781153"/>
            <a:ext cx="5243183" cy="12700"/>
          </a:xfrm>
          <a:prstGeom prst="rect">
            <a:avLst/>
          </a:prstGeom>
          <a:solidFill>
            <a:srgbClr val="1B1B27"/>
          </a:solidFill>
          <a:ln/>
        </p:spPr>
      </p:sp>
      <p:sp>
        <p:nvSpPr>
          <p:cNvPr id="18" name="Text 16"/>
          <p:cNvSpPr/>
          <p:nvPr/>
        </p:nvSpPr>
        <p:spPr>
          <a:xfrm>
            <a:off x="691537" y="4860230"/>
            <a:ext cx="5243183" cy="167878"/>
          </a:xfrm>
          <a:prstGeom prst="rect">
            <a:avLst/>
          </a:prstGeom>
          <a:noFill/>
          <a:ln/>
        </p:spPr>
        <p:txBody>
          <a:bodyPr wrap="none" lIns="0" tIns="0" rIns="0" bIns="0" rtlCol="0" anchor="t"/>
          <a:lstStyle/>
          <a:p>
            <a:pPr algn="l" indent="0" marL="0">
              <a:lnSpc>
                <a:spcPct val="104000"/>
              </a:lnSpc>
              <a:buNone/>
            </a:pPr>
            <a:r>
              <a:rPr lang="en-US" sz="1050" dirty="0">
                <a:solidFill>
                  <a:srgbClr val="FFFFFF"/>
                </a:solidFill>
                <a:latin typeface="Raleway" pitchFamily="34" charset="0"/>
                <a:ea typeface="Raleway" pitchFamily="34" charset="-122"/>
                <a:cs typeface="Raleway" pitchFamily="34" charset="-120"/>
              </a:rPr>
              <a:t>Residual Analysis</a:t>
            </a:r>
            <a:endParaRPr lang="en-US" sz="1050" dirty="0"/>
          </a:p>
        </p:txBody>
      </p:sp>
      <p:sp>
        <p:nvSpPr>
          <p:cNvPr id="19" name="Text 17"/>
          <p:cNvSpPr/>
          <p:nvPr/>
        </p:nvSpPr>
        <p:spPr>
          <a:xfrm>
            <a:off x="691537" y="5097959"/>
            <a:ext cx="5243183" cy="425648"/>
          </a:xfrm>
          <a:prstGeom prst="rect">
            <a:avLst/>
          </a:prstGeom>
          <a:noFill/>
          <a:ln/>
        </p:spPr>
        <p:txBody>
          <a:bodyPr wrap="square" lIns="0" tIns="0" rIns="0" bIns="0" rtlCol="0" anchor="t">
            <a:normAutofit/>
          </a:bodyPr>
          <a:lstStyle/>
          <a:p>
            <a:pPr algn="l" indent="0" marL="0">
              <a:lnSpc>
                <a:spcPct val="110000"/>
              </a:lnSpc>
              <a:buNone/>
            </a:pPr>
            <a:r>
              <a:rPr lang="en-US" sz="800" dirty="0">
                <a:solidFill>
                  <a:srgbClr val="FFFFFF"/>
                </a:solidFill>
                <a:latin typeface="Roboto" pitchFamily="34" charset="0"/>
                <a:ea typeface="Roboto" pitchFamily="34" charset="-122"/>
                <a:cs typeface="Roboto" pitchFamily="34" charset="-120"/>
              </a:rPr>
              <a:t>Systematic examination of prediction errors (residuals) to validate core regression assumptions: linearity, homoscedasticity (constant variance), normality of errors, and absence of systematic bias. Residual plots and Q-Q graphs are used diagnostically.</a:t>
            </a:r>
            <a:endParaRPr lang="en-US" sz="800" dirty="0"/>
          </a:p>
        </p:txBody>
      </p:sp>
      <p:sp>
        <p:nvSpPr>
          <p:cNvPr id="20" name="Text 18"/>
          <p:cNvSpPr/>
          <p:nvPr/>
        </p:nvSpPr>
        <p:spPr>
          <a:xfrm>
            <a:off x="6233262" y="2239367"/>
            <a:ext cx="5303308" cy="167878"/>
          </a:xfrm>
          <a:prstGeom prst="rect">
            <a:avLst/>
          </a:prstGeom>
          <a:noFill/>
          <a:ln/>
        </p:spPr>
        <p:txBody>
          <a:bodyPr wrap="none" lIns="0" tIns="0" rIns="0" bIns="0" rtlCol="0" anchor="t"/>
          <a:lstStyle/>
          <a:p>
            <a:pPr algn="l" indent="0" marL="0">
              <a:lnSpc>
                <a:spcPct val="104000"/>
              </a:lnSpc>
              <a:buNone/>
            </a:pPr>
            <a:r>
              <a:rPr lang="en-US" sz="1050" dirty="0">
                <a:solidFill>
                  <a:srgbClr val="1B1B27"/>
                </a:solidFill>
                <a:latin typeface="Raleway" pitchFamily="34" charset="0"/>
                <a:ea typeface="Raleway" pitchFamily="34" charset="-122"/>
                <a:cs typeface="Raleway" pitchFamily="34" charset="-120"/>
              </a:rPr>
              <a:t>Regression Performance Metrics</a:t>
            </a:r>
            <a:endParaRPr lang="en-US" sz="10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233262" y="2485827"/>
          <a:ext cx="9143771" cy="914400"/>
        </p:xfrm>
        <a:graphic>
          <a:graphicData uri="http://schemas.openxmlformats.org/drawingml/2006/table">
            <a:tbl>
              <a:tblPr/>
              <a:tblGrid>
                <a:gridCol w="1767769"/>
                <a:gridCol w="1767769"/>
                <a:gridCol w="1767769"/>
              </a:tblGrid>
              <a:tr h="241492">
                <a:tc>
                  <a:txBody>
                    <a:bodyPr/>
                    <a:lstStyle/>
                    <a:p>
                      <a:pPr indent="0" marL="0">
                        <a:buNone/>
                      </a:pPr>
                      <a:r>
                        <a:rPr lang="en-US" sz="800" b="1" dirty="0">
                          <a:solidFill>
                            <a:srgbClr val="3C3939"/>
                          </a:solidFill>
                          <a:latin typeface="Roboto" pitchFamily="34" charset="0"/>
                          <a:ea typeface="Roboto" pitchFamily="34" charset="-122"/>
                          <a:cs typeface="Roboto" pitchFamily="34" charset="-120"/>
                        </a:rPr>
                        <a:t>Metric</a:t>
                      </a:r>
                      <a:endParaRPr lang="en-US" sz="800" dirty="0">
                        <a:latin typeface="Roboto" charset="0"/>
                        <a:ea typeface="Roboto" charset="0"/>
                        <a:cs typeface="Roboto" charset="0"/>
                      </a:endParaRPr>
                    </a:p>
                  </a:txBody>
                  <a:tcPr marL="107504" marR="107504" marT="6350" marB="6350" anchor="ctr">
                    <a:lnL w="12700" cap="flat" cmpd="sng" algn="ctr">
                      <a:solidFill>
                        <a:srgbClr val="C7C7D0"/>
                      </a:solidFill>
                      <a:prstDash val="solid"/>
                      <a:round/>
                      <a:headEnd type="none" w="med" len="med"/>
                      <a:tailEnd type="none" w="med" len="med"/>
                    </a:lnL>
                    <a:lnR w="12700" cap="flat" cmpd="sng" algn="ctr">
                      <a:solidFill>
                        <a:srgbClr val="FEFEFE"/>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indent="0" marL="0">
                        <a:buNone/>
                      </a:pPr>
                      <a:r>
                        <a:rPr lang="en-US" sz="800" b="1" dirty="0">
                          <a:solidFill>
                            <a:srgbClr val="3C3939"/>
                          </a:solidFill>
                          <a:latin typeface="Roboto" pitchFamily="34" charset="0"/>
                          <a:ea typeface="Roboto" pitchFamily="34" charset="-122"/>
                          <a:cs typeface="Roboto" pitchFamily="34" charset="-120"/>
                        </a:rPr>
                        <a:t>Formula</a:t>
                      </a:r>
                      <a:endParaRPr lang="en-US" sz="800" dirty="0">
                        <a:latin typeface="Roboto" charset="0"/>
                        <a:ea typeface="Roboto" charset="0"/>
                        <a:cs typeface="Roboto" charset="0"/>
                      </a:endParaRPr>
                    </a:p>
                  </a:txBody>
                  <a:tcPr marL="107504" marR="107504" marT="6350" marB="6350" anchor="ctr">
                    <a:lnL w="12700" cap="flat" cmpd="sng" algn="ctr">
                      <a:solidFill>
                        <a:srgbClr val="FEFEFE"/>
                      </a:solidFill>
                      <a:prstDash val="solid"/>
                      <a:round/>
                      <a:headEnd type="none" w="med" len="med"/>
                      <a:tailEnd type="none" w="med" len="med"/>
                    </a:lnL>
                    <a:lnR w="12700" cap="flat" cmpd="sng" algn="ctr">
                      <a:solidFill>
                        <a:srgbClr val="FEFEFE"/>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indent="0" marL="0">
                        <a:buNone/>
                      </a:pPr>
                      <a:r>
                        <a:rPr lang="en-US" sz="800" b="1" dirty="0">
                          <a:solidFill>
                            <a:srgbClr val="3C3939"/>
                          </a:solidFill>
                          <a:latin typeface="Roboto" pitchFamily="34" charset="0"/>
                          <a:ea typeface="Roboto" pitchFamily="34" charset="-122"/>
                          <a:cs typeface="Roboto" pitchFamily="34" charset="-120"/>
                        </a:rPr>
                        <a:t>Interpretation</a:t>
                      </a:r>
                      <a:endParaRPr lang="en-US" sz="800" dirty="0">
                        <a:latin typeface="Roboto" charset="0"/>
                        <a:ea typeface="Roboto" charset="0"/>
                        <a:cs typeface="Roboto" charset="0"/>
                      </a:endParaRPr>
                    </a:p>
                  </a:txBody>
                  <a:tcPr marL="107504" marR="107504" marT="6350" marB="6350" anchor="ctr">
                    <a:lnL w="12700" cap="flat" cmpd="sng" algn="ctr">
                      <a:solidFill>
                        <a:srgbClr val="FEFEFE"/>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r>
              <a:tr h="528426">
                <a:tc>
                  <a:txBody>
                    <a:bodyPr/>
                    <a:lstStyle/>
                    <a:p>
                      <a:pPr indent="0" marL="0">
                        <a:buNone/>
                      </a:pPr>
                      <a:r>
                        <a:rPr lang="en-US" sz="800" b="1" dirty="0">
                          <a:solidFill>
                            <a:srgbClr val="3C3939"/>
                          </a:solidFill>
                          <a:latin typeface="Roboto" pitchFamily="34" charset="0"/>
                          <a:ea typeface="Roboto" pitchFamily="34" charset="-122"/>
                          <a:cs typeface="Roboto" pitchFamily="34" charset="-120"/>
                        </a:rPr>
                        <a:t>MAE</a:t>
                      </a:r>
                      <a:endParaRPr lang="en-US" sz="800" dirty="0">
                        <a:latin typeface="Roboto" charset="0"/>
                        <a:ea typeface="Roboto" charset="0"/>
                        <a:cs typeface="Roboto" charset="0"/>
                      </a:endParaRPr>
                    </a:p>
                  </a:txBody>
                  <a:tcPr marL="107504" marR="107504" marT="6350" marB="6350" anchor="ctr">
                    <a:lnL w="12700" cap="flat" cmpd="sng" algn="ctr">
                      <a:solidFill>
                        <a:srgbClr val="C7C7D0"/>
                      </a:solidFill>
                      <a:prstDash val="solid"/>
                      <a:round/>
                      <a:headEnd type="none" w="med" len="med"/>
                      <a:tailEnd type="none" w="med" len="med"/>
                    </a:lnL>
                    <a:lnR w="12700" cap="flat" cmpd="sng" algn="ctr">
                      <a:solidFill>
                        <a:srgbClr val="FEFEFE"/>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indent="0" marL="0">
                        <a:buNone/>
                      </a:pPr>
                      <a:r>
                        <a:rPr lang="en-US" sz="800" dirty="0">
                          <a:solidFill>
                            <a:srgbClr val="3C3939"/>
                          </a:solidFill>
                          <a:latin typeface="Roboto" pitchFamily="34" charset="0"/>
                          <a:ea typeface="Roboto" pitchFamily="34" charset="-122"/>
                          <a:cs typeface="Roboto" pitchFamily="34" charset="-120"/>
                        </a:rPr>
                        <a:t>Mean |Actual − Predicted|</a:t>
                      </a:r>
                      <a:endParaRPr lang="en-US" sz="800" dirty="0">
                        <a:latin typeface="Roboto" charset="0"/>
                        <a:ea typeface="Roboto" charset="0"/>
                        <a:cs typeface="Roboto" charset="0"/>
                      </a:endParaRPr>
                    </a:p>
                  </a:txBody>
                  <a:tcPr marL="107504" marR="107504" marT="6350" marB="6350" anchor="ctr">
                    <a:lnL w="12700" cap="flat" cmpd="sng" algn="ctr">
                      <a:solidFill>
                        <a:srgbClr val="FEFEFE"/>
                      </a:solidFill>
                      <a:prstDash val="solid"/>
                      <a:round/>
                      <a:headEnd type="none" w="med" len="med"/>
                      <a:tailEnd type="none" w="med" len="med"/>
                    </a:lnL>
                    <a:lnR w="12700" cap="flat" cmpd="sng" algn="ctr">
                      <a:solidFill>
                        <a:srgbClr val="FEFEFE"/>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indent="0" marL="0">
                        <a:buNone/>
                      </a:pPr>
                      <a:r>
                        <a:rPr lang="en-US" sz="800" dirty="0">
                          <a:solidFill>
                            <a:srgbClr val="3C3939"/>
                          </a:solidFill>
                          <a:latin typeface="Roboto" pitchFamily="34" charset="0"/>
                          <a:ea typeface="Roboto" pitchFamily="34" charset="-122"/>
                          <a:cs typeface="Roboto" pitchFamily="34" charset="-120"/>
                        </a:rPr>
                        <a:t>Average absolute prediction error in original performance units; robust to outliers</a:t>
                      </a:r>
                      <a:endParaRPr lang="en-US" sz="800" dirty="0">
                        <a:latin typeface="Roboto" charset="0"/>
                        <a:ea typeface="Roboto" charset="0"/>
                        <a:cs typeface="Roboto" charset="0"/>
                      </a:endParaRPr>
                    </a:p>
                  </a:txBody>
                  <a:tcPr marL="107504" marR="107504" marT="6350" marB="6350" anchor="ctr">
                    <a:lnL w="12700" cap="flat" cmpd="sng" algn="ctr">
                      <a:solidFill>
                        <a:srgbClr val="FEFEFE"/>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r>
              <a:tr h="528426">
                <a:tc>
                  <a:txBody>
                    <a:bodyPr/>
                    <a:lstStyle/>
                    <a:p>
                      <a:pPr indent="0" marL="0">
                        <a:buNone/>
                      </a:pPr>
                      <a:r>
                        <a:rPr lang="en-US" sz="800" b="1" dirty="0">
                          <a:solidFill>
                            <a:srgbClr val="3C3939"/>
                          </a:solidFill>
                          <a:latin typeface="Roboto" pitchFamily="34" charset="0"/>
                          <a:ea typeface="Roboto" pitchFamily="34" charset="-122"/>
                          <a:cs typeface="Roboto" pitchFamily="34" charset="-120"/>
                        </a:rPr>
                        <a:t>MSE</a:t>
                      </a:r>
                      <a:endParaRPr lang="en-US" sz="800" dirty="0">
                        <a:latin typeface="Roboto" charset="0"/>
                        <a:ea typeface="Roboto" charset="0"/>
                        <a:cs typeface="Roboto" charset="0"/>
                      </a:endParaRPr>
                    </a:p>
                  </a:txBody>
                  <a:tcPr marL="107504" marR="107504" marT="6350" marB="6350" anchor="ctr">
                    <a:lnL w="12700" cap="flat" cmpd="sng" algn="ctr">
                      <a:solidFill>
                        <a:srgbClr val="C7C7D0"/>
                      </a:solidFill>
                      <a:prstDash val="solid"/>
                      <a:round/>
                      <a:headEnd type="none" w="med" len="med"/>
                      <a:tailEnd type="none" w="med" len="med"/>
                    </a:lnL>
                    <a:lnR w="12700" cap="flat" cmpd="sng" algn="ctr">
                      <a:solidFill>
                        <a:srgbClr val="FEFEFE"/>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indent="0" marL="0">
                        <a:buNone/>
                      </a:pPr>
                      <a:r>
                        <a:rPr lang="en-US" sz="800" dirty="0">
                          <a:solidFill>
                            <a:srgbClr val="3C3939"/>
                          </a:solidFill>
                          <a:latin typeface="Roboto" pitchFamily="34" charset="0"/>
                          <a:ea typeface="Roboto" pitchFamily="34" charset="-122"/>
                          <a:cs typeface="Roboto" pitchFamily="34" charset="-120"/>
                        </a:rPr>
                        <a:t>Mean (Actual − Predicted)²</a:t>
                      </a:r>
                      <a:endParaRPr lang="en-US" sz="800" dirty="0">
                        <a:latin typeface="Roboto" charset="0"/>
                        <a:ea typeface="Roboto" charset="0"/>
                        <a:cs typeface="Roboto" charset="0"/>
                      </a:endParaRPr>
                    </a:p>
                  </a:txBody>
                  <a:tcPr marL="107504" marR="107504" marT="6350" marB="6350" anchor="ctr">
                    <a:lnL w="12700" cap="flat" cmpd="sng" algn="ctr">
                      <a:solidFill>
                        <a:srgbClr val="FEFEFE"/>
                      </a:solidFill>
                      <a:prstDash val="solid"/>
                      <a:round/>
                      <a:headEnd type="none" w="med" len="med"/>
                      <a:tailEnd type="none" w="med" len="med"/>
                    </a:lnL>
                    <a:lnR w="12700" cap="flat" cmpd="sng" algn="ctr">
                      <a:solidFill>
                        <a:srgbClr val="FEFEFE"/>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indent="0" marL="0">
                        <a:buNone/>
                      </a:pPr>
                      <a:r>
                        <a:rPr lang="en-US" sz="800" dirty="0">
                          <a:solidFill>
                            <a:srgbClr val="3C3939"/>
                          </a:solidFill>
                          <a:latin typeface="Roboto" pitchFamily="34" charset="0"/>
                          <a:ea typeface="Roboto" pitchFamily="34" charset="-122"/>
                          <a:cs typeface="Roboto" pitchFamily="34" charset="-120"/>
                        </a:rPr>
                        <a:t>Average squared error; penalizes large deviations more heavily than small ones</a:t>
                      </a:r>
                      <a:endParaRPr lang="en-US" sz="800" dirty="0">
                        <a:latin typeface="Roboto" charset="0"/>
                        <a:ea typeface="Roboto" charset="0"/>
                        <a:cs typeface="Roboto" charset="0"/>
                      </a:endParaRPr>
                    </a:p>
                  </a:txBody>
                  <a:tcPr marL="107504" marR="107504" marT="6350" marB="6350" anchor="ctr">
                    <a:lnL w="12700" cap="flat" cmpd="sng" algn="ctr">
                      <a:solidFill>
                        <a:srgbClr val="FEFEFE"/>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r>
              <a:tr h="528426">
                <a:tc>
                  <a:txBody>
                    <a:bodyPr/>
                    <a:lstStyle/>
                    <a:p>
                      <a:pPr indent="0" marL="0">
                        <a:buNone/>
                      </a:pPr>
                      <a:r>
                        <a:rPr lang="en-US" sz="800" b="1" dirty="0">
                          <a:solidFill>
                            <a:srgbClr val="3C3939"/>
                          </a:solidFill>
                          <a:latin typeface="Roboto" pitchFamily="34" charset="0"/>
                          <a:ea typeface="Roboto" pitchFamily="34" charset="-122"/>
                          <a:cs typeface="Roboto" pitchFamily="34" charset="-120"/>
                        </a:rPr>
                        <a:t>RMSE</a:t>
                      </a:r>
                      <a:endParaRPr lang="en-US" sz="800" dirty="0">
                        <a:latin typeface="Roboto" charset="0"/>
                        <a:ea typeface="Roboto" charset="0"/>
                        <a:cs typeface="Roboto" charset="0"/>
                      </a:endParaRPr>
                    </a:p>
                  </a:txBody>
                  <a:tcPr marL="107504" marR="107504" marT="6350" marB="6350" anchor="ctr">
                    <a:lnL w="12700" cap="flat" cmpd="sng" algn="ctr">
                      <a:solidFill>
                        <a:srgbClr val="C7C7D0"/>
                      </a:solidFill>
                      <a:prstDash val="solid"/>
                      <a:round/>
                      <a:headEnd type="none" w="med" len="med"/>
                      <a:tailEnd type="none" w="med" len="med"/>
                    </a:lnL>
                    <a:lnR w="12700" cap="flat" cmpd="sng" algn="ctr">
                      <a:solidFill>
                        <a:srgbClr val="FEFEFE"/>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indent="0" marL="0">
                        <a:buNone/>
                      </a:pPr>
                      <a:r>
                        <a:rPr lang="en-US" sz="800" dirty="0">
                          <a:solidFill>
                            <a:srgbClr val="3C3939"/>
                          </a:solidFill>
                          <a:latin typeface="Roboto" pitchFamily="34" charset="0"/>
                          <a:ea typeface="Roboto" pitchFamily="34" charset="-122"/>
                          <a:cs typeface="Roboto" pitchFamily="34" charset="-120"/>
                        </a:rPr>
                        <a:t>√MSE</a:t>
                      </a:r>
                      <a:endParaRPr lang="en-US" sz="800" dirty="0">
                        <a:latin typeface="Roboto" charset="0"/>
                        <a:ea typeface="Roboto" charset="0"/>
                        <a:cs typeface="Roboto" charset="0"/>
                      </a:endParaRPr>
                    </a:p>
                  </a:txBody>
                  <a:tcPr marL="107504" marR="107504" marT="6350" marB="6350" anchor="ctr">
                    <a:lnL w="12700" cap="flat" cmpd="sng" algn="ctr">
                      <a:solidFill>
                        <a:srgbClr val="FEFEFE"/>
                      </a:solidFill>
                      <a:prstDash val="solid"/>
                      <a:round/>
                      <a:headEnd type="none" w="med" len="med"/>
                      <a:tailEnd type="none" w="med" len="med"/>
                    </a:lnL>
                    <a:lnR w="12700" cap="flat" cmpd="sng" algn="ctr">
                      <a:solidFill>
                        <a:srgbClr val="FEFEFE"/>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indent="0" marL="0">
                        <a:buNone/>
                      </a:pPr>
                      <a:r>
                        <a:rPr lang="en-US" sz="800" dirty="0">
                          <a:solidFill>
                            <a:srgbClr val="3C3939"/>
                          </a:solidFill>
                          <a:latin typeface="Roboto" pitchFamily="34" charset="0"/>
                          <a:ea typeface="Roboto" pitchFamily="34" charset="-122"/>
                          <a:cs typeface="Roboto" pitchFamily="34" charset="-120"/>
                        </a:rPr>
                        <a:t>Square root of MSE; expressed in same units as target variable for direct interpretability</a:t>
                      </a:r>
                      <a:endParaRPr lang="en-US" sz="800" dirty="0">
                        <a:latin typeface="Roboto" charset="0"/>
                        <a:ea typeface="Roboto" charset="0"/>
                        <a:cs typeface="Roboto" charset="0"/>
                      </a:endParaRPr>
                    </a:p>
                  </a:txBody>
                  <a:tcPr marL="107504" marR="107504" marT="6350" marB="6350" anchor="ctr">
                    <a:lnL w="12700" cap="flat" cmpd="sng" algn="ctr">
                      <a:solidFill>
                        <a:srgbClr val="FEFEFE"/>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r>
              <a:tr h="667130">
                <a:tc>
                  <a:txBody>
                    <a:bodyPr/>
                    <a:lstStyle/>
                    <a:p>
                      <a:pPr indent="0" marL="0">
                        <a:buNone/>
                      </a:pPr>
                      <a:r>
                        <a:rPr lang="en-US" sz="800" b="1" dirty="0">
                          <a:solidFill>
                            <a:srgbClr val="3C3939"/>
                          </a:solidFill>
                          <a:latin typeface="Roboto" pitchFamily="34" charset="0"/>
                          <a:ea typeface="Roboto" pitchFamily="34" charset="-122"/>
                          <a:cs typeface="Roboto" pitchFamily="34" charset="-120"/>
                        </a:rPr>
                        <a:t>R²</a:t>
                      </a:r>
                      <a:endParaRPr lang="en-US" sz="800" dirty="0">
                        <a:latin typeface="Roboto" charset="0"/>
                        <a:ea typeface="Roboto" charset="0"/>
                        <a:cs typeface="Roboto" charset="0"/>
                      </a:endParaRPr>
                    </a:p>
                  </a:txBody>
                  <a:tcPr marL="107504" marR="107504" marT="6350" marB="6350" anchor="ctr">
                    <a:lnL w="12700" cap="flat" cmpd="sng" algn="ctr">
                      <a:solidFill>
                        <a:srgbClr val="C7C7D0"/>
                      </a:solidFill>
                      <a:prstDash val="solid"/>
                      <a:round/>
                      <a:headEnd type="none" w="med" len="med"/>
                      <a:tailEnd type="none" w="med" len="med"/>
                    </a:lnL>
                    <a:lnR w="12700" cap="flat" cmpd="sng" algn="ctr">
                      <a:solidFill>
                        <a:srgbClr val="FEFEFE"/>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indent="0" marL="0">
                        <a:buNone/>
                      </a:pPr>
                      <a:r>
                        <a:rPr lang="en-US" sz="800" dirty="0">
                          <a:solidFill>
                            <a:srgbClr val="3C3939"/>
                          </a:solidFill>
                          <a:latin typeface="Roboto" pitchFamily="34" charset="0"/>
                          <a:ea typeface="Roboto" pitchFamily="34" charset="-122"/>
                          <a:cs typeface="Roboto" pitchFamily="34" charset="-120"/>
                        </a:rPr>
                        <a:t>1 − (SS_res / SS_tot)</a:t>
                      </a:r>
                      <a:endParaRPr lang="en-US" sz="800" dirty="0">
                        <a:latin typeface="Roboto" charset="0"/>
                        <a:ea typeface="Roboto" charset="0"/>
                        <a:cs typeface="Roboto" charset="0"/>
                      </a:endParaRPr>
                    </a:p>
                  </a:txBody>
                  <a:tcPr marL="107504" marR="107504" marT="6350" marB="6350" anchor="ctr">
                    <a:lnL w="12700" cap="flat" cmpd="sng" algn="ctr">
                      <a:solidFill>
                        <a:srgbClr val="FEFEFE"/>
                      </a:solidFill>
                      <a:prstDash val="solid"/>
                      <a:round/>
                      <a:headEnd type="none" w="med" len="med"/>
                      <a:tailEnd type="none" w="med" len="med"/>
                    </a:lnL>
                    <a:lnR w="12700" cap="flat" cmpd="sng" algn="ctr">
                      <a:solidFill>
                        <a:srgbClr val="FEFEFE"/>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c>
                  <a:txBody>
                    <a:bodyPr/>
                    <a:lstStyle/>
                    <a:p>
                      <a:pPr indent="0" marL="0">
                        <a:buNone/>
                      </a:pPr>
                      <a:r>
                        <a:rPr lang="en-US" sz="800" dirty="0">
                          <a:solidFill>
                            <a:srgbClr val="3C3939"/>
                          </a:solidFill>
                          <a:latin typeface="Roboto" pitchFamily="34" charset="0"/>
                          <a:ea typeface="Roboto" pitchFamily="34" charset="-122"/>
                          <a:cs typeface="Roboto" pitchFamily="34" charset="-120"/>
                        </a:rPr>
                        <a:t>Proportion of variance in final performance explained by the model; ranges 0 to 1 (higher is better)</a:t>
                      </a:r>
                      <a:endParaRPr lang="en-US" sz="800" dirty="0">
                        <a:latin typeface="Roboto" charset="0"/>
                        <a:ea typeface="Roboto" charset="0"/>
                        <a:cs typeface="Roboto" charset="0"/>
                      </a:endParaRPr>
                    </a:p>
                  </a:txBody>
                  <a:tcPr marL="107504" marR="107504" marT="6350" marB="6350" anchor="ctr">
                    <a:lnL w="12700" cap="flat" cmpd="sng" algn="ctr">
                      <a:solidFill>
                        <a:srgbClr val="FEFEFE"/>
                      </a:solidFill>
                      <a:prstDash val="solid"/>
                      <a:round/>
                      <a:headEnd type="none" w="med" len="med"/>
                      <a:tailEnd type="none" w="med" len="med"/>
                    </a:lnL>
                    <a:lnR w="12700" cap="flat" cmpd="sng" algn="ctr">
                      <a:solidFill>
                        <a:srgbClr val="C7C7D0"/>
                      </a:solidFill>
                      <a:prstDash val="solid"/>
                      <a:round/>
                      <a:headEnd type="none" w="med" len="med"/>
                      <a:tailEnd type="none" w="med" len="med"/>
                    </a:lnR>
                    <a:lnT w="12700" cap="flat" cmpd="sng" algn="ctr">
                      <a:solidFill>
                        <a:srgbClr val="C7C7D0"/>
                      </a:solidFill>
                      <a:prstDash val="solid"/>
                      <a:round/>
                      <a:headEnd type="none" w="med" len="med"/>
                      <a:tailEnd type="none" w="med" len="med"/>
                    </a:lnT>
                    <a:lnB w="12700" cap="flat" cmpd="sng" algn="ctr">
                      <a:solidFill>
                        <a:srgbClr val="C7C7D0"/>
                      </a:solidFill>
                      <a:prstDash val="solid"/>
                      <a:round/>
                      <a:headEnd type="none" w="med" len="med"/>
                      <a:tailEnd type="none" w="med" len="med"/>
                    </a:lnB>
                    <a:solidFill>
                      <a:srgbClr val="FEFEFE"/>
                    </a:solidFill>
                  </a:tcPr>
                </a:tc>
              </a:tr>
            </a:tbl>
          </a:graphicData>
        </a:graphic>
      </p:graphicFrame>
      <p:sp>
        <p:nvSpPr>
          <p:cNvPr id="22" name="Text 19"/>
          <p:cNvSpPr/>
          <p:nvPr/>
        </p:nvSpPr>
        <p:spPr>
          <a:xfrm>
            <a:off x="6233262" y="5071070"/>
            <a:ext cx="5303308" cy="425648"/>
          </a:xfrm>
          <a:prstGeom prst="rect">
            <a:avLst/>
          </a:prstGeom>
          <a:noFill/>
          <a:ln/>
        </p:spPr>
        <p:txBody>
          <a:bodyPr wrap="square" lIns="0" tIns="0" rIns="0" bIns="0" rtlCol="0" anchor="t">
            <a:normAutofit/>
          </a:bodyPr>
          <a:lstStyle/>
          <a:p>
            <a:pPr algn="l" indent="0" marL="0">
              <a:lnSpc>
                <a:spcPct val="110000"/>
              </a:lnSpc>
              <a:buNone/>
            </a:pPr>
            <a:r>
              <a:rPr lang="en-US" sz="800" dirty="0">
                <a:solidFill>
                  <a:srgbClr val="3C3939"/>
                </a:solidFill>
                <a:latin typeface="Roboto" pitchFamily="34" charset="0"/>
                <a:ea typeface="Roboto" pitchFamily="34" charset="-122"/>
                <a:cs typeface="Roboto" pitchFamily="34" charset="-120"/>
              </a:rPr>
              <a:t>Lower MAE, MSE, and RMSE values indicate higher prediction accuracy. An R² approaching 1.0 signifies that the regression model explains a large proportion of the variance in student academic performance — a key indicator of model quality and institutional utility.</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661475" y="1279227"/>
            <a:ext cx="669015" cy="188516"/>
          </a:xfrm>
          <a:prstGeom prst="roundRect">
            <a:avLst>
              <a:gd name="adj" fmla="val 22109"/>
            </a:avLst>
          </a:prstGeom>
          <a:solidFill>
            <a:srgbClr val="E1E1EA"/>
          </a:solidFill>
          <a:ln/>
        </p:spPr>
      </p:sp>
      <p:sp>
        <p:nvSpPr>
          <p:cNvPr id="3" name="Text 1"/>
          <p:cNvSpPr/>
          <p:nvPr/>
        </p:nvSpPr>
        <p:spPr>
          <a:xfrm>
            <a:off x="735887" y="1316434"/>
            <a:ext cx="1129776" cy="114102"/>
          </a:xfrm>
          <a:prstGeom prst="rect">
            <a:avLst/>
          </a:prstGeom>
          <a:noFill/>
          <a:ln/>
        </p:spPr>
        <p:txBody>
          <a:bodyPr wrap="none" lIns="0" tIns="0" rIns="0" bIns="0" rtlCol="0" anchor="t"/>
          <a:lstStyle/>
          <a:p>
            <a:pPr algn="l" indent="0" marL="0">
              <a:lnSpc>
                <a:spcPct val="96000"/>
              </a:lnSpc>
              <a:buNone/>
            </a:pPr>
            <a:r>
              <a:rPr lang="en-US" sz="750" dirty="0">
                <a:solidFill>
                  <a:srgbClr val="3C3939"/>
                </a:solidFill>
                <a:latin typeface="Roboto" pitchFamily="34" charset="0"/>
                <a:ea typeface="Roboto" pitchFamily="34" charset="-122"/>
                <a:cs typeface="Roboto" pitchFamily="34" charset="-120"/>
              </a:rPr>
              <a:t>CHAPTER 9</a:t>
            </a:r>
            <a:endParaRPr lang="en-US" sz="750" dirty="0"/>
          </a:p>
        </p:txBody>
      </p:sp>
      <p:sp>
        <p:nvSpPr>
          <p:cNvPr id="4" name="Text 2"/>
          <p:cNvSpPr/>
          <p:nvPr/>
        </p:nvSpPr>
        <p:spPr>
          <a:xfrm>
            <a:off x="661475" y="1504950"/>
            <a:ext cx="10868745" cy="387648"/>
          </a:xfrm>
          <a:prstGeom prst="rect">
            <a:avLst/>
          </a:prstGeom>
          <a:noFill/>
          <a:ln/>
        </p:spPr>
        <p:txBody>
          <a:bodyPr wrap="none" lIns="0" tIns="0" rIns="0" bIns="0" rtlCol="0" anchor="t"/>
          <a:lstStyle/>
          <a:p>
            <a:pPr algn="l" indent="0" marL="0">
              <a:lnSpc>
                <a:spcPct val="104000"/>
              </a:lnSpc>
              <a:buNone/>
            </a:pPr>
            <a:r>
              <a:rPr lang="en-US" sz="2400" dirty="0">
                <a:solidFill>
                  <a:srgbClr val="1B1B27"/>
                </a:solidFill>
                <a:latin typeface="Raleway" pitchFamily="34" charset="0"/>
                <a:ea typeface="Raleway" pitchFamily="34" charset="-122"/>
                <a:cs typeface="Raleway" pitchFamily="34" charset="-120"/>
              </a:rPr>
              <a:t>Applications &amp; Impact</a:t>
            </a:r>
            <a:endParaRPr lang="en-US" sz="2400" dirty="0"/>
          </a:p>
        </p:txBody>
      </p:sp>
      <p:sp>
        <p:nvSpPr>
          <p:cNvPr id="5" name="Text 3"/>
          <p:cNvSpPr/>
          <p:nvPr/>
        </p:nvSpPr>
        <p:spPr>
          <a:xfrm>
            <a:off x="661475" y="2032099"/>
            <a:ext cx="10868745" cy="347266"/>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3C3939"/>
                </a:solidFill>
                <a:latin typeface="Roboto" pitchFamily="34" charset="0"/>
                <a:ea typeface="Roboto" pitchFamily="34" charset="-122"/>
                <a:cs typeface="Roboto" pitchFamily="34" charset="-120"/>
              </a:rPr>
              <a:t>The student academic performance analysis system has broad applicability across the educational ecosystem — from individual student support to institution-wide strategic planning. Its impact spans multiple stakeholder groups and scales naturally across institution types.</a:t>
            </a:r>
            <a:endParaRPr lang="en-US" sz="950" dirty="0"/>
          </a:p>
        </p:txBody>
      </p:sp>
      <p:pic>
        <p:nvPicPr>
          <p:cNvPr id="6" name="Image 0" descr="preencoded.png">    </p:cNvPr>
          <p:cNvPicPr>
            <a:picLocks noChangeAspect="1"/>
          </p:cNvPicPr>
          <p:nvPr/>
        </p:nvPicPr>
        <p:blipFill>
          <a:blip r:embed="rId1"/>
          <a:stretch>
            <a:fillRect/>
          </a:stretch>
        </p:blipFill>
        <p:spPr>
          <a:xfrm>
            <a:off x="661475" y="2483941"/>
            <a:ext cx="433873" cy="433884"/>
          </a:xfrm>
          <a:prstGeom prst="rect">
            <a:avLst/>
          </a:prstGeom>
        </p:spPr>
      </p:pic>
      <p:sp>
        <p:nvSpPr>
          <p:cNvPr id="7" name="Text 4"/>
          <p:cNvSpPr/>
          <p:nvPr/>
        </p:nvSpPr>
        <p:spPr>
          <a:xfrm>
            <a:off x="1211629" y="2483941"/>
            <a:ext cx="2079771" cy="193774"/>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Educational Institutions</a:t>
            </a:r>
            <a:endParaRPr lang="en-US" sz="1200" dirty="0"/>
          </a:p>
        </p:txBody>
      </p:sp>
      <p:sp>
        <p:nvSpPr>
          <p:cNvPr id="8" name="Text 5"/>
          <p:cNvSpPr/>
          <p:nvPr/>
        </p:nvSpPr>
        <p:spPr>
          <a:xfrm>
            <a:off x="1211629" y="2733477"/>
            <a:ext cx="2079771" cy="1215430"/>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3C3939"/>
                </a:solidFill>
                <a:latin typeface="Roboto" pitchFamily="34" charset="0"/>
                <a:ea typeface="Roboto" pitchFamily="34" charset="-122"/>
                <a:cs typeface="Roboto" pitchFamily="34" charset="-120"/>
              </a:rPr>
              <a:t>Applicable across schools, colleges, universities, and online learning platforms. Supports continuous student performance monitoring throughout the academic year rather than relying solely on summative end-of-term assessments.</a:t>
            </a:r>
            <a:endParaRPr lang="en-US" sz="950" dirty="0"/>
          </a:p>
        </p:txBody>
      </p:sp>
      <p:pic>
        <p:nvPicPr>
          <p:cNvPr id="9" name="Image 1" descr="preencoded.png">    </p:cNvPr>
          <p:cNvPicPr>
            <a:picLocks noChangeAspect="1"/>
          </p:cNvPicPr>
          <p:nvPr/>
        </p:nvPicPr>
        <p:blipFill>
          <a:blip r:embed="rId2"/>
          <a:stretch>
            <a:fillRect/>
          </a:stretch>
        </p:blipFill>
        <p:spPr>
          <a:xfrm>
            <a:off x="3407682" y="2483941"/>
            <a:ext cx="433873" cy="433884"/>
          </a:xfrm>
          <a:prstGeom prst="rect">
            <a:avLst/>
          </a:prstGeom>
        </p:spPr>
      </p:pic>
      <p:sp>
        <p:nvSpPr>
          <p:cNvPr id="10" name="Text 6"/>
          <p:cNvSpPr/>
          <p:nvPr/>
        </p:nvSpPr>
        <p:spPr>
          <a:xfrm>
            <a:off x="3957836" y="2483941"/>
            <a:ext cx="2079871" cy="193774"/>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Early Intervention Programs</a:t>
            </a:r>
            <a:endParaRPr lang="en-US" sz="1200" dirty="0"/>
          </a:p>
        </p:txBody>
      </p:sp>
      <p:sp>
        <p:nvSpPr>
          <p:cNvPr id="11" name="Text 7"/>
          <p:cNvSpPr/>
          <p:nvPr/>
        </p:nvSpPr>
        <p:spPr>
          <a:xfrm>
            <a:off x="3957836" y="2733477"/>
            <a:ext cx="2079871" cy="1389063"/>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3C3939"/>
                </a:solidFill>
                <a:latin typeface="Roboto" pitchFamily="34" charset="0"/>
                <a:ea typeface="Roboto" pitchFamily="34" charset="-122"/>
                <a:cs typeface="Roboto" pitchFamily="34" charset="-120"/>
              </a:rPr>
              <a:t>Timely identification of at-risk students enables institutions to deploy academic support services — tutoring, peer mentoring, counseling — before performance decline becomes irreversible. Shifts the institutional posture from remediation to prevention.</a:t>
            </a:r>
            <a:endParaRPr lang="en-US" sz="950" dirty="0"/>
          </a:p>
        </p:txBody>
      </p:sp>
      <p:pic>
        <p:nvPicPr>
          <p:cNvPr id="12" name="Image 2" descr="preencoded.png">    </p:cNvPr>
          <p:cNvPicPr>
            <a:picLocks noChangeAspect="1"/>
          </p:cNvPicPr>
          <p:nvPr/>
        </p:nvPicPr>
        <p:blipFill>
          <a:blip r:embed="rId3"/>
          <a:stretch>
            <a:fillRect/>
          </a:stretch>
        </p:blipFill>
        <p:spPr>
          <a:xfrm>
            <a:off x="6153988" y="2483941"/>
            <a:ext cx="433873" cy="433884"/>
          </a:xfrm>
          <a:prstGeom prst="rect">
            <a:avLst/>
          </a:prstGeom>
        </p:spPr>
      </p:pic>
      <p:sp>
        <p:nvSpPr>
          <p:cNvPr id="13" name="Text 8"/>
          <p:cNvSpPr/>
          <p:nvPr/>
        </p:nvSpPr>
        <p:spPr>
          <a:xfrm>
            <a:off x="6704142" y="2483941"/>
            <a:ext cx="2079771" cy="193774"/>
          </a:xfrm>
          <a:prstGeom prst="rect">
            <a:avLst/>
          </a:prstGeom>
          <a:noFill/>
          <a:ln/>
        </p:spPr>
        <p:txBody>
          <a:bodyPr wrap="none" lIns="0" tIns="0" rIns="0" bIns="0" rtlCol="0" anchor="t"/>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Faculty Decision Support</a:t>
            </a:r>
            <a:endParaRPr lang="en-US" sz="1200" dirty="0"/>
          </a:p>
        </p:txBody>
      </p:sp>
      <p:sp>
        <p:nvSpPr>
          <p:cNvPr id="14" name="Text 9"/>
          <p:cNvSpPr/>
          <p:nvPr/>
        </p:nvSpPr>
        <p:spPr>
          <a:xfrm>
            <a:off x="6704142" y="2733477"/>
            <a:ext cx="2079771" cy="1389063"/>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3C3939"/>
                </a:solidFill>
                <a:latin typeface="Roboto" pitchFamily="34" charset="0"/>
                <a:ea typeface="Roboto" pitchFamily="34" charset="-122"/>
                <a:cs typeface="Roboto" pitchFamily="34" charset="-120"/>
              </a:rPr>
              <a:t>Educators gain data-driven visibility into which academic behaviors most influence outcomes in their courses. Insights inform adjustments to teaching strategies, assessment design, and student engagement approaches — improving overall course effectiveness.</a:t>
            </a:r>
            <a:endParaRPr lang="en-US" sz="950" dirty="0"/>
          </a:p>
        </p:txBody>
      </p:sp>
      <p:pic>
        <p:nvPicPr>
          <p:cNvPr id="15" name="Image 3" descr="preencoded.png">    </p:cNvPr>
          <p:cNvPicPr>
            <a:picLocks noChangeAspect="1"/>
          </p:cNvPicPr>
          <p:nvPr/>
        </p:nvPicPr>
        <p:blipFill>
          <a:blip r:embed="rId4"/>
          <a:stretch>
            <a:fillRect/>
          </a:stretch>
        </p:blipFill>
        <p:spPr>
          <a:xfrm>
            <a:off x="8900195" y="2483941"/>
            <a:ext cx="433873" cy="433884"/>
          </a:xfrm>
          <a:prstGeom prst="rect">
            <a:avLst/>
          </a:prstGeom>
        </p:spPr>
      </p:pic>
      <p:sp>
        <p:nvSpPr>
          <p:cNvPr id="16" name="Text 10"/>
          <p:cNvSpPr/>
          <p:nvPr/>
        </p:nvSpPr>
        <p:spPr>
          <a:xfrm>
            <a:off x="9450350" y="2483941"/>
            <a:ext cx="2079871" cy="387548"/>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3C3939"/>
                </a:solidFill>
                <a:latin typeface="Raleway" pitchFamily="34" charset="0"/>
                <a:ea typeface="Raleway" pitchFamily="34" charset="-122"/>
                <a:cs typeface="Raleway" pitchFamily="34" charset="-120"/>
              </a:rPr>
              <a:t>Administrative &amp; Institutional Strategy</a:t>
            </a:r>
            <a:endParaRPr lang="en-US" sz="1200" dirty="0"/>
          </a:p>
        </p:txBody>
      </p:sp>
      <p:sp>
        <p:nvSpPr>
          <p:cNvPr id="17" name="Text 11"/>
          <p:cNvSpPr/>
          <p:nvPr/>
        </p:nvSpPr>
        <p:spPr>
          <a:xfrm>
            <a:off x="9450350" y="2927251"/>
            <a:ext cx="2079871" cy="1389063"/>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3C3939"/>
                </a:solidFill>
                <a:latin typeface="Roboto" pitchFamily="34" charset="0"/>
                <a:ea typeface="Roboto" pitchFamily="34" charset="-122"/>
                <a:cs typeface="Roboto" pitchFamily="34" charset="-120"/>
              </a:rPr>
              <a:t>Institutional leaders leverage predictive analytics for evidence-based resource allocation, curriculum redesign, and student success initiative planning. Demonstrates institutional commitment to measurable educational accountability.</a:t>
            </a:r>
            <a:endParaRPr lang="en-US" sz="950" dirty="0"/>
          </a:p>
        </p:txBody>
      </p:sp>
      <p:sp>
        <p:nvSpPr>
          <p:cNvPr id="18" name="Shape 12"/>
          <p:cNvSpPr/>
          <p:nvPr/>
        </p:nvSpPr>
        <p:spPr>
          <a:xfrm>
            <a:off x="572180" y="4420890"/>
            <a:ext cx="5461657" cy="1157883"/>
          </a:xfrm>
          <a:prstGeom prst="roundRect">
            <a:avLst>
              <a:gd name="adj" fmla="val 7713"/>
            </a:avLst>
          </a:prstGeom>
          <a:solidFill>
            <a:srgbClr val="1B1B27">
              <a:alpha val="95000"/>
            </a:srgbClr>
          </a:solidFill>
          <a:ln/>
        </p:spPr>
      </p:sp>
      <p:sp>
        <p:nvSpPr>
          <p:cNvPr id="19" name="Text 13"/>
          <p:cNvSpPr/>
          <p:nvPr/>
        </p:nvSpPr>
        <p:spPr>
          <a:xfrm>
            <a:off x="696201" y="4513858"/>
            <a:ext cx="5213616" cy="193774"/>
          </a:xfrm>
          <a:prstGeom prst="rect">
            <a:avLst/>
          </a:prstGeom>
          <a:noFill/>
          <a:ln/>
        </p:spPr>
        <p:txBody>
          <a:bodyPr wrap="none" lIns="0" tIns="0" rIns="0" bIns="0" rtlCol="0" anchor="t"/>
          <a:lstStyle/>
          <a:p>
            <a:pPr algn="l" indent="0" marL="0">
              <a:lnSpc>
                <a:spcPct val="104000"/>
              </a:lnSpc>
              <a:buNone/>
            </a:pPr>
            <a:r>
              <a:rPr lang="en-US" sz="1200" dirty="0">
                <a:solidFill>
                  <a:srgbClr val="FFFFFF"/>
                </a:solidFill>
                <a:latin typeface="Raleway" pitchFamily="34" charset="0"/>
                <a:ea typeface="Raleway" pitchFamily="34" charset="-122"/>
                <a:cs typeface="Raleway" pitchFamily="34" charset="-120"/>
              </a:rPr>
              <a:t>Personalized Learning Foundation</a:t>
            </a:r>
            <a:endParaRPr lang="en-US" sz="1200" dirty="0"/>
          </a:p>
        </p:txBody>
      </p:sp>
      <p:sp>
        <p:nvSpPr>
          <p:cNvPr id="20" name="Text 14"/>
          <p:cNvSpPr/>
          <p:nvPr/>
        </p:nvSpPr>
        <p:spPr>
          <a:xfrm>
            <a:off x="696201" y="4800600"/>
            <a:ext cx="5213616" cy="520898"/>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FFFFFF"/>
                </a:solidFill>
                <a:latin typeface="Roboto" pitchFamily="34" charset="0"/>
                <a:ea typeface="Roboto" pitchFamily="34" charset="-122"/>
                <a:cs typeface="Roboto" pitchFamily="34" charset="-120"/>
              </a:rPr>
              <a:t>Performance predictions and factor analysis provide the data substrate for future </a:t>
            </a:r>
            <a:pPr algn="l" indent="0" marL="0">
              <a:lnSpc>
                <a:spcPct val="117000"/>
              </a:lnSpc>
              <a:buNone/>
            </a:pPr>
            <a:r>
              <a:rPr lang="en-US" sz="950" b="1" dirty="0">
                <a:solidFill>
                  <a:srgbClr val="FFFFFF"/>
                </a:solidFill>
                <a:latin typeface="Roboto Bold" pitchFamily="34" charset="0"/>
                <a:ea typeface="Roboto Bold" pitchFamily="34" charset="-122"/>
                <a:cs typeface="Roboto Bold" pitchFamily="34" charset="-120"/>
              </a:rPr>
              <a:t>adaptive learning systems</a:t>
            </a:r>
            <a:pPr algn="l" indent="0" marL="0">
              <a:lnSpc>
                <a:spcPct val="117000"/>
              </a:lnSpc>
              <a:buNone/>
            </a:pPr>
            <a:r>
              <a:rPr lang="en-US" sz="950" dirty="0">
                <a:solidFill>
                  <a:srgbClr val="FFFFFF"/>
                </a:solidFill>
                <a:latin typeface="Roboto" pitchFamily="34" charset="0"/>
                <a:ea typeface="Roboto" pitchFamily="34" charset="-122"/>
                <a:cs typeface="Roboto" pitchFamily="34" charset="-120"/>
              </a:rPr>
              <a:t> — enabling personalized academic pathways, targeted content recommendations, and learning style-matched instruction for each student.</a:t>
            </a:r>
            <a:endParaRPr lang="en-US" sz="950" dirty="0"/>
          </a:p>
        </p:txBody>
      </p:sp>
      <p:sp>
        <p:nvSpPr>
          <p:cNvPr id="21" name="Text 15"/>
          <p:cNvSpPr/>
          <p:nvPr/>
        </p:nvSpPr>
        <p:spPr>
          <a:xfrm>
            <a:off x="6253502" y="4513858"/>
            <a:ext cx="5283068" cy="193774"/>
          </a:xfrm>
          <a:prstGeom prst="rect">
            <a:avLst/>
          </a:prstGeom>
          <a:noFill/>
          <a:ln/>
        </p:spPr>
        <p:txBody>
          <a:bodyPr wrap="none" lIns="0" tIns="0" rIns="0" bIns="0" rtlCol="0" anchor="t"/>
          <a:lstStyle/>
          <a:p>
            <a:pPr algn="l" indent="0" marL="0">
              <a:lnSpc>
                <a:spcPct val="104000"/>
              </a:lnSpc>
              <a:buNone/>
            </a:pPr>
            <a:r>
              <a:rPr lang="en-US" sz="1200" dirty="0">
                <a:solidFill>
                  <a:srgbClr val="1B1B27"/>
                </a:solidFill>
                <a:latin typeface="Raleway" pitchFamily="34" charset="0"/>
                <a:ea typeface="Raleway" pitchFamily="34" charset="-122"/>
                <a:cs typeface="Raleway" pitchFamily="34" charset="-120"/>
              </a:rPr>
              <a:t>Institutional Accountability</a:t>
            </a:r>
            <a:endParaRPr lang="en-US" sz="1200" dirty="0"/>
          </a:p>
        </p:txBody>
      </p:sp>
      <p:sp>
        <p:nvSpPr>
          <p:cNvPr id="22" name="Text 16"/>
          <p:cNvSpPr/>
          <p:nvPr/>
        </p:nvSpPr>
        <p:spPr>
          <a:xfrm>
            <a:off x="6253502" y="4800600"/>
            <a:ext cx="5283068" cy="694531"/>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3C3939"/>
                </a:solidFill>
                <a:latin typeface="Roboto" pitchFamily="34" charset="0"/>
                <a:ea typeface="Roboto" pitchFamily="34" charset="-122"/>
                <a:cs typeface="Roboto" pitchFamily="34" charset="-120"/>
              </a:rPr>
              <a:t>By embedding evidence-based practices into academic monitoring, institutions signal a commitment to student success that supports accreditation, stakeholder trust, and continuous quality improvement — positioning data analytics as a strategic institutional asset rather than a supplementary tool.</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661475" y="725785"/>
            <a:ext cx="676754" cy="176014"/>
          </a:xfrm>
          <a:prstGeom prst="roundRect">
            <a:avLst>
              <a:gd name="adj" fmla="val 22101"/>
            </a:avLst>
          </a:prstGeom>
          <a:solidFill>
            <a:srgbClr val="E1E1EA"/>
          </a:solidFill>
          <a:ln/>
        </p:spPr>
      </p:sp>
      <p:sp>
        <p:nvSpPr>
          <p:cNvPr id="3" name="Text 1"/>
          <p:cNvSpPr/>
          <p:nvPr/>
        </p:nvSpPr>
        <p:spPr>
          <a:xfrm>
            <a:off x="730926" y="760512"/>
            <a:ext cx="1147436" cy="106561"/>
          </a:xfrm>
          <a:prstGeom prst="rect">
            <a:avLst/>
          </a:prstGeom>
          <a:noFill/>
          <a:ln/>
        </p:spPr>
        <p:txBody>
          <a:bodyPr wrap="none" lIns="0" tIns="0" rIns="0" bIns="0" rtlCol="0" anchor="t"/>
          <a:lstStyle/>
          <a:p>
            <a:pPr algn="l" indent="0" marL="0">
              <a:lnSpc>
                <a:spcPct val="96000"/>
              </a:lnSpc>
              <a:buNone/>
            </a:pPr>
            <a:r>
              <a:rPr lang="en-US" sz="700" dirty="0">
                <a:solidFill>
                  <a:srgbClr val="3C3939"/>
                </a:solidFill>
                <a:latin typeface="Roboto" pitchFamily="34" charset="0"/>
                <a:ea typeface="Roboto" pitchFamily="34" charset="-122"/>
                <a:cs typeface="Roboto" pitchFamily="34" charset="-120"/>
              </a:rPr>
              <a:t>CHAPTER 10</a:t>
            </a:r>
            <a:endParaRPr lang="en-US" sz="700" dirty="0"/>
          </a:p>
        </p:txBody>
      </p:sp>
      <p:sp>
        <p:nvSpPr>
          <p:cNvPr id="4" name="Text 2"/>
          <p:cNvSpPr/>
          <p:nvPr/>
        </p:nvSpPr>
        <p:spPr>
          <a:xfrm>
            <a:off x="661475" y="934145"/>
            <a:ext cx="10868745" cy="361752"/>
          </a:xfrm>
          <a:prstGeom prst="rect">
            <a:avLst/>
          </a:prstGeom>
          <a:noFill/>
          <a:ln/>
        </p:spPr>
        <p:txBody>
          <a:bodyPr wrap="none" lIns="0" tIns="0" rIns="0" bIns="0" rtlCol="0" anchor="t"/>
          <a:lstStyle/>
          <a:p>
            <a:pPr algn="l" indent="0" marL="0">
              <a:lnSpc>
                <a:spcPct val="104000"/>
              </a:lnSpc>
              <a:buNone/>
            </a:pPr>
            <a:r>
              <a:rPr lang="en-US" sz="2250" dirty="0">
                <a:solidFill>
                  <a:srgbClr val="1B1B27"/>
                </a:solidFill>
                <a:latin typeface="Raleway" pitchFamily="34" charset="0"/>
                <a:ea typeface="Raleway" pitchFamily="34" charset="-122"/>
                <a:cs typeface="Raleway" pitchFamily="34" charset="-120"/>
              </a:rPr>
              <a:t>Conclusion &amp; Future Scope</a:t>
            </a:r>
            <a:endParaRPr lang="en-US" sz="2250" dirty="0"/>
          </a:p>
        </p:txBody>
      </p:sp>
      <p:sp>
        <p:nvSpPr>
          <p:cNvPr id="5" name="Shape 3"/>
          <p:cNvSpPr/>
          <p:nvPr/>
        </p:nvSpPr>
        <p:spPr>
          <a:xfrm>
            <a:off x="578133" y="1417439"/>
            <a:ext cx="5459871" cy="4714677"/>
          </a:xfrm>
          <a:prstGeom prst="roundRect">
            <a:avLst>
              <a:gd name="adj" fmla="val 1768"/>
            </a:avLst>
          </a:prstGeom>
          <a:solidFill>
            <a:srgbClr val="1B1B27">
              <a:alpha val="95000"/>
            </a:srgbClr>
          </a:solidFill>
          <a:ln/>
        </p:spPr>
      </p:sp>
      <p:sp>
        <p:nvSpPr>
          <p:cNvPr id="6" name="Text 4"/>
          <p:cNvSpPr/>
          <p:nvPr/>
        </p:nvSpPr>
        <p:spPr>
          <a:xfrm>
            <a:off x="693819" y="1498402"/>
            <a:ext cx="5228499" cy="180876"/>
          </a:xfrm>
          <a:prstGeom prst="rect">
            <a:avLst/>
          </a:prstGeom>
          <a:noFill/>
          <a:ln/>
        </p:spPr>
        <p:txBody>
          <a:bodyPr wrap="none" lIns="0" tIns="0" rIns="0" bIns="0" rtlCol="0" anchor="t"/>
          <a:lstStyle/>
          <a:p>
            <a:pPr algn="l" indent="0" marL="0">
              <a:lnSpc>
                <a:spcPct val="104000"/>
              </a:lnSpc>
              <a:buNone/>
            </a:pPr>
            <a:r>
              <a:rPr lang="en-US" sz="1100" dirty="0">
                <a:solidFill>
                  <a:srgbClr val="FFFFFF"/>
                </a:solidFill>
                <a:latin typeface="Raleway" pitchFamily="34" charset="0"/>
                <a:ea typeface="Raleway" pitchFamily="34" charset="-122"/>
                <a:cs typeface="Raleway" pitchFamily="34" charset="-120"/>
              </a:rPr>
              <a:t>Conclusion</a:t>
            </a:r>
            <a:endParaRPr lang="en-US" sz="1100" dirty="0"/>
          </a:p>
        </p:txBody>
      </p:sp>
      <p:sp>
        <p:nvSpPr>
          <p:cNvPr id="7" name="Text 5"/>
          <p:cNvSpPr/>
          <p:nvPr/>
        </p:nvSpPr>
        <p:spPr>
          <a:xfrm>
            <a:off x="693819" y="1760240"/>
            <a:ext cx="5228499" cy="629841"/>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FFFFFF"/>
                </a:solidFill>
                <a:latin typeface="Roboto" pitchFamily="34" charset="0"/>
                <a:ea typeface="Roboto" pitchFamily="34" charset="-122"/>
                <a:cs typeface="Roboto" pitchFamily="34" charset="-120"/>
              </a:rPr>
              <a:t>The proposed multi-variable regression-based academic performance analysis system provides educational institutions with a robust, scalable, and interpretable framework for student success intelligence. By integrating diverse academic data sources, applying rigorous regression methodology, and delivering predictions through intuitive faculty dashboards, the system enables:</a:t>
            </a:r>
            <a:endParaRPr lang="en-US" sz="900" dirty="0"/>
          </a:p>
        </p:txBody>
      </p:sp>
      <p:sp>
        <p:nvSpPr>
          <p:cNvPr id="8" name="Text 6"/>
          <p:cNvSpPr/>
          <p:nvPr/>
        </p:nvSpPr>
        <p:spPr>
          <a:xfrm>
            <a:off x="693819" y="2463006"/>
            <a:ext cx="5228499" cy="714673"/>
          </a:xfrm>
          <a:prstGeom prst="rect">
            <a:avLst/>
          </a:prstGeom>
          <a:noFill/>
          <a:ln/>
        </p:spPr>
        <p:txBody>
          <a:bodyPr wrap="square" lIns="0" tIns="46310" rIns="0" bIns="0" rtlCol="0" anchor="t">
            <a:normAutofit/>
          </a:bodyPr>
          <a:lstStyle/>
          <a:p>
            <a:pPr algn="l" marL="182880" indent="-182880">
              <a:lnSpc>
                <a:spcPct val="113000"/>
              </a:lnSpc>
              <a:buSzPct val="100000"/>
              <a:buChar char="•"/>
            </a:pPr>
            <a:r>
              <a:rPr lang="en-US" sz="900" b="1" dirty="0">
                <a:solidFill>
                  <a:srgbClr val="FFFFFF"/>
                </a:solidFill>
                <a:latin typeface="Roboto Bold" pitchFamily="34" charset="0"/>
                <a:ea typeface="Roboto Bold" pitchFamily="34" charset="-122"/>
                <a:cs typeface="Roboto Bold" pitchFamily="34" charset="-120"/>
              </a:rPr>
              <a:t>Early detection</a:t>
            </a:r>
            <a:pPr algn="l" marL="182880" indent="-182880">
              <a:lnSpc>
                <a:spcPct val="113000"/>
              </a:lnSpc>
              <a:buSzPct val="100000"/>
              <a:buChar char="•"/>
            </a:pPr>
            <a:r>
              <a:rPr lang="en-US" sz="900" dirty="0">
                <a:solidFill>
                  <a:srgbClr val="FFFFFF"/>
                </a:solidFill>
                <a:latin typeface="Roboto" pitchFamily="34" charset="0"/>
                <a:ea typeface="Roboto" pitchFamily="34" charset="-122"/>
                <a:cs typeface="Roboto" pitchFamily="34" charset="-120"/>
              </a:rPr>
              <a:t> of at-risk students before performance becomes unrecoverable</a:t>
            </a:r>
            <a:endParaRPr lang="en-US" sz="900" dirty="0"/>
          </a:p>
          <a:p>
            <a:pPr algn="l" marL="182880" indent="-182880">
              <a:lnSpc>
                <a:spcPct val="113000"/>
              </a:lnSpc>
              <a:buSzPct val="100000"/>
              <a:buChar char="•"/>
            </a:pPr>
            <a:r>
              <a:rPr lang="en-US" sz="900" b="1" dirty="0">
                <a:solidFill>
                  <a:srgbClr val="FFFFFF"/>
                </a:solidFill>
                <a:latin typeface="Roboto Bold" pitchFamily="34" charset="0"/>
                <a:ea typeface="Roboto Bold" pitchFamily="34" charset="-122"/>
                <a:cs typeface="Roboto Bold" pitchFamily="34" charset="-120"/>
              </a:rPr>
              <a:t>Informed faculty decision-making</a:t>
            </a:r>
            <a:pPr algn="l" marL="182880" indent="-182880">
              <a:lnSpc>
                <a:spcPct val="113000"/>
              </a:lnSpc>
              <a:buSzPct val="100000"/>
              <a:buChar char="•"/>
            </a:pPr>
            <a:r>
              <a:rPr lang="en-US" sz="900" dirty="0">
                <a:solidFill>
                  <a:srgbClr val="FFFFFF"/>
                </a:solidFill>
                <a:latin typeface="Roboto" pitchFamily="34" charset="0"/>
                <a:ea typeface="Roboto" pitchFamily="34" charset="-122"/>
                <a:cs typeface="Roboto" pitchFamily="34" charset="-120"/>
              </a:rPr>
              <a:t> grounded in quantitative factor analysis</a:t>
            </a:r>
            <a:endParaRPr lang="en-US" sz="900" dirty="0"/>
          </a:p>
          <a:p>
            <a:pPr algn="l" marL="182880" indent="-182880">
              <a:lnSpc>
                <a:spcPct val="113000"/>
              </a:lnSpc>
              <a:buSzPct val="100000"/>
              <a:buChar char="•"/>
            </a:pPr>
            <a:r>
              <a:rPr lang="en-US" sz="900" b="1" dirty="0">
                <a:solidFill>
                  <a:srgbClr val="FFFFFF"/>
                </a:solidFill>
                <a:latin typeface="Roboto Bold" pitchFamily="34" charset="0"/>
                <a:ea typeface="Roboto Bold" pitchFamily="34" charset="-122"/>
                <a:cs typeface="Roboto Bold" pitchFamily="34" charset="-120"/>
              </a:rPr>
              <a:t>Data-driven educational practices</a:t>
            </a:r>
            <a:pPr algn="l" marL="182880" indent="-182880">
              <a:lnSpc>
                <a:spcPct val="113000"/>
              </a:lnSpc>
              <a:buSzPct val="100000"/>
              <a:buChar char="•"/>
            </a:pPr>
            <a:r>
              <a:rPr lang="en-US" sz="900" dirty="0">
                <a:solidFill>
                  <a:srgbClr val="FFFFFF"/>
                </a:solidFill>
                <a:latin typeface="Roboto" pitchFamily="34" charset="0"/>
                <a:ea typeface="Roboto" pitchFamily="34" charset="-122"/>
                <a:cs typeface="Roboto" pitchFamily="34" charset="-120"/>
              </a:rPr>
              <a:t> that replace intuition with statistical evidence</a:t>
            </a:r>
            <a:endParaRPr lang="en-US" sz="900" dirty="0"/>
          </a:p>
          <a:p>
            <a:pPr algn="l" marL="182880" indent="-182880">
              <a:lnSpc>
                <a:spcPct val="113000"/>
              </a:lnSpc>
              <a:buSzPct val="100000"/>
              <a:buChar char="•"/>
            </a:pPr>
            <a:r>
              <a:rPr lang="en-US" sz="900" b="1" dirty="0">
                <a:solidFill>
                  <a:srgbClr val="FFFFFF"/>
                </a:solidFill>
                <a:latin typeface="Roboto Bold" pitchFamily="34" charset="0"/>
                <a:ea typeface="Roboto Bold" pitchFamily="34" charset="-122"/>
                <a:cs typeface="Roboto Bold" pitchFamily="34" charset="-120"/>
              </a:rPr>
              <a:t>Institutional agility</a:t>
            </a:r>
            <a:pPr algn="l" marL="182880" indent="-182880">
              <a:lnSpc>
                <a:spcPct val="113000"/>
              </a:lnSpc>
              <a:buSzPct val="100000"/>
              <a:buChar char="•"/>
            </a:pPr>
            <a:r>
              <a:rPr lang="en-US" sz="900" dirty="0">
                <a:solidFill>
                  <a:srgbClr val="FFFFFF"/>
                </a:solidFill>
                <a:latin typeface="Roboto" pitchFamily="34" charset="0"/>
                <a:ea typeface="Roboto" pitchFamily="34" charset="-122"/>
                <a:cs typeface="Roboto" pitchFamily="34" charset="-120"/>
              </a:rPr>
              <a:t> to allocate resources where predictive need is highest</a:t>
            </a:r>
            <a:endParaRPr lang="en-US" sz="900" dirty="0"/>
          </a:p>
        </p:txBody>
      </p:sp>
      <p:sp>
        <p:nvSpPr>
          <p:cNvPr id="9" name="Text 7"/>
          <p:cNvSpPr/>
          <p:nvPr/>
        </p:nvSpPr>
        <p:spPr>
          <a:xfrm>
            <a:off x="693819" y="3250605"/>
            <a:ext cx="5228499" cy="31492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FFFFFF"/>
                </a:solidFill>
                <a:latin typeface="Roboto" pitchFamily="34" charset="0"/>
                <a:ea typeface="Roboto" pitchFamily="34" charset="-122"/>
                <a:cs typeface="Roboto" pitchFamily="34" charset="-120"/>
              </a:rPr>
              <a:t>This system represents a meaningful step toward evidence-based education — where every student's academic trajectory is understood, monitored, and supported through intelligent analytics.</a:t>
            </a:r>
            <a:endParaRPr lang="en-US" sz="900" dirty="0"/>
          </a:p>
        </p:txBody>
      </p:sp>
      <p:sp>
        <p:nvSpPr>
          <p:cNvPr id="10" name="Text 8"/>
          <p:cNvSpPr/>
          <p:nvPr/>
        </p:nvSpPr>
        <p:spPr>
          <a:xfrm>
            <a:off x="6243382" y="1498402"/>
            <a:ext cx="5293188" cy="180876"/>
          </a:xfrm>
          <a:prstGeom prst="rect">
            <a:avLst/>
          </a:prstGeom>
          <a:noFill/>
          <a:ln/>
        </p:spPr>
        <p:txBody>
          <a:bodyPr wrap="none" lIns="0" tIns="0" rIns="0" bIns="0" rtlCol="0" anchor="t"/>
          <a:lstStyle/>
          <a:p>
            <a:pPr algn="l" indent="0" marL="0">
              <a:lnSpc>
                <a:spcPct val="104000"/>
              </a:lnSpc>
              <a:buNone/>
            </a:pPr>
            <a:r>
              <a:rPr lang="en-US" sz="1100" dirty="0">
                <a:solidFill>
                  <a:srgbClr val="1B1B27"/>
                </a:solidFill>
                <a:latin typeface="Raleway" pitchFamily="34" charset="0"/>
                <a:ea typeface="Raleway" pitchFamily="34" charset="-122"/>
                <a:cs typeface="Raleway" pitchFamily="34" charset="-120"/>
              </a:rPr>
              <a:t>Future Enhancements</a:t>
            </a:r>
            <a:endParaRPr lang="en-US" sz="1100" dirty="0"/>
          </a:p>
        </p:txBody>
      </p:sp>
      <p:pic>
        <p:nvPicPr>
          <p:cNvPr id="11"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286740" y="1773882"/>
            <a:ext cx="173628" cy="173633"/>
          </a:xfrm>
          <a:prstGeom prst="rect">
            <a:avLst/>
          </a:prstGeom>
        </p:spPr>
      </p:pic>
      <p:sp>
        <p:nvSpPr>
          <p:cNvPr id="12" name="Text 9"/>
          <p:cNvSpPr/>
          <p:nvPr/>
        </p:nvSpPr>
        <p:spPr>
          <a:xfrm>
            <a:off x="6619511" y="1770360"/>
            <a:ext cx="4917059" cy="180876"/>
          </a:xfrm>
          <a:prstGeom prst="rect">
            <a:avLst/>
          </a:prstGeom>
          <a:noFill/>
          <a:ln/>
        </p:spPr>
        <p:txBody>
          <a:bodyPr wrap="none" lIns="0" tIns="0" rIns="0" bIns="0" rtlCol="0" anchor="t"/>
          <a:lstStyle/>
          <a:p>
            <a:pPr algn="l" indent="0" marL="0">
              <a:lnSpc>
                <a:spcPct val="104000"/>
              </a:lnSpc>
              <a:buNone/>
            </a:pPr>
            <a:r>
              <a:rPr lang="en-US" sz="1100" dirty="0">
                <a:solidFill>
                  <a:srgbClr val="3C3939"/>
                </a:solidFill>
                <a:latin typeface="Raleway" pitchFamily="34" charset="0"/>
                <a:ea typeface="Raleway" pitchFamily="34" charset="-122"/>
                <a:cs typeface="Raleway" pitchFamily="34" charset="-120"/>
              </a:rPr>
              <a:t>Advanced ML Models</a:t>
            </a:r>
            <a:endParaRPr lang="en-US" sz="1100" dirty="0"/>
          </a:p>
        </p:txBody>
      </p:sp>
      <p:sp>
        <p:nvSpPr>
          <p:cNvPr id="13" name="Text 10"/>
          <p:cNvSpPr/>
          <p:nvPr/>
        </p:nvSpPr>
        <p:spPr>
          <a:xfrm>
            <a:off x="6619511" y="2032198"/>
            <a:ext cx="4917059" cy="31492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3C3939"/>
                </a:solidFill>
                <a:latin typeface="Roboto" pitchFamily="34" charset="0"/>
                <a:ea typeface="Roboto" pitchFamily="34" charset="-122"/>
                <a:cs typeface="Roboto" pitchFamily="34" charset="-120"/>
              </a:rPr>
              <a:t>Ensemble methods (Random Forest, Gradient Boosting) and neural networks for improved non-linear prediction accuracy beyond standard regression</a:t>
            </a:r>
            <a:endParaRPr lang="en-US" sz="90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86740" y="2512665"/>
            <a:ext cx="173628" cy="173633"/>
          </a:xfrm>
          <a:prstGeom prst="rect">
            <a:avLst/>
          </a:prstGeom>
        </p:spPr>
      </p:pic>
      <p:sp>
        <p:nvSpPr>
          <p:cNvPr id="15" name="Text 11"/>
          <p:cNvSpPr/>
          <p:nvPr/>
        </p:nvSpPr>
        <p:spPr>
          <a:xfrm>
            <a:off x="6619511" y="2509143"/>
            <a:ext cx="4917059" cy="180876"/>
          </a:xfrm>
          <a:prstGeom prst="rect">
            <a:avLst/>
          </a:prstGeom>
          <a:noFill/>
          <a:ln/>
        </p:spPr>
        <p:txBody>
          <a:bodyPr wrap="none" lIns="0" tIns="0" rIns="0" bIns="0" rtlCol="0" anchor="t"/>
          <a:lstStyle/>
          <a:p>
            <a:pPr algn="l" indent="0" marL="0">
              <a:lnSpc>
                <a:spcPct val="104000"/>
              </a:lnSpc>
              <a:buNone/>
            </a:pPr>
            <a:r>
              <a:rPr lang="en-US" sz="1100" dirty="0">
                <a:solidFill>
                  <a:srgbClr val="3C3939"/>
                </a:solidFill>
                <a:latin typeface="Raleway" pitchFamily="34" charset="0"/>
                <a:ea typeface="Raleway" pitchFamily="34" charset="-122"/>
                <a:cs typeface="Raleway" pitchFamily="34" charset="-120"/>
              </a:rPr>
              <a:t>Real-Time Monitoring</a:t>
            </a:r>
            <a:endParaRPr lang="en-US" sz="1100" dirty="0"/>
          </a:p>
        </p:txBody>
      </p:sp>
      <p:sp>
        <p:nvSpPr>
          <p:cNvPr id="16" name="Text 12"/>
          <p:cNvSpPr/>
          <p:nvPr/>
        </p:nvSpPr>
        <p:spPr>
          <a:xfrm>
            <a:off x="6619511" y="2770981"/>
            <a:ext cx="4917059" cy="31492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3C3939"/>
                </a:solidFill>
                <a:latin typeface="Roboto" pitchFamily="34" charset="0"/>
                <a:ea typeface="Roboto" pitchFamily="34" charset="-122"/>
                <a:cs typeface="Roboto" pitchFamily="34" charset="-120"/>
              </a:rPr>
              <a:t>Continuous data streaming and dynamic model inference enabling live academic risk assessment throughout the semester</a:t>
            </a:r>
            <a:endParaRPr lang="en-US" sz="900" dirty="0"/>
          </a:p>
        </p:txBody>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86740" y="3251448"/>
            <a:ext cx="173628" cy="173633"/>
          </a:xfrm>
          <a:prstGeom prst="rect">
            <a:avLst/>
          </a:prstGeom>
        </p:spPr>
      </p:pic>
      <p:sp>
        <p:nvSpPr>
          <p:cNvPr id="18" name="Text 13"/>
          <p:cNvSpPr/>
          <p:nvPr/>
        </p:nvSpPr>
        <p:spPr>
          <a:xfrm>
            <a:off x="6619511" y="3247926"/>
            <a:ext cx="4917059" cy="180876"/>
          </a:xfrm>
          <a:prstGeom prst="rect">
            <a:avLst/>
          </a:prstGeom>
          <a:noFill/>
          <a:ln/>
        </p:spPr>
        <p:txBody>
          <a:bodyPr wrap="none" lIns="0" tIns="0" rIns="0" bIns="0" rtlCol="0" anchor="t"/>
          <a:lstStyle/>
          <a:p>
            <a:pPr algn="l" indent="0" marL="0">
              <a:lnSpc>
                <a:spcPct val="104000"/>
              </a:lnSpc>
              <a:buNone/>
            </a:pPr>
            <a:r>
              <a:rPr lang="en-US" sz="1100" dirty="0">
                <a:solidFill>
                  <a:srgbClr val="3C3939"/>
                </a:solidFill>
                <a:latin typeface="Raleway" pitchFamily="34" charset="0"/>
                <a:ea typeface="Raleway" pitchFamily="34" charset="-122"/>
                <a:cs typeface="Raleway" pitchFamily="34" charset="-120"/>
              </a:rPr>
              <a:t>Personalized Recommendations</a:t>
            </a:r>
            <a:endParaRPr lang="en-US" sz="1100" dirty="0"/>
          </a:p>
        </p:txBody>
      </p:sp>
      <p:sp>
        <p:nvSpPr>
          <p:cNvPr id="19" name="Text 14"/>
          <p:cNvSpPr/>
          <p:nvPr/>
        </p:nvSpPr>
        <p:spPr>
          <a:xfrm>
            <a:off x="6619511" y="3509764"/>
            <a:ext cx="4917059" cy="31492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3C3939"/>
                </a:solidFill>
                <a:latin typeface="Roboto" pitchFamily="34" charset="0"/>
                <a:ea typeface="Roboto" pitchFamily="34" charset="-122"/>
                <a:cs typeface="Roboto" pitchFamily="34" charset="-120"/>
              </a:rPr>
              <a:t>Learning style-aware academic recommendations tailored to each student's performance patterns and cognitive profile</a:t>
            </a:r>
            <a:endParaRPr lang="en-US" sz="900" dirty="0"/>
          </a:p>
        </p:txBody>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86740" y="3990231"/>
            <a:ext cx="173628" cy="173633"/>
          </a:xfrm>
          <a:prstGeom prst="rect">
            <a:avLst/>
          </a:prstGeom>
        </p:spPr>
      </p:pic>
      <p:sp>
        <p:nvSpPr>
          <p:cNvPr id="21" name="Text 15"/>
          <p:cNvSpPr/>
          <p:nvPr/>
        </p:nvSpPr>
        <p:spPr>
          <a:xfrm>
            <a:off x="6619511" y="3986709"/>
            <a:ext cx="4917059" cy="180876"/>
          </a:xfrm>
          <a:prstGeom prst="rect">
            <a:avLst/>
          </a:prstGeom>
          <a:noFill/>
          <a:ln/>
        </p:spPr>
        <p:txBody>
          <a:bodyPr wrap="none" lIns="0" tIns="0" rIns="0" bIns="0" rtlCol="0" anchor="t"/>
          <a:lstStyle/>
          <a:p>
            <a:pPr algn="l" indent="0" marL="0">
              <a:lnSpc>
                <a:spcPct val="104000"/>
              </a:lnSpc>
              <a:buNone/>
            </a:pPr>
            <a:r>
              <a:rPr lang="en-US" sz="1100" dirty="0">
                <a:solidFill>
                  <a:srgbClr val="3C3939"/>
                </a:solidFill>
                <a:latin typeface="Raleway" pitchFamily="34" charset="0"/>
                <a:ea typeface="Raleway" pitchFamily="34" charset="-122"/>
                <a:cs typeface="Raleway" pitchFamily="34" charset="-120"/>
              </a:rPr>
              <a:t>Automated Early-Warning Systems</a:t>
            </a:r>
            <a:endParaRPr lang="en-US" sz="1100" dirty="0"/>
          </a:p>
        </p:txBody>
      </p:sp>
      <p:sp>
        <p:nvSpPr>
          <p:cNvPr id="22" name="Text 16"/>
          <p:cNvSpPr/>
          <p:nvPr/>
        </p:nvSpPr>
        <p:spPr>
          <a:xfrm>
            <a:off x="6619511" y="4248547"/>
            <a:ext cx="4917059" cy="31492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3C3939"/>
                </a:solidFill>
                <a:latin typeface="Roboto" pitchFamily="34" charset="0"/>
                <a:ea typeface="Roboto" pitchFamily="34" charset="-122"/>
                <a:cs typeface="Roboto" pitchFamily="34" charset="-120"/>
              </a:rPr>
              <a:t>Intelligent alert mechanisms that trigger counselor notifications based on dynamic risk thresholds and deterioration signals</a:t>
            </a:r>
            <a:endParaRPr lang="en-US" sz="900" dirty="0"/>
          </a:p>
        </p:txBody>
      </p:sp>
      <p:pic>
        <p:nvPicPr>
          <p:cNvPr id="23"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286740" y="4729014"/>
            <a:ext cx="173628" cy="173633"/>
          </a:xfrm>
          <a:prstGeom prst="rect">
            <a:avLst/>
          </a:prstGeom>
        </p:spPr>
      </p:pic>
      <p:sp>
        <p:nvSpPr>
          <p:cNvPr id="24" name="Text 17"/>
          <p:cNvSpPr/>
          <p:nvPr/>
        </p:nvSpPr>
        <p:spPr>
          <a:xfrm>
            <a:off x="6619511" y="4725491"/>
            <a:ext cx="4917059" cy="180876"/>
          </a:xfrm>
          <a:prstGeom prst="rect">
            <a:avLst/>
          </a:prstGeom>
          <a:noFill/>
          <a:ln/>
        </p:spPr>
        <p:txBody>
          <a:bodyPr wrap="none" lIns="0" tIns="0" rIns="0" bIns="0" rtlCol="0" anchor="t"/>
          <a:lstStyle/>
          <a:p>
            <a:pPr algn="l" indent="0" marL="0">
              <a:lnSpc>
                <a:spcPct val="104000"/>
              </a:lnSpc>
              <a:buNone/>
            </a:pPr>
            <a:r>
              <a:rPr lang="en-US" sz="1100" dirty="0">
                <a:solidFill>
                  <a:srgbClr val="3C3939"/>
                </a:solidFill>
                <a:latin typeface="Raleway" pitchFamily="34" charset="0"/>
                <a:ea typeface="Raleway" pitchFamily="34" charset="-122"/>
                <a:cs typeface="Raleway" pitchFamily="34" charset="-120"/>
              </a:rPr>
              <a:t>LMS Integration</a:t>
            </a:r>
            <a:endParaRPr lang="en-US" sz="1100" dirty="0"/>
          </a:p>
        </p:txBody>
      </p:sp>
      <p:sp>
        <p:nvSpPr>
          <p:cNvPr id="25" name="Text 18"/>
          <p:cNvSpPr/>
          <p:nvPr/>
        </p:nvSpPr>
        <p:spPr>
          <a:xfrm>
            <a:off x="6619511" y="4987330"/>
            <a:ext cx="4917059" cy="31492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3C3939"/>
                </a:solidFill>
                <a:latin typeface="Roboto" pitchFamily="34" charset="0"/>
                <a:ea typeface="Roboto" pitchFamily="34" charset="-122"/>
                <a:cs typeface="Roboto" pitchFamily="34" charset="-120"/>
              </a:rPr>
              <a:t>Seamless integration with institutional Learning Management Systems for automated data flow and centralized academic monitoring</a:t>
            </a:r>
            <a:endParaRPr lang="en-US" sz="900" dirty="0"/>
          </a:p>
        </p:txBody>
      </p:sp>
      <p:pic>
        <p:nvPicPr>
          <p:cNvPr id="26"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286740" y="5467796"/>
            <a:ext cx="173628" cy="173633"/>
          </a:xfrm>
          <a:prstGeom prst="rect">
            <a:avLst/>
          </a:prstGeom>
        </p:spPr>
      </p:pic>
      <p:sp>
        <p:nvSpPr>
          <p:cNvPr id="27" name="Text 19"/>
          <p:cNvSpPr/>
          <p:nvPr/>
        </p:nvSpPr>
        <p:spPr>
          <a:xfrm>
            <a:off x="6619511" y="5464274"/>
            <a:ext cx="4917059" cy="180876"/>
          </a:xfrm>
          <a:prstGeom prst="rect">
            <a:avLst/>
          </a:prstGeom>
          <a:noFill/>
          <a:ln/>
        </p:spPr>
        <p:txBody>
          <a:bodyPr wrap="none" lIns="0" tIns="0" rIns="0" bIns="0" rtlCol="0" anchor="t"/>
          <a:lstStyle/>
          <a:p>
            <a:pPr algn="l" indent="0" marL="0">
              <a:lnSpc>
                <a:spcPct val="104000"/>
              </a:lnSpc>
              <a:buNone/>
            </a:pPr>
            <a:r>
              <a:rPr lang="en-US" sz="1100" dirty="0">
                <a:solidFill>
                  <a:srgbClr val="3C3939"/>
                </a:solidFill>
                <a:latin typeface="Raleway" pitchFamily="34" charset="0"/>
                <a:ea typeface="Raleway" pitchFamily="34" charset="-122"/>
                <a:cs typeface="Raleway" pitchFamily="34" charset="-120"/>
              </a:rPr>
              <a:t>Explainable AI (XAI)</a:t>
            </a:r>
            <a:endParaRPr lang="en-US" sz="1100" dirty="0"/>
          </a:p>
        </p:txBody>
      </p:sp>
      <p:sp>
        <p:nvSpPr>
          <p:cNvPr id="28" name="Text 20"/>
          <p:cNvSpPr/>
          <p:nvPr/>
        </p:nvSpPr>
        <p:spPr>
          <a:xfrm>
            <a:off x="6619511" y="5726113"/>
            <a:ext cx="4917059" cy="314920"/>
          </a:xfrm>
          <a:prstGeom prst="rect">
            <a:avLst/>
          </a:prstGeom>
          <a:noFill/>
          <a:ln/>
        </p:spPr>
        <p:txBody>
          <a:bodyPr wrap="square" lIns="0" tIns="0" rIns="0" bIns="0" rtlCol="0" anchor="t">
            <a:normAutofit/>
          </a:bodyPr>
          <a:lstStyle/>
          <a:p>
            <a:pPr algn="l" indent="0" marL="0">
              <a:lnSpc>
                <a:spcPct val="113000"/>
              </a:lnSpc>
              <a:buNone/>
            </a:pPr>
            <a:r>
              <a:rPr lang="en-US" sz="900" dirty="0">
                <a:solidFill>
                  <a:srgbClr val="3C3939"/>
                </a:solidFill>
                <a:latin typeface="Roboto" pitchFamily="34" charset="0"/>
                <a:ea typeface="Roboto" pitchFamily="34" charset="-122"/>
                <a:cs typeface="Roboto" pitchFamily="34" charset="-120"/>
              </a:rPr>
              <a:t>Model interpretability techniques (SHAP, LIME) to ensure transparent, auditable predictions that build stakeholder trust among faculty, students, and administrators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2026-08-31T09:54:32Z</dcterms:created>
  <dcterms:modified xsi:type="dcterms:W3CDTF">2026-08-31T09:54:32Z</dcterms:modified>
</cp:coreProperties>
</file>